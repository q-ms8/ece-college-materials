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8" r:id="rId1"/>
    <p:sldMasterId id="2147484206" r:id="rId2"/>
  </p:sldMasterIdLst>
  <p:notesMasterIdLst>
    <p:notesMasterId r:id="rId37"/>
  </p:notesMasterIdLst>
  <p:sldIdLst>
    <p:sldId id="271" r:id="rId3"/>
    <p:sldId id="272" r:id="rId4"/>
    <p:sldId id="369" r:id="rId5"/>
    <p:sldId id="320" r:id="rId6"/>
    <p:sldId id="314" r:id="rId7"/>
    <p:sldId id="394" r:id="rId8"/>
    <p:sldId id="395" r:id="rId9"/>
    <p:sldId id="370" r:id="rId10"/>
    <p:sldId id="371" r:id="rId11"/>
    <p:sldId id="396" r:id="rId12"/>
    <p:sldId id="397" r:id="rId13"/>
    <p:sldId id="398" r:id="rId14"/>
    <p:sldId id="401" r:id="rId15"/>
    <p:sldId id="400" r:id="rId16"/>
    <p:sldId id="399" r:id="rId17"/>
    <p:sldId id="402" r:id="rId18"/>
    <p:sldId id="403" r:id="rId19"/>
    <p:sldId id="404" r:id="rId20"/>
    <p:sldId id="405" r:id="rId21"/>
    <p:sldId id="406" r:id="rId22"/>
    <p:sldId id="407" r:id="rId23"/>
    <p:sldId id="408" r:id="rId24"/>
    <p:sldId id="409" r:id="rId25"/>
    <p:sldId id="410" r:id="rId26"/>
    <p:sldId id="412" r:id="rId27"/>
    <p:sldId id="413" r:id="rId28"/>
    <p:sldId id="411" r:id="rId29"/>
    <p:sldId id="414" r:id="rId30"/>
    <p:sldId id="415" r:id="rId31"/>
    <p:sldId id="416" r:id="rId32"/>
    <p:sldId id="417" r:id="rId33"/>
    <p:sldId id="418" r:id="rId34"/>
    <p:sldId id="419" r:id="rId35"/>
    <p:sldId id="42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AB1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6C1E05-4EA0-4B40-A596-1CFBDA5523D8}" type="datetimeFigureOut">
              <a:rPr lang="en-US" smtClean="0"/>
              <a:t>4/21/2024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175833-B9DE-4319-A13D-F99B8F81B187}" type="slidenum">
              <a:rPr lang="en-US" smtClean="0"/>
              <a:t>‹#›</a:t>
            </a:fld>
            <a:endParaRPr lang="en-US"/>
          </a:p>
        </p:txBody>
      </p:sp>
    </p:spTree>
    <p:extLst>
      <p:ext uri="{BB962C8B-B14F-4D97-AF65-F5344CB8AC3E}">
        <p14:creationId xmlns:p14="http://schemas.microsoft.com/office/powerpoint/2010/main" val="320945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C80245-7872-4A6F-B54D-234D3FB35212}" type="slidenum">
              <a:rPr lang="en-US" smtClean="0"/>
              <a:t>1</a:t>
            </a:fld>
            <a:endParaRPr lang="en-US"/>
          </a:p>
        </p:txBody>
      </p:sp>
    </p:spTree>
    <p:extLst>
      <p:ext uri="{BB962C8B-B14F-4D97-AF65-F5344CB8AC3E}">
        <p14:creationId xmlns:p14="http://schemas.microsoft.com/office/powerpoint/2010/main" val="203911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274603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600035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817447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817425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dirty="0" smtClean="0">
              <a:latin typeface="Arial" panose="020B0604020202020204" pitchFamily="34" charset="0"/>
            </a:endParaRPr>
          </a:p>
        </p:txBody>
      </p:sp>
    </p:spTree>
    <p:extLst>
      <p:ext uri="{BB962C8B-B14F-4D97-AF65-F5344CB8AC3E}">
        <p14:creationId xmlns:p14="http://schemas.microsoft.com/office/powerpoint/2010/main" val="274097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561062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12</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38106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13</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08656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470784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356665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216155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573849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59215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20</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204687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246374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22</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176486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23</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dirty="0" smtClean="0">
              <a:latin typeface="Arial" panose="020B0604020202020204" pitchFamily="34" charset="0"/>
            </a:endParaRPr>
          </a:p>
        </p:txBody>
      </p:sp>
    </p:spTree>
    <p:extLst>
      <p:ext uri="{BB962C8B-B14F-4D97-AF65-F5344CB8AC3E}">
        <p14:creationId xmlns:p14="http://schemas.microsoft.com/office/powerpoint/2010/main" val="4187022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605833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449379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091065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422228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30</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415208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31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965228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32</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8521212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33</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676245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34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785959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360818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95608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1327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65709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BF96EA4-2D53-4203-954D-CFC94D62B5A8}" type="datetimeFigureOut">
              <a:rPr lang="en-US" smtClean="0"/>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874216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BF96EA4-2D53-4203-954D-CFC94D62B5A8}"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51392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BF96EA4-2D53-4203-954D-CFC94D62B5A8}" type="datetimeFigureOut">
              <a:rPr lang="en-US" smtClean="0"/>
              <a:t>4/21/2024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16624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948595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67159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56700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2341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037811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416119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987891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45986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161991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2258201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BF96EA4-2D53-4203-954D-CFC94D62B5A8}" type="datetimeFigureOut">
              <a:rPr lang="en-US" smtClean="0"/>
              <a:t>4/21/2024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420419440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43635689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52643427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375821506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BF96EA4-2D53-4203-954D-CFC94D62B5A8}" type="datetimeFigureOut">
              <a:rPr lang="en-US" smtClean="0"/>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73518288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BF96EA4-2D53-4203-954D-CFC94D62B5A8}"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142254893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F96EA4-2D53-4203-954D-CFC94D62B5A8}" type="datetimeFigureOut">
              <a:rPr lang="en-US" smtClean="0"/>
              <a:t>4/21/2024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534252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004406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BF96EA4-2D53-4203-954D-CFC94D62B5A8}" type="datetimeFigureOut">
              <a:rPr lang="en-US" smtClean="0"/>
              <a:t>4/21/2024</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FB79782-ADA0-44BB-ABED-8390C1709453}"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ight Triangle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27267720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364077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713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4.jpe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BF96EA4-2D53-4203-954D-CFC94D62B5A8}" type="datetimeFigureOut">
              <a:rPr lang="en-US" smtClean="0"/>
              <a:t>4/21/2024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1312402181"/>
      </p:ext>
    </p:extLst>
  </p:cSld>
  <p:clrMap bg1="dk1" tx1="lt1" bg2="dk2" tx2="lt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0BF96EA4-2D53-4203-954D-CFC94D62B5A8}" type="datetimeFigureOut">
              <a:rPr lang="en-US" smtClean="0"/>
              <a:t>4/21/2024</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2091053518"/>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Autofit/>
          </a:bodyPr>
          <a:lstStyle/>
          <a:p>
            <a:pPr algn="ctr"/>
            <a:r>
              <a:rPr lang="en-US" b="1" dirty="0" smtClean="0">
                <a:solidFill>
                  <a:schemeClr val="bg2">
                    <a:lumMod val="50000"/>
                  </a:schemeClr>
                </a:solidFill>
              </a:rPr>
              <a:t>Communication Design </a:t>
            </a:r>
            <a:endParaRPr lang="en-US" b="1" dirty="0">
              <a:solidFill>
                <a:schemeClr val="bg2">
                  <a:lumMod val="50000"/>
                </a:schemeClr>
              </a:solidFill>
            </a:endParaRPr>
          </a:p>
        </p:txBody>
      </p:sp>
      <p:sp>
        <p:nvSpPr>
          <p:cNvPr id="3" name="Subtitle 2"/>
          <p:cNvSpPr>
            <a:spLocks noGrp="1"/>
          </p:cNvSpPr>
          <p:nvPr>
            <p:ph type="subTitle" idx="1"/>
          </p:nvPr>
        </p:nvSpPr>
        <p:spPr>
          <a:xfrm>
            <a:off x="680321" y="4624948"/>
            <a:ext cx="9581279" cy="1397161"/>
          </a:xfrm>
        </p:spPr>
        <p:txBody>
          <a:bodyPr>
            <a:normAutofit fontScale="70000" lnSpcReduction="20000"/>
          </a:bodyPr>
          <a:lstStyle/>
          <a:p>
            <a:pPr algn="l"/>
            <a:r>
              <a:rPr lang="en-US" sz="3300" b="1" dirty="0" smtClean="0">
                <a:solidFill>
                  <a:srgbClr val="FFFF00"/>
                </a:solidFill>
              </a:rPr>
              <a:t># LAB.8                  Wireless Communications</a:t>
            </a:r>
          </a:p>
          <a:p>
            <a:pPr algn="ctr"/>
            <a:r>
              <a:rPr lang="en-US" sz="2900" b="1" dirty="0" smtClean="0">
                <a:solidFill>
                  <a:srgbClr val="FFFF00"/>
                </a:solidFill>
              </a:rPr>
              <a:t>OFDM</a:t>
            </a:r>
            <a:endParaRPr lang="en-US" sz="2900" b="1" dirty="0">
              <a:solidFill>
                <a:srgbClr val="FFFF00"/>
              </a:solidFill>
            </a:endParaRPr>
          </a:p>
          <a:p>
            <a:pPr algn="l"/>
            <a:endParaRPr lang="en-US" sz="2800" b="1" dirty="0" smtClean="0">
              <a:solidFill>
                <a:srgbClr val="FFFF00"/>
              </a:solidFill>
            </a:endParaRPr>
          </a:p>
          <a:p>
            <a:r>
              <a:rPr lang="en-US" sz="2800" b="1" dirty="0" smtClean="0">
                <a:solidFill>
                  <a:srgbClr val="FFFF00"/>
                </a:solidFill>
              </a:rPr>
              <a:t>Ass.Lec.Ammar Alabbassi</a:t>
            </a:r>
            <a:endParaRPr lang="en-US" sz="2800" b="1" dirty="0">
              <a:solidFill>
                <a:srgbClr val="FFFF00"/>
              </a:solidFill>
            </a:endParaRPr>
          </a:p>
        </p:txBody>
      </p:sp>
      <p:pic>
        <p:nvPicPr>
          <p:cNvPr id="4" name="Picture 3"/>
          <p:cNvPicPr>
            <a:picLocks noChangeAspect="1"/>
          </p:cNvPicPr>
          <p:nvPr/>
        </p:nvPicPr>
        <p:blipFill>
          <a:blip r:embed="rId3"/>
          <a:stretch>
            <a:fillRect/>
          </a:stretch>
        </p:blipFill>
        <p:spPr>
          <a:xfrm>
            <a:off x="680322" y="287033"/>
            <a:ext cx="2257425" cy="20288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2944" y="393832"/>
            <a:ext cx="1434354" cy="143435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73926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marL="838200" indent="-838200"/>
            <a:r>
              <a:rPr lang="en-US" altLang="en-US" dirty="0" smtClean="0">
                <a:solidFill>
                  <a:srgbClr val="FF0000"/>
                </a:solidFill>
                <a:latin typeface="Times New Roman" panose="02020603050405020304" pitchFamily="18" charset="0"/>
                <a:cs typeface="Times New Roman" panose="02020603050405020304" pitchFamily="18" charset="0"/>
              </a:rPr>
              <a:t>Course Outline:</a:t>
            </a:r>
            <a:endParaRPr lang="tr-TR" altLang="en-US" dirty="0" smtClean="0">
              <a:solidFill>
                <a:srgbClr val="FF00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136073" y="1371600"/>
            <a:ext cx="9217891" cy="4659746"/>
          </a:xfrm>
        </p:spPr>
        <p:txBody>
          <a:bodyPr>
            <a:normAutofit fontScale="92500" lnSpcReduction="20000"/>
          </a:bodyPr>
          <a:lstStyle/>
          <a:p>
            <a:pPr fontAlgn="base">
              <a:buClr>
                <a:srgbClr val="FF0000"/>
              </a:buClr>
              <a:buFont typeface="Wingdings" panose="05000000000000000000" pitchFamily="2" charset="2"/>
              <a:buChar char="ü"/>
            </a:pPr>
            <a:r>
              <a:rPr lang="en-US" sz="3100" b="1" dirty="0" smtClean="0">
                <a:solidFill>
                  <a:srgbClr val="0070C0"/>
                </a:solidFill>
                <a:latin typeface="Arial" panose="020B0604020202020204" pitchFamily="34" charset="0"/>
              </a:rPr>
              <a:t>1- Simulate </a:t>
            </a:r>
            <a:r>
              <a:rPr lang="en-US" sz="3100" b="1" dirty="0">
                <a:solidFill>
                  <a:srgbClr val="0070C0"/>
                </a:solidFill>
                <a:latin typeface="Arial" panose="020B0604020202020204" pitchFamily="34" charset="0"/>
              </a:rPr>
              <a:t>a Basic Digital Communications </a:t>
            </a:r>
            <a:r>
              <a:rPr lang="en-US" sz="3100" b="1" dirty="0" smtClean="0">
                <a:solidFill>
                  <a:srgbClr val="0070C0"/>
                </a:solidFill>
                <a:latin typeface="Arial" panose="020B0604020202020204" pitchFamily="34" charset="0"/>
              </a:rPr>
              <a:t>Link</a:t>
            </a:r>
          </a:p>
          <a:p>
            <a:pPr fontAlgn="base"/>
            <a:r>
              <a:rPr lang="en-US" sz="2300" dirty="0" smtClean="0">
                <a:solidFill>
                  <a:srgbClr val="212121"/>
                </a:solidFill>
                <a:latin typeface="Arial" panose="020B0604020202020204" pitchFamily="34" charset="0"/>
              </a:rPr>
              <a:t>Implement </a:t>
            </a:r>
            <a:r>
              <a:rPr lang="en-US" sz="2300" dirty="0">
                <a:solidFill>
                  <a:srgbClr val="212121"/>
                </a:solidFill>
                <a:latin typeface="Arial" panose="020B0604020202020204" pitchFamily="34" charset="0"/>
              </a:rPr>
              <a:t>the essential components of a single-carrier digital </a:t>
            </a:r>
            <a:r>
              <a:rPr lang="en-US" sz="2300" dirty="0" smtClean="0">
                <a:solidFill>
                  <a:srgbClr val="212121"/>
                </a:solidFill>
                <a:latin typeface="Arial" panose="020B0604020202020204" pitchFamily="34" charset="0"/>
              </a:rPr>
              <a:t>  communications </a:t>
            </a:r>
            <a:r>
              <a:rPr lang="en-US" sz="2300" dirty="0">
                <a:solidFill>
                  <a:srgbClr val="212121"/>
                </a:solidFill>
                <a:latin typeface="Arial" panose="020B0604020202020204" pitchFamily="34" charset="0"/>
              </a:rPr>
              <a:t>system, including additive white Gaussian noise</a:t>
            </a:r>
            <a:r>
              <a:rPr lang="en-US" sz="2300" dirty="0" smtClean="0">
                <a:solidFill>
                  <a:srgbClr val="212121"/>
                </a:solidFill>
                <a:latin typeface="Arial" panose="020B0604020202020204" pitchFamily="34" charset="0"/>
              </a:rPr>
              <a:t>.</a:t>
            </a:r>
          </a:p>
          <a:p>
            <a:pPr marL="109728" indent="0" fontAlgn="base">
              <a:buNone/>
            </a:pPr>
            <a:endParaRPr lang="en-US" sz="2300" dirty="0">
              <a:solidFill>
                <a:srgbClr val="212121"/>
              </a:solidFill>
              <a:latin typeface="Arial" panose="020B0604020202020204" pitchFamily="34" charset="0"/>
            </a:endParaRPr>
          </a:p>
          <a:p>
            <a:pPr fontAlgn="base">
              <a:buClr>
                <a:srgbClr val="FF0000"/>
              </a:buClr>
              <a:buFont typeface="Wingdings" panose="05000000000000000000" pitchFamily="2" charset="2"/>
              <a:buChar char="ü"/>
            </a:pPr>
            <a:r>
              <a:rPr lang="en-US" sz="2800" b="1" dirty="0" smtClean="0">
                <a:solidFill>
                  <a:srgbClr val="0070C0"/>
                </a:solidFill>
                <a:latin typeface="Arial" panose="020B0604020202020204" pitchFamily="34" charset="0"/>
              </a:rPr>
              <a:t>2- Pulse-Shaping </a:t>
            </a:r>
            <a:r>
              <a:rPr lang="en-US" sz="2800" b="1" dirty="0">
                <a:solidFill>
                  <a:srgbClr val="0070C0"/>
                </a:solidFill>
                <a:latin typeface="Arial" panose="020B0604020202020204" pitchFamily="34" charset="0"/>
              </a:rPr>
              <a:t>Filters</a:t>
            </a:r>
          </a:p>
          <a:p>
            <a:pPr fontAlgn="base"/>
            <a:r>
              <a:rPr lang="en-US" sz="2400" dirty="0" smtClean="0">
                <a:solidFill>
                  <a:srgbClr val="212121"/>
                </a:solidFill>
                <a:latin typeface="Arial" panose="020B0604020202020204" pitchFamily="34" charset="0"/>
              </a:rPr>
              <a:t>Incorporate </a:t>
            </a:r>
            <a:r>
              <a:rPr lang="en-US" sz="2400" dirty="0">
                <a:solidFill>
                  <a:srgbClr val="212121"/>
                </a:solidFill>
                <a:latin typeface="Arial" panose="020B0604020202020204" pitchFamily="34" charset="0"/>
              </a:rPr>
              <a:t>transmit and receive filters into your simulation</a:t>
            </a:r>
            <a:r>
              <a:rPr lang="en-US" sz="2400" dirty="0" smtClean="0">
                <a:solidFill>
                  <a:srgbClr val="212121"/>
                </a:solidFill>
                <a:latin typeface="Arial" panose="020B0604020202020204" pitchFamily="34" charset="0"/>
              </a:rPr>
              <a:t>.</a:t>
            </a:r>
          </a:p>
          <a:p>
            <a:pPr marL="109728" indent="0" fontAlgn="base">
              <a:buNone/>
            </a:pPr>
            <a:endParaRPr lang="en-US" sz="2200" dirty="0">
              <a:solidFill>
                <a:srgbClr val="0070C0"/>
              </a:solidFill>
              <a:latin typeface="Arial" panose="020B0604020202020204" pitchFamily="34" charset="0"/>
            </a:endParaRPr>
          </a:p>
          <a:p>
            <a:pPr fontAlgn="base">
              <a:buClr>
                <a:srgbClr val="FF0000"/>
              </a:buClr>
              <a:buFont typeface="Wingdings" panose="05000000000000000000" pitchFamily="2" charset="2"/>
              <a:buChar char="ü"/>
            </a:pPr>
            <a:r>
              <a:rPr lang="en-US" sz="2800" b="1" dirty="0" smtClean="0">
                <a:solidFill>
                  <a:srgbClr val="0070C0"/>
                </a:solidFill>
                <a:latin typeface="Arial" panose="020B0604020202020204" pitchFamily="34" charset="0"/>
                <a:cs typeface="Arial" panose="020B0604020202020204" pitchFamily="34" charset="0"/>
              </a:rPr>
              <a:t>3-</a:t>
            </a:r>
            <a:r>
              <a:rPr lang="en-US" sz="2800" dirty="0" smtClean="0">
                <a:solidFill>
                  <a:srgbClr val="0070C0"/>
                </a:solidFill>
                <a:latin typeface="Arial" panose="020B0604020202020204" pitchFamily="34" charset="0"/>
                <a:cs typeface="Arial" panose="020B0604020202020204" pitchFamily="34" charset="0"/>
              </a:rPr>
              <a:t> </a:t>
            </a:r>
            <a:r>
              <a:rPr lang="en-US" sz="2800" b="1" dirty="0" smtClean="0">
                <a:solidFill>
                  <a:srgbClr val="0070C0"/>
                </a:solidFill>
                <a:latin typeface="Arial" panose="020B0604020202020204" pitchFamily="34" charset="0"/>
              </a:rPr>
              <a:t>Multipath </a:t>
            </a:r>
            <a:r>
              <a:rPr lang="en-US" sz="2800" b="1" dirty="0">
                <a:solidFill>
                  <a:srgbClr val="0070C0"/>
                </a:solidFill>
                <a:latin typeface="Arial" panose="020B0604020202020204" pitchFamily="34" charset="0"/>
              </a:rPr>
              <a:t>Channels</a:t>
            </a:r>
          </a:p>
          <a:p>
            <a:pPr fontAlgn="base"/>
            <a:r>
              <a:rPr lang="en-US" sz="2400" dirty="0">
                <a:solidFill>
                  <a:srgbClr val="212121"/>
                </a:solidFill>
                <a:latin typeface="Arial" panose="020B0604020202020204" pitchFamily="34" charset="0"/>
              </a:rPr>
              <a:t>Model a multipath channel and evaluate the impact on link quality</a:t>
            </a:r>
            <a:r>
              <a:rPr lang="en-US" sz="2400" dirty="0" smtClean="0">
                <a:solidFill>
                  <a:srgbClr val="212121"/>
                </a:solidFill>
                <a:latin typeface="Arial" panose="020B0604020202020204" pitchFamily="34" charset="0"/>
              </a:rPr>
              <a:t>.</a:t>
            </a:r>
          </a:p>
          <a:p>
            <a:pPr fontAlgn="base"/>
            <a:endParaRPr lang="en-US" sz="2400" dirty="0">
              <a:solidFill>
                <a:srgbClr val="212121"/>
              </a:solidFill>
              <a:latin typeface="Arial" panose="020B0604020202020204" pitchFamily="34" charset="0"/>
            </a:endParaRPr>
          </a:p>
          <a:p>
            <a:pPr fontAlgn="base">
              <a:buClr>
                <a:srgbClr val="FF0000"/>
              </a:buClr>
              <a:buFont typeface="Wingdings" panose="05000000000000000000" pitchFamily="2" charset="2"/>
              <a:buChar char="ü"/>
            </a:pPr>
            <a:r>
              <a:rPr lang="en-US" sz="2800" b="1" dirty="0" smtClean="0">
                <a:solidFill>
                  <a:srgbClr val="0070C0"/>
                </a:solidFill>
                <a:latin typeface="Arial" panose="020B0604020202020204" pitchFamily="34" charset="0"/>
              </a:rPr>
              <a:t>4- OFDM</a:t>
            </a:r>
            <a:endParaRPr lang="en-US" sz="2800" b="1" dirty="0">
              <a:solidFill>
                <a:srgbClr val="0070C0"/>
              </a:solidFill>
              <a:latin typeface="Arial" panose="020B0604020202020204" pitchFamily="34" charset="0"/>
            </a:endParaRPr>
          </a:p>
          <a:p>
            <a:pPr fontAlgn="base"/>
            <a:r>
              <a:rPr lang="en-US" sz="2400" dirty="0">
                <a:solidFill>
                  <a:srgbClr val="212121"/>
                </a:solidFill>
                <a:latin typeface="Arial" panose="020B0604020202020204" pitchFamily="34" charset="0"/>
              </a:rPr>
              <a:t>Implement orthogonal frequency-division multiplexing (OFDM), </a:t>
            </a:r>
            <a:r>
              <a:rPr lang="en-US" sz="2400" dirty="0" smtClean="0">
                <a:solidFill>
                  <a:srgbClr val="212121"/>
                </a:solidFill>
                <a:latin typeface="Arial" panose="020B0604020202020204" pitchFamily="34" charset="0"/>
              </a:rPr>
              <a:t>             a </a:t>
            </a:r>
            <a:r>
              <a:rPr lang="en-US" sz="2400" dirty="0">
                <a:solidFill>
                  <a:srgbClr val="212121"/>
                </a:solidFill>
                <a:latin typeface="Arial" panose="020B0604020202020204" pitchFamily="34" charset="0"/>
              </a:rPr>
              <a:t>multicarrier modulation scheme.</a:t>
            </a:r>
            <a:endParaRPr lang="en-US" sz="2400" b="0" i="0" dirty="0">
              <a:solidFill>
                <a:srgbClr val="212121"/>
              </a:solidFill>
              <a:effectLst/>
              <a:latin typeface="Arial" panose="020B0604020202020204" pitchFamily="34" charset="0"/>
            </a:endParaRPr>
          </a:p>
        </p:txBody>
      </p:sp>
    </p:spTree>
    <p:extLst>
      <p:ext uri="{BB962C8B-B14F-4D97-AF65-F5344CB8AC3E}">
        <p14:creationId xmlns:p14="http://schemas.microsoft.com/office/powerpoint/2010/main" val="3482955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0146" y="609600"/>
            <a:ext cx="10972800" cy="567893"/>
          </a:xfrm>
        </p:spPr>
        <p:txBody>
          <a:bodyPr>
            <a:normAutofit fontScale="90000"/>
          </a:bodyPr>
          <a:lstStyle/>
          <a:p>
            <a:r>
              <a:rPr lang="en-US" sz="5400" dirty="0">
                <a:solidFill>
                  <a:srgbClr val="FF0000"/>
                </a:solidFill>
              </a:rPr>
              <a:t/>
            </a:r>
            <a:br>
              <a:rPr lang="en-US" sz="5400" dirty="0">
                <a:solidFill>
                  <a:srgbClr val="FF0000"/>
                </a:solidFill>
              </a:rPr>
            </a:br>
            <a:endParaRPr lang="en-US" sz="3100" b="0" dirty="0">
              <a:solidFill>
                <a:schemeClr val="tx1"/>
              </a:solidFill>
              <a:latin typeface="Arial" panose="020B0604020202020204" pitchFamily="34" charset="0"/>
              <a:cs typeface="Arial" panose="020B0604020202020204" pitchFamily="34" charset="0"/>
            </a:endParaRPr>
          </a:p>
        </p:txBody>
      </p:sp>
      <p:sp>
        <p:nvSpPr>
          <p:cNvPr id="5" name="Rectangle 4"/>
          <p:cNvSpPr/>
          <p:nvPr/>
        </p:nvSpPr>
        <p:spPr>
          <a:xfrm>
            <a:off x="240146" y="293697"/>
            <a:ext cx="1773562" cy="523220"/>
          </a:xfrm>
          <a:prstGeom prst="rect">
            <a:avLst/>
          </a:prstGeom>
        </p:spPr>
        <p:txBody>
          <a:bodyPr wrap="none">
            <a:spAutoFit/>
          </a:bodyPr>
          <a:lstStyle/>
          <a:p>
            <a:pPr marL="109728" indent="0" fontAlgn="base">
              <a:buNone/>
            </a:pPr>
            <a:r>
              <a:rPr lang="en-US" sz="2800" b="1" dirty="0">
                <a:solidFill>
                  <a:srgbClr val="FF0000"/>
                </a:solidFill>
                <a:latin typeface="Arial" panose="020B0604020202020204" pitchFamily="34" charset="0"/>
              </a:rPr>
              <a:t>4- OFDM</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7879" t="31112" r="28030" b="15420"/>
          <a:stretch/>
        </p:blipFill>
        <p:spPr>
          <a:xfrm>
            <a:off x="92364" y="816918"/>
            <a:ext cx="7610764" cy="4392392"/>
          </a:xfrm>
          <a:prstGeom prst="rect">
            <a:avLst/>
          </a:prstGeom>
        </p:spPr>
      </p:pic>
      <p:pic>
        <p:nvPicPr>
          <p:cNvPr id="6" name="Picture 5"/>
          <p:cNvPicPr>
            <a:picLocks noChangeAspect="1"/>
          </p:cNvPicPr>
          <p:nvPr/>
        </p:nvPicPr>
        <p:blipFill>
          <a:blip r:embed="rId3"/>
          <a:stretch>
            <a:fillRect/>
          </a:stretch>
        </p:blipFill>
        <p:spPr>
          <a:xfrm>
            <a:off x="7250031" y="2152312"/>
            <a:ext cx="4748005" cy="2734412"/>
          </a:xfrm>
          <a:prstGeom prst="rect">
            <a:avLst/>
          </a:prstGeom>
        </p:spPr>
      </p:pic>
      <p:cxnSp>
        <p:nvCxnSpPr>
          <p:cNvPr id="8" name="Straight Arrow Connector 7"/>
          <p:cNvCxnSpPr/>
          <p:nvPr/>
        </p:nvCxnSpPr>
        <p:spPr>
          <a:xfrm flipH="1">
            <a:off x="4920792" y="2686640"/>
            <a:ext cx="631596" cy="3487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 name="Rectangle 10"/>
          <p:cNvSpPr/>
          <p:nvPr/>
        </p:nvSpPr>
        <p:spPr>
          <a:xfrm>
            <a:off x="0" y="5380672"/>
            <a:ext cx="11448383" cy="1477328"/>
          </a:xfrm>
          <a:prstGeom prst="rect">
            <a:avLst/>
          </a:prstGeom>
          <a:solidFill>
            <a:schemeClr val="bg1"/>
          </a:solidFill>
        </p:spPr>
        <p:txBody>
          <a:bodyPr wrap="square">
            <a:spAutoFit/>
          </a:bodyPr>
          <a:lstStyle/>
          <a:p>
            <a:r>
              <a:rPr lang="en-US" dirty="0">
                <a:solidFill>
                  <a:srgbClr val="282829"/>
                </a:solidFill>
                <a:latin typeface="-apple-system"/>
              </a:rPr>
              <a:t>In </a:t>
            </a:r>
            <a:r>
              <a:rPr lang="en-US" dirty="0" smtClean="0">
                <a:solidFill>
                  <a:srgbClr val="282829"/>
                </a:solidFill>
                <a:latin typeface="-apple-system"/>
              </a:rPr>
              <a:t>OFDM, (</a:t>
            </a:r>
            <a:r>
              <a:rPr lang="en-US" dirty="0">
                <a:solidFill>
                  <a:srgbClr val="282829"/>
                </a:solidFill>
                <a:latin typeface="-apple-system"/>
              </a:rPr>
              <a:t>IFFT) is used at the transmitter to convert the parallel data streams into parallel subcarriers. This process allows for efficient modulation of multiple subcarriers simultaneously. The IFFT operation converts the frequency domain representation of the data into the time domain, which is essential for transmission over the channel. This helps in reducing the complexity of the modulator and makes it easier to implement in hardware.</a:t>
            </a:r>
            <a:endParaRPr lang="en-US" dirty="0"/>
          </a:p>
        </p:txBody>
      </p:sp>
    </p:spTree>
    <p:extLst>
      <p:ext uri="{BB962C8B-B14F-4D97-AF65-F5344CB8AC3E}">
        <p14:creationId xmlns:p14="http://schemas.microsoft.com/office/powerpoint/2010/main" val="169323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2364" y="1290638"/>
            <a:ext cx="12182763" cy="1143000"/>
          </a:xfrm>
        </p:spPr>
        <p:txBody>
          <a:bodyPr>
            <a:normAutofit fontScale="90000"/>
          </a:bodyPr>
          <a:lstStyle/>
          <a:p>
            <a:pPr algn="ctr"/>
            <a:r>
              <a:rPr lang="en-US" sz="4900" dirty="0">
                <a:solidFill>
                  <a:srgbClr val="FF0000"/>
                </a:solidFill>
                <a:latin typeface="Arial" panose="020B0604020202020204" pitchFamily="34" charset="0"/>
                <a:cs typeface="Arial" panose="020B0604020202020204" pitchFamily="34" charset="0"/>
              </a:rPr>
              <a:t/>
            </a:r>
            <a:br>
              <a:rPr lang="en-US" sz="4900" dirty="0">
                <a:solidFill>
                  <a:srgbClr val="FF0000"/>
                </a:solidFill>
                <a:latin typeface="Arial" panose="020B0604020202020204" pitchFamily="34" charset="0"/>
                <a:cs typeface="Arial" panose="020B0604020202020204" pitchFamily="34" charset="0"/>
              </a:rPr>
            </a:br>
            <a:r>
              <a:rPr lang="en-US" sz="5400" dirty="0" smtClean="0">
                <a:solidFill>
                  <a:srgbClr val="FF0000"/>
                </a:solidFill>
              </a:rPr>
              <a:t/>
            </a:r>
            <a:br>
              <a:rPr lang="en-US" sz="5400" dirty="0" smtClean="0">
                <a:solidFill>
                  <a:srgbClr val="FF0000"/>
                </a:solidFill>
              </a:rPr>
            </a:br>
            <a:r>
              <a:rPr lang="en-US" sz="5400" dirty="0" smtClean="0">
                <a:solidFill>
                  <a:srgbClr val="FF0000"/>
                </a:solidFill>
              </a:rPr>
              <a:t/>
            </a:r>
            <a:br>
              <a:rPr lang="en-US" sz="5400" dirty="0" smtClean="0">
                <a:solidFill>
                  <a:srgbClr val="FF0000"/>
                </a:solidFill>
              </a:rPr>
            </a:br>
            <a:r>
              <a:rPr lang="en-US" sz="4400" dirty="0">
                <a:solidFill>
                  <a:schemeClr val="tx1"/>
                </a:solidFill>
              </a:rPr>
              <a:t>OFDM Modulation with the Inverse </a:t>
            </a:r>
            <a:r>
              <a:rPr lang="en-US" sz="4400" dirty="0" smtClean="0">
                <a:solidFill>
                  <a:schemeClr val="tx1"/>
                </a:solidFill>
              </a:rPr>
              <a:t>FFT</a:t>
            </a:r>
            <a:br>
              <a:rPr lang="en-US" sz="4400" dirty="0" smtClean="0">
                <a:solidFill>
                  <a:schemeClr val="tx1"/>
                </a:solidFill>
              </a:rPr>
            </a:br>
            <a:r>
              <a:rPr lang="en-US" sz="4400" dirty="0" smtClean="0">
                <a:solidFill>
                  <a:srgbClr val="FF0000"/>
                </a:solidFill>
              </a:rPr>
              <a:t>(Basic link)</a:t>
            </a:r>
            <a:endParaRPr lang="en-US" sz="4400" dirty="0">
              <a:solidFill>
                <a:srgbClr val="FF0000"/>
              </a:solidFill>
            </a:endParaRPr>
          </a:p>
        </p:txBody>
      </p:sp>
    </p:spTree>
    <p:extLst>
      <p:ext uri="{BB962C8B-B14F-4D97-AF65-F5344CB8AC3E}">
        <p14:creationId xmlns:p14="http://schemas.microsoft.com/office/powerpoint/2010/main" val="1442242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Text Placeholder 1"/>
          <p:cNvSpPr>
            <a:spLocks noGrp="1" noChangeArrowheads="1"/>
          </p:cNvSpPr>
          <p:nvPr>
            <p:ph type="body" idx="1"/>
          </p:nvPr>
        </p:nvSpPr>
        <p:spPr bwMode="auto">
          <a:xfrm>
            <a:off x="442913" y="701058"/>
            <a:ext cx="9004146" cy="3117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This code sets up a 16-QAM link.</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numBits = 32768; </a:t>
            </a:r>
            <a:r>
              <a:rPr kumimoji="0" lang="en-US" altLang="en-US" sz="1800" b="0" i="0" u="none" strike="noStrike" cap="none" normalizeH="0" baseline="0" dirty="0" smtClean="0">
                <a:ln>
                  <a:noFill/>
                </a:ln>
                <a:solidFill>
                  <a:srgbClr val="008013"/>
                </a:solidFill>
                <a:effectLst/>
                <a:latin typeface="Arial" panose="020B0604020202020204" pitchFamily="34" charset="0"/>
              </a:rPr>
              <a:t>% power of 2, to optimize performance of </a:t>
            </a:r>
            <a:r>
              <a:rPr kumimoji="0" lang="en-US" altLang="en-US" sz="1800" b="0" i="0" u="none" strike="noStrike" cap="none" normalizeH="0" baseline="0" dirty="0" err="1" smtClean="0">
                <a:ln>
                  <a:noFill/>
                </a:ln>
                <a:solidFill>
                  <a:srgbClr val="008013"/>
                </a:solidFill>
                <a:effectLst/>
                <a:latin typeface="Arial" panose="020B0604020202020204" pitchFamily="34" charset="0"/>
              </a:rPr>
              <a:t>fft</a:t>
            </a:r>
            <a:r>
              <a:rPr kumimoji="0" lang="en-US" altLang="en-US" sz="1800" b="0" i="0" u="none" strike="noStrike" cap="none" normalizeH="0" baseline="0" dirty="0" smtClean="0">
                <a:ln>
                  <a:noFill/>
                </a:ln>
                <a:solidFill>
                  <a:srgbClr val="008013"/>
                </a:solidFill>
                <a:effectLst/>
                <a:latin typeface="Arial" panose="020B0604020202020204" pitchFamily="34" charset="0"/>
              </a:rPr>
              <a:t>/</a:t>
            </a:r>
            <a:r>
              <a:rPr kumimoji="0" lang="en-US" altLang="en-US" sz="1800" b="0" i="0" u="none" strike="noStrike" cap="none" normalizeH="0" baseline="0" dirty="0" err="1" smtClean="0">
                <a:ln>
                  <a:noFill/>
                </a:ln>
                <a:solidFill>
                  <a:srgbClr val="008013"/>
                </a:solidFill>
                <a:effectLst/>
                <a:latin typeface="Arial" panose="020B0604020202020204" pitchFamily="34" charset="0"/>
              </a:rPr>
              <a:t>ifft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 = 16; </a:t>
            </a:r>
            <a:r>
              <a:rPr kumimoji="0" lang="en-US" altLang="en-US" sz="1800" b="0" i="0" u="none" strike="noStrike" cap="none" normalizeH="0" baseline="0" dirty="0" smtClean="0">
                <a:ln>
                  <a:noFill/>
                </a:ln>
                <a:solidFill>
                  <a:srgbClr val="008013"/>
                </a:solidFill>
                <a:effectLst/>
                <a:latin typeface="Arial" panose="020B0604020202020204" pitchFamily="34" charset="0"/>
              </a:rPr>
              <a:t>% for 16-QAM</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randi</a:t>
            </a:r>
            <a:r>
              <a:rPr kumimoji="0" lang="en-US" altLang="en-US" sz="1800" b="0" i="0" u="none" strike="noStrike" cap="none" normalizeH="0" baseline="0" dirty="0" smtClean="0">
                <a:ln>
                  <a:noFill/>
                </a:ln>
                <a:solidFill>
                  <a:schemeClr val="tx1"/>
                </a:solidFill>
                <a:effectLst/>
                <a:latin typeface="Arial" panose="020B0604020202020204" pitchFamily="34" charset="0"/>
              </a:rPr>
              <a:t>([0,1],numBits,1);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qammod</a:t>
            </a:r>
            <a:r>
              <a:rPr kumimoji="0" lang="en-US" altLang="en-US" sz="1800" b="0" i="0" u="none" strike="noStrike" cap="none" normalizeH="0" baseline="0" dirty="0" smtClean="0">
                <a:ln>
                  <a:noFill/>
                </a:ln>
                <a:solidFill>
                  <a:schemeClr val="tx1"/>
                </a:solidFill>
                <a:effectLst/>
                <a:latin typeface="Arial" panose="020B0604020202020204" pitchFamily="34" charset="0"/>
              </a:rPr>
              <a:t>(srcBits,</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InputType</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scatterplot(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rgbClr val="A709F5"/>
                </a:solidFill>
                <a:effectLst/>
                <a:latin typeface="Arial" panose="020B0604020202020204" pitchFamily="34" charset="0"/>
              </a:rPr>
              <a:t>"16-QAM Signal"</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57791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296073" cy="3329709"/>
          </a:xfrm>
        </p:spPr>
        <p:txBody>
          <a:bodyPr>
            <a:noAutofit/>
          </a:bodyPr>
          <a:lstStyle/>
          <a:p>
            <a:pPr marL="109728" indent="0">
              <a:buClrTx/>
              <a:buNone/>
            </a:pPr>
            <a:r>
              <a:rPr lang="en-US" altLang="en-US" sz="1600" b="1" dirty="0" smtClean="0"/>
              <a:t>Background</a:t>
            </a:r>
            <a:endParaRPr lang="en-US" altLang="en-US" sz="1600" b="1" dirty="0"/>
          </a:p>
          <a:p>
            <a:pPr>
              <a:buClrTx/>
            </a:pPr>
            <a:r>
              <a:rPr lang="en-US" altLang="en-US" sz="1600" dirty="0"/>
              <a:t>The </a:t>
            </a:r>
            <a:r>
              <a:rPr lang="en-US" altLang="en-US" sz="1600" dirty="0" err="1"/>
              <a:t>ifft</a:t>
            </a:r>
            <a:r>
              <a:rPr lang="en-US" altLang="en-US" sz="1600" dirty="0"/>
              <a:t> function computes the inverse discrete Fourier transform of a signal.</a:t>
            </a:r>
          </a:p>
          <a:p>
            <a:pPr marL="109728" indent="0">
              <a:buClrTx/>
              <a:buNone/>
            </a:pPr>
            <a:r>
              <a:rPr lang="en-US" altLang="en-US" sz="1600" b="1" dirty="0" smtClean="0"/>
              <a:t>    </a:t>
            </a:r>
            <a:r>
              <a:rPr lang="en-US" altLang="en-US" sz="1600" b="1" dirty="0" err="1" smtClean="0"/>
              <a:t>sigOut</a:t>
            </a:r>
            <a:r>
              <a:rPr lang="en-US" altLang="en-US" sz="1600" b="1" dirty="0" smtClean="0"/>
              <a:t> </a:t>
            </a:r>
            <a:r>
              <a:rPr lang="en-US" altLang="en-US" sz="1600" b="1" dirty="0"/>
              <a:t>= </a:t>
            </a:r>
            <a:r>
              <a:rPr lang="en-US" altLang="en-US" sz="1600" b="1" dirty="0" err="1"/>
              <a:t>ifft</a:t>
            </a:r>
            <a:r>
              <a:rPr lang="en-US" altLang="en-US" sz="1600" b="1" dirty="0"/>
              <a:t>(sig)</a:t>
            </a:r>
          </a:p>
          <a:p>
            <a:pPr marL="109728" indent="0">
              <a:buClrTx/>
              <a:buNone/>
            </a:pPr>
            <a:endParaRPr lang="en-US" altLang="en-US" sz="1600" dirty="0"/>
          </a:p>
          <a:p>
            <a:pPr>
              <a:buClrTx/>
            </a:pPr>
            <a:r>
              <a:rPr lang="en-US" altLang="en-US" sz="1600" dirty="0"/>
              <a:t>The output is the same size as the input signal.</a:t>
            </a:r>
          </a:p>
          <a:p>
            <a:pPr marL="109728" indent="0">
              <a:buClrTx/>
              <a:buNone/>
            </a:pPr>
            <a:endParaRPr lang="en-US" altLang="en-US" sz="1600" dirty="0"/>
          </a:p>
          <a:p>
            <a:pPr>
              <a:buClrTx/>
            </a:pPr>
            <a:r>
              <a:rPr lang="en-US" altLang="en-US" sz="1600" dirty="0"/>
              <a:t>Notice that the number of bits in the simulation has changed—it's now a power of 2, which means the length of the QAM signal is also a power of 2. The </a:t>
            </a:r>
            <a:r>
              <a:rPr lang="en-US" altLang="en-US" sz="1600" dirty="0" err="1"/>
              <a:t>ifft</a:t>
            </a:r>
            <a:r>
              <a:rPr lang="en-US" altLang="en-US" sz="1600" dirty="0"/>
              <a:t> and </a:t>
            </a:r>
            <a:r>
              <a:rPr lang="en-US" altLang="en-US" sz="1600" dirty="0" err="1"/>
              <a:t>fft</a:t>
            </a:r>
            <a:r>
              <a:rPr lang="en-US" altLang="en-US" sz="1600" dirty="0"/>
              <a:t> functions are significantly faster for signals of certain lengths, including those whose length is a power of 2</a:t>
            </a:r>
            <a:r>
              <a:rPr lang="en-US" altLang="en-US" sz="1600" dirty="0" smtClean="0"/>
              <a:t>.</a:t>
            </a:r>
          </a:p>
          <a:p>
            <a:pPr>
              <a:buClrTx/>
            </a:pPr>
            <a:endParaRPr lang="en-US" altLang="en-US" sz="1600" dirty="0"/>
          </a:p>
          <a:p>
            <a:pPr marL="109728" indent="0">
              <a:buClrTx/>
              <a:buNone/>
            </a:pPr>
            <a:r>
              <a:rPr lang="en-US" altLang="en-US" sz="1600" b="1" dirty="0">
                <a:solidFill>
                  <a:srgbClr val="FF0000"/>
                </a:solidFill>
              </a:rPr>
              <a:t>TASK</a:t>
            </a:r>
          </a:p>
          <a:p>
            <a:pPr marL="109728" indent="0">
              <a:buClrTx/>
              <a:buNone/>
            </a:pPr>
            <a:r>
              <a:rPr lang="en-US" altLang="en-US" sz="1600" dirty="0"/>
              <a:t>Compute the IFFT of the 16-QAM signal </a:t>
            </a:r>
            <a:r>
              <a:rPr lang="en-US" altLang="en-US" sz="1600" b="1" dirty="0" err="1"/>
              <a:t>qamModOut</a:t>
            </a:r>
            <a:r>
              <a:rPr lang="en-US" altLang="en-US" sz="1600" dirty="0"/>
              <a:t>. Name the result </a:t>
            </a:r>
            <a:r>
              <a:rPr lang="en-US" altLang="en-US" sz="1600" b="1" dirty="0"/>
              <a:t>ofdmModOut.</a:t>
            </a:r>
          </a:p>
          <a:p>
            <a:pPr marL="109728" indent="0">
              <a:buClrTx/>
              <a:buNone/>
            </a:pPr>
            <a:endParaRPr lang="en-US" altLang="en-US" sz="1600" dirty="0"/>
          </a:p>
          <a:p>
            <a:pPr marL="109728" indent="0">
              <a:buClrTx/>
              <a:buNone/>
            </a:pPr>
            <a:r>
              <a:rPr lang="en-US" altLang="en-US" sz="1600" b="1" dirty="0">
                <a:solidFill>
                  <a:srgbClr val="0070C0"/>
                </a:solidFill>
              </a:rPr>
              <a:t>ofdmModOut = </a:t>
            </a:r>
            <a:r>
              <a:rPr lang="en-US" altLang="en-US" sz="1600" b="1" dirty="0" err="1">
                <a:solidFill>
                  <a:srgbClr val="0070C0"/>
                </a:solidFill>
              </a:rPr>
              <a:t>ifft</a:t>
            </a:r>
            <a:r>
              <a:rPr lang="en-US" altLang="en-US" sz="1600" b="1" dirty="0">
                <a:solidFill>
                  <a:srgbClr val="0070C0"/>
                </a:solidFill>
              </a:rPr>
              <a:t>(</a:t>
            </a:r>
            <a:r>
              <a:rPr lang="en-US" altLang="en-US" sz="1600" b="1" dirty="0" err="1">
                <a:solidFill>
                  <a:srgbClr val="0070C0"/>
                </a:solidFill>
              </a:rPr>
              <a:t>qamModOut</a:t>
            </a:r>
            <a:r>
              <a:rPr lang="en-US" altLang="en-US" sz="1600" b="1" dirty="0">
                <a:solidFill>
                  <a:srgbClr val="0070C0"/>
                </a:solidFill>
              </a:rPr>
              <a:t>)</a:t>
            </a:r>
            <a:endParaRPr lang="en-US" altLang="en-US" sz="1600" dirty="0"/>
          </a:p>
        </p:txBody>
      </p:sp>
    </p:spTree>
    <p:extLst>
      <p:ext uri="{BB962C8B-B14F-4D97-AF65-F5344CB8AC3E}">
        <p14:creationId xmlns:p14="http://schemas.microsoft.com/office/powerpoint/2010/main" val="270536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6515" t="38249" r="5000" b="11515"/>
          <a:stretch/>
        </p:blipFill>
        <p:spPr>
          <a:xfrm>
            <a:off x="3731489" y="336408"/>
            <a:ext cx="4239491" cy="3472866"/>
          </a:xfrm>
          <a:prstGeom prst="rect">
            <a:avLst/>
          </a:prstGeom>
        </p:spPr>
      </p:pic>
      <p:sp>
        <p:nvSpPr>
          <p:cNvPr id="4" name="Rectangle 2"/>
          <p:cNvSpPr>
            <a:spLocks noChangeArrowheads="1"/>
          </p:cNvSpPr>
          <p:nvPr/>
        </p:nvSpPr>
        <p:spPr bwMode="auto">
          <a:xfrm>
            <a:off x="612931" y="4881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Helvetica" panose="020B0604020202020204" pitchFamily="34" charset="0"/>
              </a:rPr>
              <a:t>Apply AWGN.</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"ofdmModOut"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SNR = 15; </a:t>
            </a:r>
            <a:r>
              <a:rPr kumimoji="0" lang="en-US" altLang="en-US" sz="1800" b="0" i="0" u="none" strike="noStrike" cap="none" normalizeH="0" baseline="0" dirty="0" smtClean="0">
                <a:ln>
                  <a:noFill/>
                </a:ln>
                <a:solidFill>
                  <a:srgbClr val="008013"/>
                </a:solidFill>
                <a:effectLst/>
                <a:latin typeface="Arial" panose="020B0604020202020204" pitchFamily="34" charset="0"/>
              </a:rPr>
              <a:t>% dB</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awgn</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ofdmModOut,SNR,</a:t>
            </a:r>
            <a:r>
              <a:rPr kumimoji="0" lang="en-US" altLang="en-US" sz="1800" b="0" i="0" u="none" strike="noStrike" cap="none" normalizeH="0" baseline="0" dirty="0" err="1" smtClean="0">
                <a:ln>
                  <a:noFill/>
                </a:ln>
                <a:solidFill>
                  <a:srgbClr val="A709F5"/>
                </a:solidFill>
                <a:effectLst/>
                <a:latin typeface="Arial" panose="020B0604020202020204" pitchFamily="34" charset="0"/>
              </a:rPr>
              <a:t>"measured</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928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526982" cy="3329709"/>
          </a:xfrm>
        </p:spPr>
        <p:txBody>
          <a:bodyPr>
            <a:noAutofit/>
          </a:bodyPr>
          <a:lstStyle/>
          <a:p>
            <a:pPr algn="just">
              <a:buClrTx/>
            </a:pPr>
            <a:r>
              <a:rPr lang="en-US" altLang="en-US" sz="1600" dirty="0"/>
              <a:t>Once you've created the variable </a:t>
            </a:r>
            <a:r>
              <a:rPr lang="en-US" altLang="en-US" sz="1600" b="1" dirty="0"/>
              <a:t>ofdmModOut</a:t>
            </a:r>
            <a:r>
              <a:rPr lang="en-US" altLang="en-US" sz="1600" dirty="0"/>
              <a:t> in the script, it is sent over a noisy channel.</a:t>
            </a:r>
          </a:p>
          <a:p>
            <a:pPr algn="just">
              <a:buClrTx/>
            </a:pPr>
            <a:endParaRPr lang="en-US" altLang="en-US" sz="1600" dirty="0"/>
          </a:p>
          <a:p>
            <a:pPr algn="just">
              <a:buClrTx/>
            </a:pPr>
            <a:r>
              <a:rPr lang="en-US" altLang="en-US" sz="1600" dirty="0"/>
              <a:t>Next, in the receiver, you need to "undo" the </a:t>
            </a:r>
            <a:r>
              <a:rPr lang="en-US" altLang="en-US" sz="1600" b="1" dirty="0"/>
              <a:t>IFFT</a:t>
            </a:r>
            <a:r>
              <a:rPr lang="en-US" altLang="en-US" sz="1600" dirty="0"/>
              <a:t> by performing an </a:t>
            </a:r>
            <a:r>
              <a:rPr lang="en-US" altLang="en-US" sz="1600" b="1" dirty="0"/>
              <a:t>FFT</a:t>
            </a:r>
            <a:r>
              <a:rPr lang="en-US" altLang="en-US" sz="1600" dirty="0"/>
              <a:t>.</a:t>
            </a:r>
          </a:p>
          <a:p>
            <a:pPr algn="just">
              <a:buClrTx/>
            </a:pPr>
            <a:endParaRPr lang="en-US" altLang="en-US" sz="1600" dirty="0"/>
          </a:p>
          <a:p>
            <a:pPr algn="just">
              <a:buClrTx/>
            </a:pPr>
            <a:r>
              <a:rPr lang="en-US" altLang="en-US" sz="1600" dirty="0"/>
              <a:t>The </a:t>
            </a:r>
            <a:r>
              <a:rPr lang="en-US" altLang="en-US" sz="1600" dirty="0" err="1"/>
              <a:t>fft</a:t>
            </a:r>
            <a:r>
              <a:rPr lang="en-US" altLang="en-US" sz="1600" dirty="0"/>
              <a:t> function computes the discrete Fourier transform, via the fast Fourier transform algorithm</a:t>
            </a:r>
            <a:r>
              <a:rPr lang="en-US" altLang="en-US" sz="1600" dirty="0" smtClean="0"/>
              <a:t>.</a:t>
            </a:r>
            <a:endParaRPr lang="en-US" altLang="en-US" sz="1600" dirty="0"/>
          </a:p>
          <a:p>
            <a:pPr marL="109728" indent="0" algn="just">
              <a:buClrTx/>
              <a:buNone/>
            </a:pPr>
            <a:r>
              <a:rPr lang="en-US" altLang="en-US" sz="1600" dirty="0" smtClean="0"/>
              <a:t>      </a:t>
            </a:r>
            <a:r>
              <a:rPr lang="en-US" altLang="en-US" sz="1600" b="1" dirty="0" err="1" smtClean="0"/>
              <a:t>sigOut</a:t>
            </a:r>
            <a:r>
              <a:rPr lang="en-US" altLang="en-US" sz="1600" b="1" dirty="0" smtClean="0"/>
              <a:t> </a:t>
            </a:r>
            <a:r>
              <a:rPr lang="en-US" altLang="en-US" sz="1600" b="1" dirty="0"/>
              <a:t>= </a:t>
            </a:r>
            <a:r>
              <a:rPr lang="en-US" altLang="en-US" sz="1600" b="1" dirty="0" err="1"/>
              <a:t>fft</a:t>
            </a:r>
            <a:r>
              <a:rPr lang="en-US" altLang="en-US" sz="1600" b="1" dirty="0"/>
              <a:t>(sig</a:t>
            </a:r>
            <a:r>
              <a:rPr lang="en-US" altLang="en-US" sz="1600" b="1" dirty="0" smtClean="0"/>
              <a:t>)</a:t>
            </a:r>
          </a:p>
          <a:p>
            <a:pPr marL="109728" indent="0" algn="just">
              <a:buClrTx/>
              <a:buNone/>
            </a:pPr>
            <a:endParaRPr lang="en-US" altLang="en-US" sz="1600" dirty="0"/>
          </a:p>
          <a:p>
            <a:pPr marL="109728" indent="0" algn="just">
              <a:buClrTx/>
              <a:buNone/>
            </a:pPr>
            <a:r>
              <a:rPr lang="en-US" altLang="en-US" sz="1600" b="1" dirty="0">
                <a:solidFill>
                  <a:srgbClr val="FF0000"/>
                </a:solidFill>
              </a:rPr>
              <a:t>TASK</a:t>
            </a:r>
          </a:p>
          <a:p>
            <a:pPr algn="just">
              <a:buClrTx/>
            </a:pPr>
            <a:r>
              <a:rPr lang="en-US" altLang="en-US" sz="1600" dirty="0"/>
              <a:t>Compute the FFT of the received signal </a:t>
            </a:r>
            <a:r>
              <a:rPr lang="en-US" altLang="en-US" sz="1600" b="1" dirty="0" err="1"/>
              <a:t>chanOut</a:t>
            </a:r>
            <a:r>
              <a:rPr lang="en-US" altLang="en-US" sz="1600" dirty="0"/>
              <a:t>. Name the result </a:t>
            </a:r>
            <a:r>
              <a:rPr lang="en-US" altLang="en-US" sz="1600" b="1" dirty="0"/>
              <a:t>ofdmDemodOut</a:t>
            </a:r>
            <a:r>
              <a:rPr lang="en-US" altLang="en-US" sz="1600" dirty="0" smtClean="0"/>
              <a:t>.</a:t>
            </a:r>
          </a:p>
          <a:p>
            <a:pPr marL="109728" indent="0" algn="just">
              <a:buClrTx/>
              <a:buNone/>
            </a:pPr>
            <a:r>
              <a:rPr lang="en-US" altLang="en-US" sz="1600" b="1" dirty="0" smtClean="0">
                <a:solidFill>
                  <a:srgbClr val="0070C0"/>
                </a:solidFill>
              </a:rPr>
              <a:t>      ofdmDemodOut </a:t>
            </a:r>
            <a:r>
              <a:rPr lang="en-US" altLang="en-US" sz="1600" b="1" dirty="0">
                <a:solidFill>
                  <a:srgbClr val="0070C0"/>
                </a:solidFill>
              </a:rPr>
              <a:t>= </a:t>
            </a:r>
            <a:r>
              <a:rPr lang="en-US" altLang="en-US" sz="1600" b="1" dirty="0" err="1">
                <a:solidFill>
                  <a:srgbClr val="0070C0"/>
                </a:solidFill>
              </a:rPr>
              <a:t>fft</a:t>
            </a:r>
            <a:r>
              <a:rPr lang="en-US" altLang="en-US" sz="1600" b="1" dirty="0">
                <a:solidFill>
                  <a:srgbClr val="0070C0"/>
                </a:solidFill>
              </a:rPr>
              <a:t>(</a:t>
            </a:r>
            <a:r>
              <a:rPr lang="en-US" altLang="en-US" sz="1600" b="1" dirty="0" err="1">
                <a:solidFill>
                  <a:srgbClr val="0070C0"/>
                </a:solidFill>
              </a:rPr>
              <a:t>chanOut</a:t>
            </a:r>
            <a:r>
              <a:rPr lang="en-US" altLang="en-US" sz="1600" b="1" dirty="0">
                <a:solidFill>
                  <a:srgbClr val="0070C0"/>
                </a:solidFill>
              </a:rPr>
              <a:t>)</a:t>
            </a:r>
          </a:p>
        </p:txBody>
      </p:sp>
      <p:sp>
        <p:nvSpPr>
          <p:cNvPr id="5" name="Rectangle 4"/>
          <p:cNvSpPr>
            <a:spLocks noChangeArrowheads="1"/>
          </p:cNvSpPr>
          <p:nvPr/>
        </p:nvSpPr>
        <p:spPr bwMode="auto">
          <a:xfrm>
            <a:off x="1382186" y="3924735"/>
            <a:ext cx="10671269" cy="256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Demodulate back into bits, then calculate the BER</a:t>
            </a:r>
            <a:r>
              <a:rPr kumimoji="0" lang="en-US" altLang="en-US" sz="1800" i="0" u="none" strike="noStrike" cap="none" normalizeH="0" baseline="0" dirty="0" smtClean="0">
                <a:ln>
                  <a:noFill/>
                </a:ln>
                <a:solidFill>
                  <a:srgbClr val="FF0000"/>
                </a:solidFill>
                <a:effectLst/>
                <a:latin typeface="Helvetica" panose="020B0604020202020204" pitchFamily="34" charset="0"/>
              </a:rPr>
              <a:t>.</a:t>
            </a:r>
            <a:endParaRPr kumimoji="0" lang="en-US" altLang="en-US" sz="1800"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"ofdmDemodOut"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2</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(ofdmDemodOut,modOrder,</a:t>
            </a:r>
            <a:r>
              <a:rPr kumimoji="0" lang="en-US" altLang="en-US" sz="1800" b="0" i="0" u="none" strike="noStrike" cap="none" normalizeH="0" baseline="0" dirty="0"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numBitErrors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p>
          <a:p>
            <a:pPr lvl="0" eaLnBrk="0" fontAlgn="base" hangingPunct="0">
              <a:spcBef>
                <a:spcPct val="0"/>
              </a:spcBef>
              <a:spcAft>
                <a:spcPct val="0"/>
              </a:spcAft>
            </a:pPr>
            <a:r>
              <a:rPr lang="en-US" altLang="en-US" dirty="0" smtClean="0">
                <a:latin typeface="Arial" panose="020B0604020202020204" pitchFamily="34" charset="0"/>
              </a:rPr>
              <a:t>                                                </a:t>
            </a:r>
            <a:r>
              <a:rPr lang="en-US" altLang="en-US" b="1" dirty="0" smtClean="0">
                <a:solidFill>
                  <a:srgbClr val="FF0000"/>
                </a:solidFill>
                <a:latin typeface="Arial" panose="020B0604020202020204" pitchFamily="34" charset="0"/>
              </a:rPr>
              <a:t>numBitErrors = 125          </a:t>
            </a:r>
          </a:p>
          <a:p>
            <a:pPr lvl="0" eaLnBrk="0" fontAlgn="base" hangingPunct="0">
              <a:spcBef>
                <a:spcPct val="0"/>
              </a:spcBef>
              <a:spcAft>
                <a:spcPct val="0"/>
              </a:spcAft>
            </a:pPr>
            <a:r>
              <a:rPr lang="en-US" altLang="en-US" b="1" dirty="0">
                <a:solidFill>
                  <a:srgbClr val="FF0000"/>
                </a:solidFill>
                <a:latin typeface="Arial" panose="020B0604020202020204" pitchFamily="34" charset="0"/>
              </a:rPr>
              <a:t> </a:t>
            </a:r>
            <a:r>
              <a:rPr lang="en-US" altLang="en-US" b="1" dirty="0" smtClean="0">
                <a:solidFill>
                  <a:srgbClr val="FF0000"/>
                </a:solidFill>
                <a:latin typeface="Arial" panose="020B0604020202020204" pitchFamily="34" charset="0"/>
              </a:rPr>
              <a:t>                                               BER = 0.0038</a:t>
            </a:r>
          </a:p>
          <a:p>
            <a:pPr lvl="0" eaLnBrk="0" fontAlgn="base" hangingPunct="0">
              <a:spcBef>
                <a:spcPct val="0"/>
              </a:spcBef>
              <a:spcAft>
                <a:spcPct val="0"/>
              </a:spcAf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426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6327" y="544604"/>
            <a:ext cx="11526982" cy="3329709"/>
          </a:xfrm>
        </p:spPr>
        <p:txBody>
          <a:bodyPr>
            <a:noAutofit/>
          </a:bodyPr>
          <a:lstStyle/>
          <a:p>
            <a:pPr algn="just">
              <a:buClrTx/>
            </a:pPr>
            <a:r>
              <a:rPr lang="en-US" altLang="en-US" sz="1600" dirty="0"/>
              <a:t>Since the </a:t>
            </a:r>
            <a:r>
              <a:rPr lang="en-US" altLang="en-US" sz="1600" b="1" dirty="0"/>
              <a:t>OFDM</a:t>
            </a:r>
            <a:r>
              <a:rPr lang="en-US" altLang="en-US" sz="1600" dirty="0"/>
              <a:t> demodulator output is a </a:t>
            </a:r>
            <a:r>
              <a:rPr lang="en-US" altLang="en-US" sz="1600" b="1" dirty="0"/>
              <a:t>16-QAM</a:t>
            </a:r>
            <a:r>
              <a:rPr lang="en-US" altLang="en-US" sz="1600" dirty="0"/>
              <a:t> signal, you can look at its </a:t>
            </a:r>
            <a:r>
              <a:rPr lang="en-US" altLang="en-US" sz="1600" b="1" dirty="0"/>
              <a:t>scatter plot</a:t>
            </a:r>
            <a:r>
              <a:rPr lang="en-US" altLang="en-US" sz="1600" dirty="0" smtClean="0"/>
              <a:t>.</a:t>
            </a:r>
          </a:p>
          <a:p>
            <a:pPr algn="just">
              <a:buClrTx/>
            </a:pPr>
            <a:endParaRPr lang="en-US" altLang="en-US" sz="1600" dirty="0"/>
          </a:p>
          <a:p>
            <a:pPr marL="109728" indent="0" algn="just">
              <a:buClrTx/>
              <a:buNone/>
            </a:pPr>
            <a:r>
              <a:rPr lang="en-US" altLang="en-US" sz="1600" b="1" dirty="0">
                <a:solidFill>
                  <a:srgbClr val="FF0000"/>
                </a:solidFill>
              </a:rPr>
              <a:t>TASK</a:t>
            </a:r>
          </a:p>
          <a:p>
            <a:pPr algn="just">
              <a:buClrTx/>
            </a:pPr>
            <a:r>
              <a:rPr lang="en-US" altLang="en-US" sz="1600" dirty="0"/>
              <a:t>Create a scatter plot of the </a:t>
            </a:r>
            <a:r>
              <a:rPr lang="en-US" altLang="en-US" sz="1600" dirty="0" smtClean="0"/>
              <a:t>OFDM </a:t>
            </a:r>
            <a:r>
              <a:rPr lang="en-US" altLang="en-US" sz="1600" dirty="0"/>
              <a:t>demodulator output </a:t>
            </a:r>
            <a:r>
              <a:rPr lang="en-US" altLang="en-US" sz="1600" b="1" dirty="0"/>
              <a:t>ofdmDemodOut</a:t>
            </a:r>
            <a:r>
              <a:rPr lang="en-US" altLang="en-US" sz="1600" dirty="0" smtClean="0"/>
              <a:t>.</a:t>
            </a:r>
          </a:p>
          <a:p>
            <a:pPr marL="109728" indent="0" algn="just">
              <a:buClrTx/>
              <a:buNone/>
            </a:pPr>
            <a:r>
              <a:rPr lang="en-US" altLang="en-US" sz="1600" b="1" dirty="0" smtClean="0">
                <a:solidFill>
                  <a:srgbClr val="0070C0"/>
                </a:solidFill>
              </a:rPr>
              <a:t>    </a:t>
            </a:r>
            <a:r>
              <a:rPr lang="en-US" altLang="en-US" sz="1800" b="1" dirty="0" smtClean="0">
                <a:solidFill>
                  <a:srgbClr val="0070C0"/>
                </a:solidFill>
              </a:rPr>
              <a:t>scatterplot(</a:t>
            </a:r>
            <a:r>
              <a:rPr lang="en-US" altLang="en-US" sz="1800" b="1" dirty="0" err="1" smtClean="0">
                <a:solidFill>
                  <a:srgbClr val="0070C0"/>
                </a:solidFill>
              </a:rPr>
              <a:t>ofdmDemodOut</a:t>
            </a:r>
            <a:r>
              <a:rPr lang="en-US" altLang="en-US" sz="1800" b="1" dirty="0" smtClean="0">
                <a:solidFill>
                  <a:srgbClr val="0070C0"/>
                </a:solidFill>
              </a:rPr>
              <a:t>)</a:t>
            </a:r>
          </a:p>
          <a:p>
            <a:pPr marL="109728" indent="0" algn="just">
              <a:buClrTx/>
              <a:buNone/>
            </a:pPr>
            <a:endParaRPr lang="en-US" altLang="en-US" sz="1800" b="1" dirty="0">
              <a:solidFill>
                <a:srgbClr val="0070C0"/>
              </a:solidFill>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61048" t="39874" r="10978" b="10629"/>
          <a:stretch/>
        </p:blipFill>
        <p:spPr>
          <a:xfrm>
            <a:off x="5384799" y="2099719"/>
            <a:ext cx="4621451" cy="4591344"/>
          </a:xfrm>
          <a:prstGeom prst="rect">
            <a:avLst/>
          </a:prstGeom>
        </p:spPr>
      </p:pic>
    </p:spTree>
    <p:extLst>
      <p:ext uri="{BB962C8B-B14F-4D97-AF65-F5344CB8AC3E}">
        <p14:creationId xmlns:p14="http://schemas.microsoft.com/office/powerpoint/2010/main" val="145880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237" y="819584"/>
            <a:ext cx="12182763" cy="1143000"/>
          </a:xfrm>
        </p:spPr>
        <p:txBody>
          <a:bodyPr>
            <a:normAutofit fontScale="90000"/>
          </a:bodyPr>
          <a:lstStyle/>
          <a:p>
            <a:pPr algn="ctr"/>
            <a:r>
              <a:rPr lang="en-US" sz="4900" dirty="0">
                <a:solidFill>
                  <a:srgbClr val="FF0000"/>
                </a:solidFill>
                <a:latin typeface="Arial" panose="020B0604020202020204" pitchFamily="34" charset="0"/>
                <a:cs typeface="Arial" panose="020B0604020202020204" pitchFamily="34" charset="0"/>
              </a:rPr>
              <a:t/>
            </a:r>
            <a:br>
              <a:rPr lang="en-US" sz="4900" dirty="0">
                <a:solidFill>
                  <a:srgbClr val="FF0000"/>
                </a:solidFill>
                <a:latin typeface="Arial" panose="020B0604020202020204" pitchFamily="34" charset="0"/>
                <a:cs typeface="Arial" panose="020B0604020202020204" pitchFamily="34" charset="0"/>
              </a:rPr>
            </a:br>
            <a:r>
              <a:rPr lang="en-US" sz="5400" dirty="0" smtClean="0">
                <a:solidFill>
                  <a:srgbClr val="FF0000"/>
                </a:solidFill>
              </a:rPr>
              <a:t/>
            </a:r>
            <a:br>
              <a:rPr lang="en-US" sz="5400" dirty="0" smtClean="0">
                <a:solidFill>
                  <a:srgbClr val="FF0000"/>
                </a:solidFill>
              </a:rPr>
            </a:br>
            <a:r>
              <a:rPr lang="en-US" sz="5400" dirty="0" smtClean="0">
                <a:solidFill>
                  <a:srgbClr val="FF0000"/>
                </a:solidFill>
              </a:rPr>
              <a:t/>
            </a:r>
            <a:br>
              <a:rPr lang="en-US" sz="5400" dirty="0" smtClean="0">
                <a:solidFill>
                  <a:srgbClr val="FF0000"/>
                </a:solidFill>
              </a:rPr>
            </a:br>
            <a:r>
              <a:rPr lang="en-US" sz="4400" dirty="0">
                <a:solidFill>
                  <a:schemeClr val="tx1"/>
                </a:solidFill>
              </a:rPr>
              <a:t>OFDM Modulation with the Inverse </a:t>
            </a:r>
            <a:r>
              <a:rPr lang="en-US" sz="4400" dirty="0" smtClean="0">
                <a:solidFill>
                  <a:schemeClr val="tx1"/>
                </a:solidFill>
              </a:rPr>
              <a:t>FFT</a:t>
            </a:r>
            <a:br>
              <a:rPr lang="en-US" sz="4400" dirty="0" smtClean="0">
                <a:solidFill>
                  <a:schemeClr val="tx1"/>
                </a:solidFill>
              </a:rPr>
            </a:br>
            <a:r>
              <a:rPr lang="en-US" sz="4400" dirty="0" smtClean="0">
                <a:solidFill>
                  <a:srgbClr val="FF0000"/>
                </a:solidFill>
              </a:rPr>
              <a:t>(</a:t>
            </a:r>
            <a:r>
              <a:rPr lang="en-US" dirty="0">
                <a:solidFill>
                  <a:srgbClr val="FF0000"/>
                </a:solidFill>
                <a:effectLst/>
              </a:rPr>
              <a:t>Channel effects</a:t>
            </a:r>
            <a:r>
              <a:rPr lang="en-US" sz="4400" dirty="0" smtClean="0">
                <a:solidFill>
                  <a:srgbClr val="FF0000"/>
                </a:solidFill>
              </a:rPr>
              <a:t>)</a:t>
            </a:r>
            <a:endParaRPr lang="en-US" sz="4400" dirty="0">
              <a:solidFill>
                <a:srgbClr val="FF0000"/>
              </a:solidFill>
            </a:endParaRPr>
          </a:p>
        </p:txBody>
      </p:sp>
    </p:spTree>
    <p:extLst>
      <p:ext uri="{BB962C8B-B14F-4D97-AF65-F5344CB8AC3E}">
        <p14:creationId xmlns:p14="http://schemas.microsoft.com/office/powerpoint/2010/main" val="23440819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741515"/>
            <a:ext cx="11296073" cy="3329709"/>
          </a:xfrm>
        </p:spPr>
        <p:txBody>
          <a:bodyPr>
            <a:noAutofit/>
          </a:bodyPr>
          <a:lstStyle/>
          <a:p>
            <a:pPr>
              <a:buClrTx/>
            </a:pPr>
            <a:r>
              <a:rPr lang="en-US" altLang="en-US" sz="1600" b="1" dirty="0"/>
              <a:t>Channel: multipath channel and/or AWGN</a:t>
            </a:r>
          </a:p>
          <a:p>
            <a:pPr>
              <a:buClrTx/>
            </a:pPr>
            <a:r>
              <a:rPr lang="en-US" altLang="en-US" sz="1600" dirty="0" smtClean="0"/>
              <a:t>The </a:t>
            </a:r>
            <a:r>
              <a:rPr lang="en-US" altLang="en-US" sz="1600" dirty="0"/>
              <a:t>script simulates the same OFDM link from before, but now you can modify the channel model interactively.</a:t>
            </a:r>
          </a:p>
          <a:p>
            <a:pPr marL="109728" indent="0">
              <a:buClrTx/>
              <a:buNone/>
            </a:pPr>
            <a:endParaRPr lang="en-US" altLang="en-US" sz="1600" b="1" dirty="0"/>
          </a:p>
          <a:p>
            <a:pPr marL="109728" indent="0">
              <a:buClrTx/>
              <a:buNone/>
            </a:pPr>
            <a:r>
              <a:rPr lang="en-US" altLang="en-US" sz="1600" b="1" dirty="0" smtClean="0">
                <a:solidFill>
                  <a:srgbClr val="FF0000"/>
                </a:solidFill>
              </a:rPr>
              <a:t>TASK</a:t>
            </a:r>
            <a:endParaRPr lang="en-US" altLang="en-US" sz="1600" b="1" dirty="0">
              <a:solidFill>
                <a:srgbClr val="FF0000"/>
              </a:solidFill>
            </a:endParaRPr>
          </a:p>
          <a:p>
            <a:pPr marL="109728" indent="0">
              <a:buClrTx/>
              <a:buNone/>
            </a:pPr>
            <a:r>
              <a:rPr lang="en-US" altLang="en-US" sz="1600" dirty="0"/>
              <a:t>Model a multipath channel by </a:t>
            </a:r>
            <a:r>
              <a:rPr lang="en-US" altLang="en-US" sz="1600" dirty="0" smtClean="0"/>
              <a:t>enabling </a:t>
            </a:r>
            <a:r>
              <a:rPr lang="en-US" altLang="en-US" sz="1600" dirty="0"/>
              <a:t>the </a:t>
            </a:r>
            <a:r>
              <a:rPr lang="en-US" altLang="en-US" sz="1600" b="1" dirty="0" smtClean="0"/>
              <a:t>hasMultipath </a:t>
            </a:r>
            <a:r>
              <a:rPr lang="en-US" altLang="en-US" sz="1600" dirty="0" smtClean="0"/>
              <a:t>.</a:t>
            </a:r>
            <a:endParaRPr lang="en-US" altLang="en-US" sz="1600" dirty="0"/>
          </a:p>
          <a:p>
            <a:pPr marL="109728" indent="0">
              <a:buClrTx/>
              <a:buNone/>
            </a:pPr>
            <a:endParaRPr lang="en-US" altLang="en-US" sz="1600" dirty="0"/>
          </a:p>
          <a:p>
            <a:pPr marL="109728" indent="0">
              <a:buClrTx/>
              <a:buNone/>
            </a:pPr>
            <a:endParaRPr lang="en-US" altLang="en-US" sz="1600" dirty="0"/>
          </a:p>
        </p:txBody>
      </p:sp>
      <p:sp>
        <p:nvSpPr>
          <p:cNvPr id="4" name="Rectangle 2"/>
          <p:cNvSpPr>
            <a:spLocks noChangeArrowheads="1"/>
          </p:cNvSpPr>
          <p:nvPr/>
        </p:nvSpPr>
        <p:spPr bwMode="auto">
          <a:xfrm>
            <a:off x="277091" y="3019009"/>
            <a:ext cx="9004146" cy="2317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C04C0B"/>
                </a:solidFill>
                <a:effectLst/>
                <a:latin typeface="Helvetica" panose="020B0604020202020204" pitchFamily="34" charset="0"/>
              </a:rPr>
              <a:t>OFDM Modulation with the Inverse FFT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9900"/>
                </a:solidFill>
                <a:effectLst/>
                <a:latin typeface="Helvetica" panose="020B0604020202020204" pitchFamily="34" charset="0"/>
              </a:rPr>
              <a:t>%This code sets up a 16-QAM link with OFDM modulation.</a:t>
            </a:r>
            <a:endParaRPr kumimoji="0" lang="en-US" altLang="en-US" sz="1800" b="0" i="0" u="none" strike="noStrike" cap="none" normalizeH="0" baseline="0" dirty="0" smtClean="0">
              <a:ln>
                <a:noFill/>
              </a:ln>
              <a:solidFill>
                <a:srgbClr val="0099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numBits = 32768; </a:t>
            </a:r>
            <a:r>
              <a:rPr kumimoji="0" lang="en-US" altLang="en-US" sz="1800" b="0" i="0" u="none" strike="noStrike" cap="none" normalizeH="0" baseline="0" dirty="0" smtClean="0">
                <a:ln>
                  <a:noFill/>
                </a:ln>
                <a:solidFill>
                  <a:srgbClr val="008013"/>
                </a:solidFill>
                <a:effectLst/>
                <a:latin typeface="Arial" panose="020B0604020202020204" pitchFamily="34" charset="0"/>
              </a:rPr>
              <a:t>% power of 2, to optimize performance of </a:t>
            </a:r>
            <a:r>
              <a:rPr kumimoji="0" lang="en-US" altLang="en-US" sz="1800" b="0" i="0" u="none" strike="noStrike" cap="none" normalizeH="0" baseline="0" dirty="0" err="1" smtClean="0">
                <a:ln>
                  <a:noFill/>
                </a:ln>
                <a:solidFill>
                  <a:srgbClr val="008013"/>
                </a:solidFill>
                <a:effectLst/>
                <a:latin typeface="Arial" panose="020B0604020202020204" pitchFamily="34" charset="0"/>
              </a:rPr>
              <a:t>fft</a:t>
            </a:r>
            <a:r>
              <a:rPr kumimoji="0" lang="en-US" altLang="en-US" sz="1800" b="0" i="0" u="none" strike="noStrike" cap="none" normalizeH="0" baseline="0" dirty="0" smtClean="0">
                <a:ln>
                  <a:noFill/>
                </a:ln>
                <a:solidFill>
                  <a:srgbClr val="008013"/>
                </a:solidFill>
                <a:effectLst/>
                <a:latin typeface="Arial" panose="020B0604020202020204" pitchFamily="34" charset="0"/>
              </a:rPr>
              <a:t>/</a:t>
            </a:r>
            <a:r>
              <a:rPr kumimoji="0" lang="en-US" altLang="en-US" sz="1800" b="0" i="0" u="none" strike="noStrike" cap="none" normalizeH="0" baseline="0" dirty="0" err="1" smtClean="0">
                <a:ln>
                  <a:noFill/>
                </a:ln>
                <a:solidFill>
                  <a:srgbClr val="008013"/>
                </a:solidFill>
                <a:effectLst/>
                <a:latin typeface="Arial" panose="020B0604020202020204" pitchFamily="34" charset="0"/>
              </a:rPr>
              <a:t>ifft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 = 16; </a:t>
            </a:r>
            <a:r>
              <a:rPr kumimoji="0" lang="en-US" altLang="en-US" sz="1800" b="0" i="0" u="none" strike="noStrike" cap="none" normalizeH="0" baseline="0" dirty="0" smtClean="0">
                <a:ln>
                  <a:noFill/>
                </a:ln>
                <a:solidFill>
                  <a:srgbClr val="008013"/>
                </a:solidFill>
                <a:effectLst/>
                <a:latin typeface="Arial" panose="020B0604020202020204" pitchFamily="34" charset="0"/>
              </a:rPr>
              <a:t>% for 16-QAM</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randi</a:t>
            </a:r>
            <a:r>
              <a:rPr kumimoji="0" lang="en-US" altLang="en-US" sz="1800" b="0" i="0" u="none" strike="noStrike" cap="none" normalizeH="0" baseline="0" dirty="0" smtClean="0">
                <a:ln>
                  <a:noFill/>
                </a:ln>
                <a:solidFill>
                  <a:schemeClr val="tx1"/>
                </a:solidFill>
                <a:effectLst/>
                <a:latin typeface="Arial" panose="020B0604020202020204" pitchFamily="34" charset="0"/>
              </a:rPr>
              <a:t>([0,1],numBits,1);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qammod</a:t>
            </a:r>
            <a:r>
              <a:rPr kumimoji="0" lang="en-US" altLang="en-US" sz="1800" b="0" i="0" u="none" strike="noStrike" cap="none" normalizeH="0" baseline="0" dirty="0" smtClean="0">
                <a:ln>
                  <a:noFill/>
                </a:ln>
                <a:solidFill>
                  <a:schemeClr val="tx1"/>
                </a:solidFill>
                <a:effectLst/>
                <a:latin typeface="Arial" panose="020B0604020202020204" pitchFamily="34" charset="0"/>
              </a:rPr>
              <a:t>(srcBits,</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InputType</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ofdmModOut = </a:t>
            </a:r>
            <a:r>
              <a:rPr kumimoji="0" lang="en-US" altLang="en-US" sz="1800" b="0" i="0" u="none" strike="noStrike" cap="none" normalizeH="0" baseline="0" dirty="0" err="1" smtClean="0">
                <a:ln>
                  <a:noFill/>
                </a:ln>
                <a:solidFill>
                  <a:schemeClr val="tx1"/>
                </a:solidFill>
                <a:effectLst/>
                <a:latin typeface="Arial" panose="020B0604020202020204" pitchFamily="34" charset="0"/>
              </a:rPr>
              <a:t>ifft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4271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Rectangle 1"/>
          <p:cNvSpPr>
            <a:spLocks noChangeArrowheads="1"/>
          </p:cNvSpPr>
          <p:nvPr/>
        </p:nvSpPr>
        <p:spPr bwMode="auto">
          <a:xfrm>
            <a:off x="205450" y="3893824"/>
            <a:ext cx="10671269" cy="2009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Demodulate the received signal and calculate the BER.</a:t>
            </a:r>
            <a:endParaRPr kumimoji="0" lang="en-US" altLang="en-US" sz="1800" b="1"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ofdmDmodOut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fft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0" eaLnBrk="0" fontAlgn="base" hangingPunct="0">
              <a:spcBef>
                <a:spcPct val="0"/>
              </a:spcBef>
              <a:spcAft>
                <a:spcPct val="0"/>
              </a:spcAft>
            </a:pPr>
            <a:r>
              <a:rPr lang="en-US" altLang="en-US" dirty="0" err="1">
                <a:latin typeface="Arial" panose="020B0604020202020204" pitchFamily="34" charset="0"/>
              </a:rPr>
              <a:t>scattereplot</a:t>
            </a:r>
            <a:r>
              <a:rPr lang="en-US" altLang="en-US" dirty="0">
                <a:latin typeface="Arial" panose="020B0604020202020204" pitchFamily="34" charset="0"/>
              </a:rPr>
              <a:t>(</a:t>
            </a:r>
            <a:r>
              <a:rPr lang="en-US" altLang="en-US" dirty="0" err="1">
                <a:latin typeface="Arial" panose="020B0604020202020204" pitchFamily="34" charset="0"/>
              </a:rPr>
              <a:t>ofdmDemodOut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rgbClr val="A709F5"/>
                </a:solidFill>
                <a:effectLst/>
                <a:latin typeface="Arial" panose="020B0604020202020204" pitchFamily="34" charset="0"/>
              </a:rPr>
              <a:t>"OFDM Demodulator Output"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(ofdmDemodOut,modOrder,</a:t>
            </a:r>
            <a:r>
              <a:rPr kumimoji="0" lang="en-US" altLang="en-US" sz="1800" b="0" i="0" u="none" strike="noStrike" cap="none" normalizeH="0" baseline="0" dirty="0"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numBitErrors/</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349192" y="1010325"/>
            <a:ext cx="9779058" cy="1569660"/>
          </a:xfrm>
          <a:prstGeom prst="rect">
            <a:avLst/>
          </a:prstGeom>
        </p:spPr>
        <p:txBody>
          <a:bodyPr wrap="square">
            <a:spAutoFit/>
          </a:bodyPr>
          <a:lstStyle/>
          <a:p>
            <a:r>
              <a:rPr lang="en-US" sz="1600" b="1" dirty="0">
                <a:solidFill>
                  <a:srgbClr val="FF0000"/>
                </a:solidFill>
                <a:latin typeface="Arial" panose="020B0604020202020204" pitchFamily="34" charset="0"/>
                <a:cs typeface="Arial" panose="020B0604020202020204" pitchFamily="34" charset="0"/>
              </a:rPr>
              <a:t>hasMultipath </a:t>
            </a:r>
            <a:r>
              <a:rPr lang="en-US" sz="1600" b="1" dirty="0" smtClean="0">
                <a:solidFill>
                  <a:srgbClr val="FF0000"/>
                </a:solidFill>
                <a:latin typeface="Arial" panose="020B0604020202020204" pitchFamily="34" charset="0"/>
                <a:cs typeface="Arial" panose="020B0604020202020204" pitchFamily="34" charset="0"/>
              </a:rPr>
              <a:t>=0</a:t>
            </a:r>
            <a:r>
              <a:rPr lang="en-US" sz="1600" b="1" dirty="0" smtClean="0">
                <a:solidFill>
                  <a:srgbClr val="212121"/>
                </a:solidFill>
                <a:latin typeface="Arial" panose="020B0604020202020204" pitchFamily="34" charset="0"/>
                <a:cs typeface="Arial" panose="020B0604020202020204" pitchFamily="34" charset="0"/>
              </a:rPr>
              <a:t>;  </a:t>
            </a:r>
            <a:r>
              <a:rPr lang="en-US" sz="1600" b="1" dirty="0" smtClean="0">
                <a:solidFill>
                  <a:srgbClr val="009900"/>
                </a:solidFill>
                <a:latin typeface="Arial" panose="020B0604020202020204" pitchFamily="34" charset="0"/>
                <a:cs typeface="Arial" panose="020B0604020202020204" pitchFamily="34" charset="0"/>
              </a:rPr>
              <a:t>% </a:t>
            </a:r>
            <a:r>
              <a:rPr lang="en-US" sz="1600" dirty="0" smtClean="0">
                <a:solidFill>
                  <a:srgbClr val="009900"/>
                </a:solidFill>
              </a:rPr>
              <a:t>disabling</a:t>
            </a:r>
            <a:r>
              <a:rPr lang="en-US" altLang="en-US" sz="1600" dirty="0" smtClean="0">
                <a:solidFill>
                  <a:srgbClr val="009900"/>
                </a:solidFill>
              </a:rPr>
              <a:t> multipath channel effects</a:t>
            </a:r>
            <a:endParaRPr lang="en-US" sz="1600" b="1" dirty="0">
              <a:solidFill>
                <a:srgbClr val="009900"/>
              </a:solidFill>
              <a:latin typeface="Arial" panose="020B0604020202020204" pitchFamily="34" charset="0"/>
              <a:cs typeface="Arial" panose="020B0604020202020204" pitchFamily="34" charset="0"/>
            </a:endParaRPr>
          </a:p>
          <a:p>
            <a:r>
              <a:rPr lang="en-US" sz="1600" b="1" dirty="0">
                <a:solidFill>
                  <a:srgbClr val="FF0000"/>
                </a:solidFill>
                <a:latin typeface="Arial" panose="020B0604020202020204" pitchFamily="34" charset="0"/>
                <a:cs typeface="Arial" panose="020B0604020202020204" pitchFamily="34" charset="0"/>
              </a:rPr>
              <a:t>hasAWGN = </a:t>
            </a:r>
            <a:r>
              <a:rPr lang="en-US" sz="1600" b="1" dirty="0" smtClean="0">
                <a:solidFill>
                  <a:srgbClr val="FF0000"/>
                </a:solidFill>
                <a:latin typeface="Arial" panose="020B0604020202020204" pitchFamily="34" charset="0"/>
                <a:cs typeface="Arial" panose="020B0604020202020204" pitchFamily="34" charset="0"/>
              </a:rPr>
              <a:t>0;</a:t>
            </a:r>
            <a:r>
              <a:rPr lang="en-US" sz="1600" b="1" dirty="0" smtClean="0">
                <a:solidFill>
                  <a:srgbClr val="212121"/>
                </a:solidFill>
                <a:latin typeface="Arial" panose="020B0604020202020204" pitchFamily="34" charset="0"/>
                <a:cs typeface="Arial" panose="020B0604020202020204" pitchFamily="34" charset="0"/>
              </a:rPr>
              <a:t>      </a:t>
            </a:r>
            <a:r>
              <a:rPr lang="en-US" sz="1600" b="1" dirty="0">
                <a:solidFill>
                  <a:srgbClr val="009900"/>
                </a:solidFill>
                <a:latin typeface="Arial" panose="020B0604020202020204" pitchFamily="34" charset="0"/>
                <a:cs typeface="Arial" panose="020B0604020202020204" pitchFamily="34" charset="0"/>
              </a:rPr>
              <a:t>% </a:t>
            </a:r>
            <a:r>
              <a:rPr lang="en-US" altLang="en-US" sz="1600" dirty="0" smtClean="0">
                <a:solidFill>
                  <a:srgbClr val="009900"/>
                </a:solidFill>
              </a:rPr>
              <a:t>disabling AWGN </a:t>
            </a:r>
            <a:r>
              <a:rPr lang="en-US" altLang="en-US" sz="1600" dirty="0">
                <a:solidFill>
                  <a:srgbClr val="009900"/>
                </a:solidFill>
              </a:rPr>
              <a:t>channel effects</a:t>
            </a:r>
            <a:endParaRPr lang="en-US" sz="1600" b="1" dirty="0">
              <a:solidFill>
                <a:srgbClr val="212121"/>
              </a:solidFill>
              <a:latin typeface="Arial" panose="020B0604020202020204" pitchFamily="34" charset="0"/>
              <a:cs typeface="Arial" panose="020B0604020202020204" pitchFamily="34" charset="0"/>
            </a:endParaRPr>
          </a:p>
          <a:p>
            <a:endParaRPr lang="en-US" sz="1600" dirty="0">
              <a:solidFill>
                <a:srgbClr val="212121"/>
              </a:solidFill>
              <a:latin typeface="Arial" panose="020B0604020202020204" pitchFamily="34" charset="0"/>
              <a:cs typeface="Arial" panose="020B0604020202020204" pitchFamily="34" charset="0"/>
            </a:endParaRPr>
          </a:p>
          <a:p>
            <a:r>
              <a:rPr lang="en-US" sz="1600" b="1" dirty="0">
                <a:solidFill>
                  <a:srgbClr val="212121"/>
                </a:solidFill>
                <a:latin typeface="Arial" panose="020B0604020202020204" pitchFamily="34" charset="0"/>
                <a:cs typeface="Arial" panose="020B0604020202020204" pitchFamily="34" charset="0"/>
              </a:rPr>
              <a:t>SNR = </a:t>
            </a:r>
            <a:r>
              <a:rPr lang="en-US" sz="1600" b="1" dirty="0" smtClean="0">
                <a:solidFill>
                  <a:srgbClr val="212121"/>
                </a:solidFill>
                <a:latin typeface="Arial" panose="020B0604020202020204" pitchFamily="34" charset="0"/>
                <a:cs typeface="Arial" panose="020B0604020202020204" pitchFamily="34" charset="0"/>
              </a:rPr>
              <a:t>17; </a:t>
            </a:r>
            <a:r>
              <a:rPr lang="en-US" sz="1600" dirty="0">
                <a:solidFill>
                  <a:srgbClr val="212121"/>
                </a:solidFill>
                <a:latin typeface="Arial" panose="020B0604020202020204" pitchFamily="34" charset="0"/>
                <a:cs typeface="Arial" panose="020B0604020202020204" pitchFamily="34" charset="0"/>
              </a:rPr>
              <a:t/>
            </a:r>
            <a:br>
              <a:rPr lang="en-US" sz="1600" dirty="0">
                <a:solidFill>
                  <a:srgbClr val="212121"/>
                </a:solidFill>
                <a:latin typeface="Arial" panose="020B0604020202020204" pitchFamily="34" charset="0"/>
                <a:cs typeface="Arial" panose="020B0604020202020204" pitchFamily="34" charset="0"/>
              </a:rPr>
            </a:br>
            <a:endParaRPr lang="en-US" sz="1600" dirty="0">
              <a:solidFill>
                <a:srgbClr val="212121"/>
              </a:solidFill>
              <a:latin typeface="Arial" panose="020B0604020202020204" pitchFamily="34" charset="0"/>
              <a:cs typeface="Arial" panose="020B0604020202020204" pitchFamily="34" charset="0"/>
            </a:endParaRPr>
          </a:p>
          <a:p>
            <a:r>
              <a:rPr lang="en-US" sz="1600" dirty="0" err="1" smtClean="0">
                <a:solidFill>
                  <a:srgbClr val="212121"/>
                </a:solidFill>
                <a:latin typeface="Arial" panose="020B0604020202020204" pitchFamily="34" charset="0"/>
                <a:cs typeface="Arial" panose="020B0604020202020204" pitchFamily="34" charset="0"/>
              </a:rPr>
              <a:t>chanOut</a:t>
            </a:r>
            <a:r>
              <a:rPr lang="en-US" sz="1600" dirty="0">
                <a:solidFill>
                  <a:srgbClr val="212121"/>
                </a:solidFill>
                <a:latin typeface="Arial" panose="020B0604020202020204" pitchFamily="34" charset="0"/>
                <a:cs typeface="Arial" panose="020B0604020202020204" pitchFamily="34" charset="0"/>
              </a:rPr>
              <a:t> </a:t>
            </a:r>
            <a:r>
              <a:rPr lang="en-US" sz="1600" dirty="0" smtClean="0">
                <a:solidFill>
                  <a:srgbClr val="212121"/>
                </a:solidFill>
                <a:latin typeface="Arial" panose="020B0604020202020204" pitchFamily="34" charset="0"/>
                <a:cs typeface="Arial" panose="020B0604020202020204" pitchFamily="34" charset="0"/>
              </a:rPr>
              <a:t>= channel(</a:t>
            </a:r>
            <a:r>
              <a:rPr lang="en-US" sz="1600" dirty="0" err="1" smtClean="0">
                <a:solidFill>
                  <a:srgbClr val="212121"/>
                </a:solidFill>
                <a:latin typeface="Arial" panose="020B0604020202020204" pitchFamily="34" charset="0"/>
                <a:cs typeface="Arial" panose="020B0604020202020204" pitchFamily="34" charset="0"/>
              </a:rPr>
              <a:t>ofdmModOut,hasMultipath,hasAWGN,SNR</a:t>
            </a:r>
            <a:r>
              <a:rPr lang="en-US" sz="1600" dirty="0">
                <a:solidFill>
                  <a:srgbClr val="212121"/>
                </a:solidFill>
                <a:latin typeface="Arial" panose="020B0604020202020204" pitchFamily="34" charset="0"/>
                <a:cs typeface="Arial" panose="020B0604020202020204" pitchFamily="34" charset="0"/>
              </a:rPr>
              <a:t>);</a:t>
            </a:r>
            <a:endParaRPr lang="en-US" sz="1600" i="0" dirty="0">
              <a:solidFill>
                <a:srgbClr val="212121"/>
              </a:solidFill>
              <a:effectLst/>
              <a:latin typeface="Arial" panose="020B0604020202020204" pitchFamily="34" charset="0"/>
              <a:cs typeface="Arial" panose="020B0604020202020204" pitchFamily="34" charset="0"/>
            </a:endParaRPr>
          </a:p>
        </p:txBody>
      </p:sp>
      <p:cxnSp>
        <p:nvCxnSpPr>
          <p:cNvPr id="7" name="Straight Arrow Connector 6"/>
          <p:cNvCxnSpPr/>
          <p:nvPr/>
        </p:nvCxnSpPr>
        <p:spPr>
          <a:xfrm flipH="1">
            <a:off x="6068289" y="1166526"/>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899" y="559746"/>
            <a:ext cx="4040477" cy="4040477"/>
          </a:xfrm>
          <a:prstGeom prst="rect">
            <a:avLst/>
          </a:prstGeom>
        </p:spPr>
      </p:pic>
      <p:cxnSp>
        <p:nvCxnSpPr>
          <p:cNvPr id="15" name="Straight Arrow Connector 14"/>
          <p:cNvCxnSpPr/>
          <p:nvPr/>
        </p:nvCxnSpPr>
        <p:spPr>
          <a:xfrm flipH="1">
            <a:off x="5823526" y="1503653"/>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3928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Rectangle 1"/>
          <p:cNvSpPr>
            <a:spLocks noChangeArrowheads="1"/>
          </p:cNvSpPr>
          <p:nvPr/>
        </p:nvSpPr>
        <p:spPr bwMode="auto">
          <a:xfrm>
            <a:off x="205450" y="3893824"/>
            <a:ext cx="10671269" cy="2009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Demodulate the received signal and calculate the BER.</a:t>
            </a:r>
            <a:endParaRPr kumimoji="0" lang="en-US" altLang="en-US" sz="1800" b="1"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ofdmDmodOut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fft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0" eaLnBrk="0" fontAlgn="base" hangingPunct="0">
              <a:spcBef>
                <a:spcPct val="0"/>
              </a:spcBef>
              <a:spcAft>
                <a:spcPct val="0"/>
              </a:spcAft>
            </a:pPr>
            <a:r>
              <a:rPr lang="en-US" altLang="en-US" dirty="0" err="1">
                <a:latin typeface="Arial" panose="020B0604020202020204" pitchFamily="34" charset="0"/>
              </a:rPr>
              <a:t>scattereplot</a:t>
            </a:r>
            <a:r>
              <a:rPr lang="en-US" altLang="en-US" dirty="0">
                <a:latin typeface="Arial" panose="020B0604020202020204" pitchFamily="34" charset="0"/>
              </a:rPr>
              <a:t>(</a:t>
            </a:r>
            <a:r>
              <a:rPr lang="en-US" altLang="en-US" dirty="0" err="1">
                <a:latin typeface="Arial" panose="020B0604020202020204" pitchFamily="34" charset="0"/>
              </a:rPr>
              <a:t>ofdmDemodOut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rgbClr val="A709F5"/>
                </a:solidFill>
                <a:effectLst/>
                <a:latin typeface="Arial" panose="020B0604020202020204" pitchFamily="34" charset="0"/>
              </a:rPr>
              <a:t>"OFDM Demodulator Output"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(ofdmDemodOut,modOrder,</a:t>
            </a:r>
            <a:r>
              <a:rPr kumimoji="0" lang="en-US" altLang="en-US" sz="1800" b="0" i="0" u="none" strike="noStrike" cap="none" normalizeH="0" baseline="0" dirty="0"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numBitErrors/</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349192" y="1010325"/>
            <a:ext cx="9779058" cy="1569660"/>
          </a:xfrm>
          <a:prstGeom prst="rect">
            <a:avLst/>
          </a:prstGeom>
        </p:spPr>
        <p:txBody>
          <a:bodyPr wrap="square">
            <a:spAutoFit/>
          </a:bodyPr>
          <a:lstStyle/>
          <a:p>
            <a:r>
              <a:rPr lang="en-US" sz="1600" b="1" dirty="0">
                <a:solidFill>
                  <a:srgbClr val="FF0000"/>
                </a:solidFill>
                <a:latin typeface="Arial" panose="020B0604020202020204" pitchFamily="34" charset="0"/>
                <a:cs typeface="Arial" panose="020B0604020202020204" pitchFamily="34" charset="0"/>
              </a:rPr>
              <a:t>hasMultipath </a:t>
            </a:r>
            <a:r>
              <a:rPr lang="en-US" sz="1600" b="1" dirty="0" smtClean="0">
                <a:solidFill>
                  <a:srgbClr val="FF0000"/>
                </a:solidFill>
                <a:latin typeface="Arial" panose="020B0604020202020204" pitchFamily="34" charset="0"/>
                <a:cs typeface="Arial" panose="020B0604020202020204" pitchFamily="34" charset="0"/>
              </a:rPr>
              <a:t>=0</a:t>
            </a:r>
            <a:r>
              <a:rPr lang="en-US" sz="1600" b="1" dirty="0" smtClean="0">
                <a:solidFill>
                  <a:srgbClr val="212121"/>
                </a:solidFill>
                <a:latin typeface="Arial" panose="020B0604020202020204" pitchFamily="34" charset="0"/>
                <a:cs typeface="Arial" panose="020B0604020202020204" pitchFamily="34" charset="0"/>
              </a:rPr>
              <a:t>;  </a:t>
            </a:r>
            <a:r>
              <a:rPr lang="en-US" sz="1600" b="1" dirty="0" smtClean="0">
                <a:solidFill>
                  <a:srgbClr val="009900"/>
                </a:solidFill>
                <a:latin typeface="Arial" panose="020B0604020202020204" pitchFamily="34" charset="0"/>
                <a:cs typeface="Arial" panose="020B0604020202020204" pitchFamily="34" charset="0"/>
              </a:rPr>
              <a:t>% </a:t>
            </a:r>
            <a:r>
              <a:rPr lang="en-US" sz="1600" dirty="0" smtClean="0">
                <a:solidFill>
                  <a:srgbClr val="009900"/>
                </a:solidFill>
              </a:rPr>
              <a:t>disabling</a:t>
            </a:r>
            <a:r>
              <a:rPr lang="en-US" altLang="en-US" sz="1600" dirty="0" smtClean="0">
                <a:solidFill>
                  <a:srgbClr val="009900"/>
                </a:solidFill>
              </a:rPr>
              <a:t> multipath channel effects</a:t>
            </a:r>
            <a:endParaRPr lang="en-US" sz="1600" b="1" dirty="0">
              <a:solidFill>
                <a:srgbClr val="009900"/>
              </a:solidFill>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hasAWGN = 1</a:t>
            </a:r>
            <a:r>
              <a:rPr lang="en-US" sz="1600" b="1" dirty="0" smtClean="0">
                <a:latin typeface="Arial" panose="020B0604020202020204" pitchFamily="34" charset="0"/>
                <a:cs typeface="Arial" panose="020B0604020202020204" pitchFamily="34" charset="0"/>
              </a:rPr>
              <a:t>; </a:t>
            </a:r>
            <a:r>
              <a:rPr lang="en-US" sz="1600" b="1" dirty="0" smtClean="0">
                <a:solidFill>
                  <a:srgbClr val="212121"/>
                </a:solidFill>
                <a:latin typeface="Arial" panose="020B0604020202020204" pitchFamily="34" charset="0"/>
                <a:cs typeface="Arial" panose="020B0604020202020204" pitchFamily="34" charset="0"/>
              </a:rPr>
              <a:t>     </a:t>
            </a:r>
            <a:r>
              <a:rPr lang="en-US" sz="1600" b="1" dirty="0">
                <a:solidFill>
                  <a:srgbClr val="009900"/>
                </a:solidFill>
                <a:latin typeface="Arial" panose="020B0604020202020204" pitchFamily="34" charset="0"/>
                <a:cs typeface="Arial" panose="020B0604020202020204" pitchFamily="34" charset="0"/>
              </a:rPr>
              <a:t>% </a:t>
            </a:r>
            <a:r>
              <a:rPr lang="en-US" altLang="en-US" sz="1600" dirty="0">
                <a:solidFill>
                  <a:srgbClr val="009900"/>
                </a:solidFill>
              </a:rPr>
              <a:t>enabling </a:t>
            </a:r>
            <a:r>
              <a:rPr lang="en-US" altLang="en-US" sz="1600" dirty="0" smtClean="0">
                <a:solidFill>
                  <a:srgbClr val="009900"/>
                </a:solidFill>
              </a:rPr>
              <a:t>AWGN </a:t>
            </a:r>
            <a:r>
              <a:rPr lang="en-US" altLang="en-US" sz="1600" dirty="0">
                <a:solidFill>
                  <a:srgbClr val="009900"/>
                </a:solidFill>
              </a:rPr>
              <a:t>channel effects</a:t>
            </a:r>
            <a:endParaRPr lang="en-US" sz="1600" b="1" dirty="0">
              <a:solidFill>
                <a:srgbClr val="212121"/>
              </a:solidFill>
              <a:latin typeface="Arial" panose="020B0604020202020204" pitchFamily="34" charset="0"/>
              <a:cs typeface="Arial" panose="020B0604020202020204" pitchFamily="34" charset="0"/>
            </a:endParaRPr>
          </a:p>
          <a:p>
            <a:endParaRPr lang="en-US" sz="1600" dirty="0">
              <a:solidFill>
                <a:srgbClr val="212121"/>
              </a:solidFill>
              <a:latin typeface="Arial" panose="020B0604020202020204" pitchFamily="34" charset="0"/>
              <a:cs typeface="Arial" panose="020B0604020202020204" pitchFamily="34" charset="0"/>
            </a:endParaRPr>
          </a:p>
          <a:p>
            <a:r>
              <a:rPr lang="en-US" sz="1600" b="1" dirty="0">
                <a:solidFill>
                  <a:srgbClr val="212121"/>
                </a:solidFill>
                <a:latin typeface="Arial" panose="020B0604020202020204" pitchFamily="34" charset="0"/>
                <a:cs typeface="Arial" panose="020B0604020202020204" pitchFamily="34" charset="0"/>
              </a:rPr>
              <a:t>SNR = </a:t>
            </a:r>
            <a:r>
              <a:rPr lang="en-US" sz="1600" b="1" dirty="0" smtClean="0">
                <a:solidFill>
                  <a:srgbClr val="212121"/>
                </a:solidFill>
                <a:latin typeface="Arial" panose="020B0604020202020204" pitchFamily="34" charset="0"/>
                <a:cs typeface="Arial" panose="020B0604020202020204" pitchFamily="34" charset="0"/>
              </a:rPr>
              <a:t>17; </a:t>
            </a:r>
            <a:r>
              <a:rPr lang="en-US" sz="1600" dirty="0">
                <a:solidFill>
                  <a:srgbClr val="212121"/>
                </a:solidFill>
                <a:latin typeface="Arial" panose="020B0604020202020204" pitchFamily="34" charset="0"/>
                <a:cs typeface="Arial" panose="020B0604020202020204" pitchFamily="34" charset="0"/>
              </a:rPr>
              <a:t/>
            </a:r>
            <a:br>
              <a:rPr lang="en-US" sz="1600" dirty="0">
                <a:solidFill>
                  <a:srgbClr val="212121"/>
                </a:solidFill>
                <a:latin typeface="Arial" panose="020B0604020202020204" pitchFamily="34" charset="0"/>
                <a:cs typeface="Arial" panose="020B0604020202020204" pitchFamily="34" charset="0"/>
              </a:rPr>
            </a:br>
            <a:endParaRPr lang="en-US" sz="1600" dirty="0">
              <a:solidFill>
                <a:srgbClr val="212121"/>
              </a:solidFill>
              <a:latin typeface="Arial" panose="020B0604020202020204" pitchFamily="34" charset="0"/>
              <a:cs typeface="Arial" panose="020B0604020202020204" pitchFamily="34" charset="0"/>
            </a:endParaRPr>
          </a:p>
          <a:p>
            <a:r>
              <a:rPr lang="en-US" sz="1600" dirty="0" err="1" smtClean="0">
                <a:solidFill>
                  <a:srgbClr val="212121"/>
                </a:solidFill>
                <a:latin typeface="Arial" panose="020B0604020202020204" pitchFamily="34" charset="0"/>
                <a:cs typeface="Arial" panose="020B0604020202020204" pitchFamily="34" charset="0"/>
              </a:rPr>
              <a:t>chanOut</a:t>
            </a:r>
            <a:r>
              <a:rPr lang="en-US" sz="1600" dirty="0">
                <a:solidFill>
                  <a:srgbClr val="212121"/>
                </a:solidFill>
                <a:latin typeface="Arial" panose="020B0604020202020204" pitchFamily="34" charset="0"/>
                <a:cs typeface="Arial" panose="020B0604020202020204" pitchFamily="34" charset="0"/>
              </a:rPr>
              <a:t> </a:t>
            </a:r>
            <a:r>
              <a:rPr lang="en-US" sz="1600" dirty="0" smtClean="0">
                <a:solidFill>
                  <a:srgbClr val="212121"/>
                </a:solidFill>
                <a:latin typeface="Arial" panose="020B0604020202020204" pitchFamily="34" charset="0"/>
                <a:cs typeface="Arial" panose="020B0604020202020204" pitchFamily="34" charset="0"/>
              </a:rPr>
              <a:t>= channel(</a:t>
            </a:r>
            <a:r>
              <a:rPr lang="en-US" sz="1600" dirty="0" err="1" smtClean="0">
                <a:solidFill>
                  <a:srgbClr val="212121"/>
                </a:solidFill>
                <a:latin typeface="Arial" panose="020B0604020202020204" pitchFamily="34" charset="0"/>
                <a:cs typeface="Arial" panose="020B0604020202020204" pitchFamily="34" charset="0"/>
              </a:rPr>
              <a:t>ofdmModOut,hasMultipath,hasAWGN,SNR</a:t>
            </a:r>
            <a:r>
              <a:rPr lang="en-US" sz="1600" dirty="0">
                <a:solidFill>
                  <a:srgbClr val="212121"/>
                </a:solidFill>
                <a:latin typeface="Arial" panose="020B0604020202020204" pitchFamily="34" charset="0"/>
                <a:cs typeface="Arial" panose="020B0604020202020204" pitchFamily="34" charset="0"/>
              </a:rPr>
              <a:t>);</a:t>
            </a:r>
            <a:endParaRPr lang="en-US" sz="1600" i="0" dirty="0">
              <a:solidFill>
                <a:srgbClr val="212121"/>
              </a:solidFill>
              <a:effectLst/>
              <a:latin typeface="Arial" panose="020B0604020202020204" pitchFamily="34" charset="0"/>
              <a:cs typeface="Arial" panose="020B0604020202020204" pitchFamily="34" charset="0"/>
            </a:endParaRPr>
          </a:p>
        </p:txBody>
      </p:sp>
      <p:cxnSp>
        <p:nvCxnSpPr>
          <p:cNvPr id="7" name="Straight Arrow Connector 6"/>
          <p:cNvCxnSpPr/>
          <p:nvPr/>
        </p:nvCxnSpPr>
        <p:spPr>
          <a:xfrm flipH="1">
            <a:off x="5800434" y="1443617"/>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8473" y="336293"/>
            <a:ext cx="3871825" cy="3871825"/>
          </a:xfrm>
          <a:prstGeom prst="rect">
            <a:avLst/>
          </a:prstGeom>
        </p:spPr>
      </p:pic>
      <p:cxnSp>
        <p:nvCxnSpPr>
          <p:cNvPr id="8" name="Straight Arrow Connector 7"/>
          <p:cNvCxnSpPr/>
          <p:nvPr/>
        </p:nvCxnSpPr>
        <p:spPr>
          <a:xfrm flipH="1">
            <a:off x="6068289" y="1166526"/>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53042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Rectangle 1"/>
          <p:cNvSpPr>
            <a:spLocks noChangeArrowheads="1"/>
          </p:cNvSpPr>
          <p:nvPr/>
        </p:nvSpPr>
        <p:spPr bwMode="auto">
          <a:xfrm>
            <a:off x="205450" y="3893824"/>
            <a:ext cx="10671269" cy="2009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Demodulate the received signal and calculate the BER.</a:t>
            </a:r>
            <a:endParaRPr kumimoji="0" lang="en-US" altLang="en-US" sz="1800" b="1"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ofdmDmodOut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fft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0" eaLnBrk="0" fontAlgn="base" hangingPunct="0">
              <a:spcBef>
                <a:spcPct val="0"/>
              </a:spcBef>
              <a:spcAft>
                <a:spcPct val="0"/>
              </a:spcAft>
            </a:pPr>
            <a:r>
              <a:rPr lang="en-US" altLang="en-US" dirty="0" err="1">
                <a:latin typeface="Arial" panose="020B0604020202020204" pitchFamily="34" charset="0"/>
              </a:rPr>
              <a:t>scattereplot</a:t>
            </a:r>
            <a:r>
              <a:rPr lang="en-US" altLang="en-US" dirty="0">
                <a:latin typeface="Arial" panose="020B0604020202020204" pitchFamily="34" charset="0"/>
              </a:rPr>
              <a:t>(</a:t>
            </a:r>
            <a:r>
              <a:rPr lang="en-US" altLang="en-US" dirty="0" err="1">
                <a:latin typeface="Arial" panose="020B0604020202020204" pitchFamily="34" charset="0"/>
              </a:rPr>
              <a:t>ofdmDemodOut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rgbClr val="A709F5"/>
                </a:solidFill>
                <a:effectLst/>
                <a:latin typeface="Arial" panose="020B0604020202020204" pitchFamily="34" charset="0"/>
              </a:rPr>
              <a:t>"OFDM Demodulator Output"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(ofdmDemodOut,modOrder,</a:t>
            </a:r>
            <a:r>
              <a:rPr kumimoji="0" lang="en-US" altLang="en-US" sz="1800" b="0" i="0" u="none" strike="noStrike" cap="none" normalizeH="0" baseline="0" dirty="0"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numBitErrors/</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349192" y="1010325"/>
            <a:ext cx="9779058" cy="1569660"/>
          </a:xfrm>
          <a:prstGeom prst="rect">
            <a:avLst/>
          </a:prstGeom>
        </p:spPr>
        <p:txBody>
          <a:bodyPr wrap="square">
            <a:spAutoFit/>
          </a:bodyPr>
          <a:lstStyle/>
          <a:p>
            <a:r>
              <a:rPr lang="en-US" sz="1600" b="1" dirty="0">
                <a:latin typeface="Arial" panose="020B0604020202020204" pitchFamily="34" charset="0"/>
                <a:cs typeface="Arial" panose="020B0604020202020204" pitchFamily="34" charset="0"/>
              </a:rPr>
              <a:t>hasMultipath </a:t>
            </a:r>
            <a:r>
              <a:rPr lang="en-US" sz="1600" b="1" dirty="0" smtClean="0">
                <a:latin typeface="Arial" panose="020B0604020202020204" pitchFamily="34" charset="0"/>
                <a:cs typeface="Arial" panose="020B0604020202020204" pitchFamily="34" charset="0"/>
              </a:rPr>
              <a:t>=1</a:t>
            </a:r>
            <a:r>
              <a:rPr lang="en-US" sz="1600" b="1" dirty="0" smtClean="0">
                <a:solidFill>
                  <a:srgbClr val="212121"/>
                </a:solidFill>
                <a:latin typeface="Arial" panose="020B0604020202020204" pitchFamily="34" charset="0"/>
                <a:cs typeface="Arial" panose="020B0604020202020204" pitchFamily="34" charset="0"/>
              </a:rPr>
              <a:t>;  </a:t>
            </a:r>
            <a:r>
              <a:rPr lang="en-US" sz="1600" b="1" dirty="0" smtClean="0">
                <a:solidFill>
                  <a:srgbClr val="009900"/>
                </a:solidFill>
                <a:latin typeface="Arial" panose="020B0604020202020204" pitchFamily="34" charset="0"/>
                <a:cs typeface="Arial" panose="020B0604020202020204" pitchFamily="34" charset="0"/>
              </a:rPr>
              <a:t>% </a:t>
            </a:r>
            <a:r>
              <a:rPr lang="en-US" sz="1600" dirty="0" smtClean="0">
                <a:solidFill>
                  <a:srgbClr val="009900"/>
                </a:solidFill>
              </a:rPr>
              <a:t>enabling</a:t>
            </a:r>
            <a:r>
              <a:rPr lang="en-US" altLang="en-US" sz="1600" dirty="0" smtClean="0">
                <a:solidFill>
                  <a:srgbClr val="009900"/>
                </a:solidFill>
              </a:rPr>
              <a:t> multipath channel effects</a:t>
            </a:r>
            <a:endParaRPr lang="en-US" sz="1600" b="1" dirty="0">
              <a:solidFill>
                <a:srgbClr val="009900"/>
              </a:solidFill>
              <a:latin typeface="Arial" panose="020B0604020202020204" pitchFamily="34" charset="0"/>
              <a:cs typeface="Arial" panose="020B0604020202020204" pitchFamily="34" charset="0"/>
            </a:endParaRPr>
          </a:p>
          <a:p>
            <a:r>
              <a:rPr lang="en-US" sz="1600" b="1" dirty="0">
                <a:solidFill>
                  <a:srgbClr val="FF0000"/>
                </a:solidFill>
                <a:latin typeface="Arial" panose="020B0604020202020204" pitchFamily="34" charset="0"/>
                <a:cs typeface="Arial" panose="020B0604020202020204" pitchFamily="34" charset="0"/>
              </a:rPr>
              <a:t>hasAWGN = </a:t>
            </a:r>
            <a:r>
              <a:rPr lang="en-US" sz="1600" b="1" dirty="0" smtClean="0">
                <a:solidFill>
                  <a:srgbClr val="FF0000"/>
                </a:solidFill>
                <a:latin typeface="Arial" panose="020B0604020202020204" pitchFamily="34" charset="0"/>
                <a:cs typeface="Arial" panose="020B0604020202020204" pitchFamily="34" charset="0"/>
              </a:rPr>
              <a:t>0;      </a:t>
            </a:r>
            <a:r>
              <a:rPr lang="en-US" sz="1600" b="1" dirty="0">
                <a:solidFill>
                  <a:srgbClr val="009900"/>
                </a:solidFill>
                <a:latin typeface="Arial" panose="020B0604020202020204" pitchFamily="34" charset="0"/>
                <a:cs typeface="Arial" panose="020B0604020202020204" pitchFamily="34" charset="0"/>
              </a:rPr>
              <a:t>% </a:t>
            </a:r>
            <a:r>
              <a:rPr lang="en-US" altLang="en-US" sz="1600" dirty="0" smtClean="0">
                <a:solidFill>
                  <a:srgbClr val="009900"/>
                </a:solidFill>
              </a:rPr>
              <a:t>disabling AWGN </a:t>
            </a:r>
            <a:r>
              <a:rPr lang="en-US" altLang="en-US" sz="1600" dirty="0">
                <a:solidFill>
                  <a:srgbClr val="009900"/>
                </a:solidFill>
              </a:rPr>
              <a:t>channel effects</a:t>
            </a:r>
            <a:endParaRPr lang="en-US" sz="1600" b="1" dirty="0">
              <a:solidFill>
                <a:srgbClr val="212121"/>
              </a:solidFill>
              <a:latin typeface="Arial" panose="020B0604020202020204" pitchFamily="34" charset="0"/>
              <a:cs typeface="Arial" panose="020B0604020202020204" pitchFamily="34" charset="0"/>
            </a:endParaRPr>
          </a:p>
          <a:p>
            <a:endParaRPr lang="en-US" sz="1600" dirty="0">
              <a:solidFill>
                <a:srgbClr val="212121"/>
              </a:solidFill>
              <a:latin typeface="Arial" panose="020B0604020202020204" pitchFamily="34" charset="0"/>
              <a:cs typeface="Arial" panose="020B0604020202020204" pitchFamily="34" charset="0"/>
            </a:endParaRPr>
          </a:p>
          <a:p>
            <a:r>
              <a:rPr lang="en-US" sz="1600" b="1" dirty="0">
                <a:solidFill>
                  <a:srgbClr val="212121"/>
                </a:solidFill>
                <a:latin typeface="Arial" panose="020B0604020202020204" pitchFamily="34" charset="0"/>
                <a:cs typeface="Arial" panose="020B0604020202020204" pitchFamily="34" charset="0"/>
              </a:rPr>
              <a:t>SNR = </a:t>
            </a:r>
            <a:r>
              <a:rPr lang="en-US" sz="1600" b="1" dirty="0" smtClean="0">
                <a:solidFill>
                  <a:srgbClr val="212121"/>
                </a:solidFill>
                <a:latin typeface="Arial" panose="020B0604020202020204" pitchFamily="34" charset="0"/>
                <a:cs typeface="Arial" panose="020B0604020202020204" pitchFamily="34" charset="0"/>
              </a:rPr>
              <a:t>17; </a:t>
            </a:r>
            <a:r>
              <a:rPr lang="en-US" sz="1600" dirty="0">
                <a:solidFill>
                  <a:srgbClr val="212121"/>
                </a:solidFill>
                <a:latin typeface="Arial" panose="020B0604020202020204" pitchFamily="34" charset="0"/>
                <a:cs typeface="Arial" panose="020B0604020202020204" pitchFamily="34" charset="0"/>
              </a:rPr>
              <a:t/>
            </a:r>
            <a:br>
              <a:rPr lang="en-US" sz="1600" dirty="0">
                <a:solidFill>
                  <a:srgbClr val="212121"/>
                </a:solidFill>
                <a:latin typeface="Arial" panose="020B0604020202020204" pitchFamily="34" charset="0"/>
                <a:cs typeface="Arial" panose="020B0604020202020204" pitchFamily="34" charset="0"/>
              </a:rPr>
            </a:br>
            <a:endParaRPr lang="en-US" sz="1600" dirty="0">
              <a:solidFill>
                <a:srgbClr val="212121"/>
              </a:solidFill>
              <a:latin typeface="Arial" panose="020B0604020202020204" pitchFamily="34" charset="0"/>
              <a:cs typeface="Arial" panose="020B0604020202020204" pitchFamily="34" charset="0"/>
            </a:endParaRPr>
          </a:p>
          <a:p>
            <a:r>
              <a:rPr lang="en-US" sz="1600" dirty="0" err="1" smtClean="0">
                <a:solidFill>
                  <a:srgbClr val="212121"/>
                </a:solidFill>
                <a:latin typeface="Arial" panose="020B0604020202020204" pitchFamily="34" charset="0"/>
                <a:cs typeface="Arial" panose="020B0604020202020204" pitchFamily="34" charset="0"/>
              </a:rPr>
              <a:t>chanOut</a:t>
            </a:r>
            <a:r>
              <a:rPr lang="en-US" sz="1600" dirty="0">
                <a:solidFill>
                  <a:srgbClr val="212121"/>
                </a:solidFill>
                <a:latin typeface="Arial" panose="020B0604020202020204" pitchFamily="34" charset="0"/>
                <a:cs typeface="Arial" panose="020B0604020202020204" pitchFamily="34" charset="0"/>
              </a:rPr>
              <a:t> </a:t>
            </a:r>
            <a:r>
              <a:rPr lang="en-US" sz="1600" dirty="0" smtClean="0">
                <a:solidFill>
                  <a:srgbClr val="212121"/>
                </a:solidFill>
                <a:latin typeface="Arial" panose="020B0604020202020204" pitchFamily="34" charset="0"/>
                <a:cs typeface="Arial" panose="020B0604020202020204" pitchFamily="34" charset="0"/>
              </a:rPr>
              <a:t>= channel(</a:t>
            </a:r>
            <a:r>
              <a:rPr lang="en-US" sz="1600" dirty="0" err="1" smtClean="0">
                <a:solidFill>
                  <a:srgbClr val="212121"/>
                </a:solidFill>
                <a:latin typeface="Arial" panose="020B0604020202020204" pitchFamily="34" charset="0"/>
                <a:cs typeface="Arial" panose="020B0604020202020204" pitchFamily="34" charset="0"/>
              </a:rPr>
              <a:t>ofdmModOut,hasMultipath,hasAWGN,SNR</a:t>
            </a:r>
            <a:r>
              <a:rPr lang="en-US" sz="1600" dirty="0">
                <a:solidFill>
                  <a:srgbClr val="212121"/>
                </a:solidFill>
                <a:latin typeface="Arial" panose="020B0604020202020204" pitchFamily="34" charset="0"/>
                <a:cs typeface="Arial" panose="020B0604020202020204" pitchFamily="34" charset="0"/>
              </a:rPr>
              <a:t>);</a:t>
            </a:r>
            <a:endParaRPr lang="en-US" sz="1600" i="0" dirty="0">
              <a:solidFill>
                <a:srgbClr val="212121"/>
              </a:solidFill>
              <a:effectLst/>
              <a:latin typeface="Arial" panose="020B0604020202020204" pitchFamily="34" charset="0"/>
              <a:cs typeface="Arial" panose="020B0604020202020204" pitchFamily="34" charset="0"/>
            </a:endParaRPr>
          </a:p>
        </p:txBody>
      </p:sp>
      <p:cxnSp>
        <p:nvCxnSpPr>
          <p:cNvPr id="11" name="Straight Arrow Connector 10"/>
          <p:cNvCxnSpPr/>
          <p:nvPr/>
        </p:nvCxnSpPr>
        <p:spPr>
          <a:xfrm flipH="1">
            <a:off x="5694217" y="1469451"/>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4106" y="176109"/>
            <a:ext cx="4608512" cy="4608512"/>
          </a:xfrm>
          <a:prstGeom prst="rect">
            <a:avLst/>
          </a:prstGeom>
        </p:spPr>
      </p:pic>
      <p:cxnSp>
        <p:nvCxnSpPr>
          <p:cNvPr id="10" name="Straight Arrow Connector 9"/>
          <p:cNvCxnSpPr/>
          <p:nvPr/>
        </p:nvCxnSpPr>
        <p:spPr>
          <a:xfrm flipH="1">
            <a:off x="5975926" y="1178507"/>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05734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Rectangle 1"/>
          <p:cNvSpPr>
            <a:spLocks noChangeArrowheads="1"/>
          </p:cNvSpPr>
          <p:nvPr/>
        </p:nvSpPr>
        <p:spPr bwMode="auto">
          <a:xfrm>
            <a:off x="205450" y="3893824"/>
            <a:ext cx="10671269" cy="2009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FF0000"/>
                </a:solidFill>
                <a:effectLst/>
                <a:latin typeface="Helvetica" panose="020B0604020202020204" pitchFamily="34" charset="0"/>
              </a:rPr>
              <a:t>Demodulate the received signal and calculate the BER.</a:t>
            </a:r>
            <a:endParaRPr kumimoji="0" lang="en-US" altLang="en-US" sz="1800" b="1"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ofdmDmodOut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fft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0" eaLnBrk="0" fontAlgn="base" hangingPunct="0">
              <a:spcBef>
                <a:spcPct val="0"/>
              </a:spcBef>
              <a:spcAft>
                <a:spcPct val="0"/>
              </a:spcAft>
            </a:pPr>
            <a:r>
              <a:rPr lang="en-US" altLang="en-US" dirty="0" err="1">
                <a:latin typeface="Arial" panose="020B0604020202020204" pitchFamily="34" charset="0"/>
              </a:rPr>
              <a:t>scattereplot</a:t>
            </a:r>
            <a:r>
              <a:rPr lang="en-US" altLang="en-US" dirty="0">
                <a:latin typeface="Arial" panose="020B0604020202020204" pitchFamily="34" charset="0"/>
              </a:rPr>
              <a:t>(</a:t>
            </a:r>
            <a:r>
              <a:rPr lang="en-US" altLang="en-US" dirty="0" err="1">
                <a:latin typeface="Arial" panose="020B0604020202020204" pitchFamily="34" charset="0"/>
              </a:rPr>
              <a:t>ofdmDemodOut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rgbClr val="A709F5"/>
                </a:solidFill>
                <a:effectLst/>
                <a:latin typeface="Arial" panose="020B0604020202020204" pitchFamily="34" charset="0"/>
              </a:rPr>
              <a:t>"OFDM Demodulator Output"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(ofdmDemodOut,modOrder,</a:t>
            </a:r>
            <a:r>
              <a:rPr kumimoji="0" lang="en-US" altLang="en-US" sz="1800" b="0" i="0" u="none" strike="noStrike" cap="none" normalizeH="0" baseline="0" dirty="0"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numBitErrors/</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349192" y="1010325"/>
            <a:ext cx="9779058" cy="1569660"/>
          </a:xfrm>
          <a:prstGeom prst="rect">
            <a:avLst/>
          </a:prstGeom>
        </p:spPr>
        <p:txBody>
          <a:bodyPr wrap="square">
            <a:spAutoFit/>
          </a:bodyPr>
          <a:lstStyle/>
          <a:p>
            <a:r>
              <a:rPr lang="en-US" sz="1600" b="1" dirty="0">
                <a:latin typeface="Arial" panose="020B0604020202020204" pitchFamily="34" charset="0"/>
                <a:cs typeface="Arial" panose="020B0604020202020204" pitchFamily="34" charset="0"/>
              </a:rPr>
              <a:t>hasMultipath </a:t>
            </a:r>
            <a:r>
              <a:rPr lang="en-US" sz="1600" b="1" dirty="0" smtClean="0">
                <a:latin typeface="Arial" panose="020B0604020202020204" pitchFamily="34" charset="0"/>
                <a:cs typeface="Arial" panose="020B0604020202020204" pitchFamily="34" charset="0"/>
              </a:rPr>
              <a:t>=1</a:t>
            </a:r>
            <a:r>
              <a:rPr lang="en-US" sz="1600" b="1" dirty="0" smtClean="0">
                <a:solidFill>
                  <a:srgbClr val="212121"/>
                </a:solidFill>
                <a:latin typeface="Arial" panose="020B0604020202020204" pitchFamily="34" charset="0"/>
                <a:cs typeface="Arial" panose="020B0604020202020204" pitchFamily="34" charset="0"/>
              </a:rPr>
              <a:t>;  </a:t>
            </a:r>
            <a:r>
              <a:rPr lang="en-US" sz="1600" b="1" dirty="0" smtClean="0">
                <a:solidFill>
                  <a:srgbClr val="009900"/>
                </a:solidFill>
                <a:latin typeface="Arial" panose="020B0604020202020204" pitchFamily="34" charset="0"/>
                <a:cs typeface="Arial" panose="020B0604020202020204" pitchFamily="34" charset="0"/>
              </a:rPr>
              <a:t>% </a:t>
            </a:r>
            <a:r>
              <a:rPr lang="en-US" sz="1600" dirty="0" smtClean="0">
                <a:solidFill>
                  <a:srgbClr val="009900"/>
                </a:solidFill>
              </a:rPr>
              <a:t>enabling</a:t>
            </a:r>
            <a:r>
              <a:rPr lang="en-US" altLang="en-US" sz="1600" dirty="0" smtClean="0">
                <a:solidFill>
                  <a:srgbClr val="009900"/>
                </a:solidFill>
              </a:rPr>
              <a:t> multipath channel effects</a:t>
            </a:r>
            <a:endParaRPr lang="en-US" sz="1600" b="1" dirty="0">
              <a:solidFill>
                <a:srgbClr val="009900"/>
              </a:solidFill>
              <a:latin typeface="Arial" panose="020B0604020202020204" pitchFamily="34" charset="0"/>
              <a:cs typeface="Arial" panose="020B0604020202020204" pitchFamily="34" charset="0"/>
            </a:endParaRPr>
          </a:p>
          <a:p>
            <a:r>
              <a:rPr lang="en-US" sz="1600" b="1" dirty="0">
                <a:solidFill>
                  <a:srgbClr val="212121"/>
                </a:solidFill>
                <a:latin typeface="Arial" panose="020B0604020202020204" pitchFamily="34" charset="0"/>
                <a:cs typeface="Arial" panose="020B0604020202020204" pitchFamily="34" charset="0"/>
              </a:rPr>
              <a:t>hasAWGN = 1</a:t>
            </a:r>
            <a:r>
              <a:rPr lang="en-US" sz="1600" b="1" dirty="0" smtClean="0">
                <a:solidFill>
                  <a:srgbClr val="212121"/>
                </a:solidFill>
                <a:latin typeface="Arial" panose="020B0604020202020204" pitchFamily="34" charset="0"/>
                <a:cs typeface="Arial" panose="020B0604020202020204" pitchFamily="34" charset="0"/>
              </a:rPr>
              <a:t>;      </a:t>
            </a:r>
            <a:r>
              <a:rPr lang="en-US" sz="1600" b="1" dirty="0">
                <a:solidFill>
                  <a:srgbClr val="009900"/>
                </a:solidFill>
                <a:latin typeface="Arial" panose="020B0604020202020204" pitchFamily="34" charset="0"/>
                <a:cs typeface="Arial" panose="020B0604020202020204" pitchFamily="34" charset="0"/>
              </a:rPr>
              <a:t>% </a:t>
            </a:r>
            <a:r>
              <a:rPr lang="en-US" altLang="en-US" sz="1600" dirty="0">
                <a:solidFill>
                  <a:srgbClr val="009900"/>
                </a:solidFill>
              </a:rPr>
              <a:t>enabling </a:t>
            </a:r>
            <a:r>
              <a:rPr lang="en-US" altLang="en-US" sz="1600" dirty="0" smtClean="0">
                <a:solidFill>
                  <a:srgbClr val="009900"/>
                </a:solidFill>
              </a:rPr>
              <a:t>AWGN </a:t>
            </a:r>
            <a:r>
              <a:rPr lang="en-US" altLang="en-US" sz="1600" dirty="0">
                <a:solidFill>
                  <a:srgbClr val="009900"/>
                </a:solidFill>
              </a:rPr>
              <a:t>channel effects</a:t>
            </a:r>
            <a:endParaRPr lang="en-US" sz="1600" b="1" dirty="0">
              <a:solidFill>
                <a:srgbClr val="212121"/>
              </a:solidFill>
              <a:latin typeface="Arial" panose="020B0604020202020204" pitchFamily="34" charset="0"/>
              <a:cs typeface="Arial" panose="020B0604020202020204" pitchFamily="34" charset="0"/>
            </a:endParaRPr>
          </a:p>
          <a:p>
            <a:endParaRPr lang="en-US" sz="1600" dirty="0">
              <a:solidFill>
                <a:srgbClr val="212121"/>
              </a:solidFill>
              <a:latin typeface="Arial" panose="020B0604020202020204" pitchFamily="34" charset="0"/>
              <a:cs typeface="Arial" panose="020B0604020202020204" pitchFamily="34" charset="0"/>
            </a:endParaRPr>
          </a:p>
          <a:p>
            <a:r>
              <a:rPr lang="en-US" sz="1600" b="1" dirty="0">
                <a:solidFill>
                  <a:srgbClr val="212121"/>
                </a:solidFill>
                <a:latin typeface="Arial" panose="020B0604020202020204" pitchFamily="34" charset="0"/>
                <a:cs typeface="Arial" panose="020B0604020202020204" pitchFamily="34" charset="0"/>
              </a:rPr>
              <a:t>SNR = </a:t>
            </a:r>
            <a:r>
              <a:rPr lang="en-US" sz="1600" b="1" dirty="0" smtClean="0">
                <a:solidFill>
                  <a:srgbClr val="212121"/>
                </a:solidFill>
                <a:latin typeface="Arial" panose="020B0604020202020204" pitchFamily="34" charset="0"/>
                <a:cs typeface="Arial" panose="020B0604020202020204" pitchFamily="34" charset="0"/>
              </a:rPr>
              <a:t>17; </a:t>
            </a:r>
            <a:r>
              <a:rPr lang="en-US" sz="1600" dirty="0">
                <a:solidFill>
                  <a:srgbClr val="212121"/>
                </a:solidFill>
                <a:latin typeface="Arial" panose="020B0604020202020204" pitchFamily="34" charset="0"/>
                <a:cs typeface="Arial" panose="020B0604020202020204" pitchFamily="34" charset="0"/>
              </a:rPr>
              <a:t/>
            </a:r>
            <a:br>
              <a:rPr lang="en-US" sz="1600" dirty="0">
                <a:solidFill>
                  <a:srgbClr val="212121"/>
                </a:solidFill>
                <a:latin typeface="Arial" panose="020B0604020202020204" pitchFamily="34" charset="0"/>
                <a:cs typeface="Arial" panose="020B0604020202020204" pitchFamily="34" charset="0"/>
              </a:rPr>
            </a:br>
            <a:endParaRPr lang="en-US" sz="1600" dirty="0">
              <a:solidFill>
                <a:srgbClr val="212121"/>
              </a:solidFill>
              <a:latin typeface="Arial" panose="020B0604020202020204" pitchFamily="34" charset="0"/>
              <a:cs typeface="Arial" panose="020B0604020202020204" pitchFamily="34" charset="0"/>
            </a:endParaRPr>
          </a:p>
          <a:p>
            <a:r>
              <a:rPr lang="en-US" sz="1600" dirty="0" err="1" smtClean="0">
                <a:solidFill>
                  <a:srgbClr val="212121"/>
                </a:solidFill>
                <a:latin typeface="Arial" panose="020B0604020202020204" pitchFamily="34" charset="0"/>
                <a:cs typeface="Arial" panose="020B0604020202020204" pitchFamily="34" charset="0"/>
              </a:rPr>
              <a:t>chanOut</a:t>
            </a:r>
            <a:r>
              <a:rPr lang="en-US" sz="1600" dirty="0">
                <a:solidFill>
                  <a:srgbClr val="212121"/>
                </a:solidFill>
                <a:latin typeface="Arial" panose="020B0604020202020204" pitchFamily="34" charset="0"/>
                <a:cs typeface="Arial" panose="020B0604020202020204" pitchFamily="34" charset="0"/>
              </a:rPr>
              <a:t> </a:t>
            </a:r>
            <a:r>
              <a:rPr lang="en-US" sz="1600" dirty="0" smtClean="0">
                <a:solidFill>
                  <a:srgbClr val="212121"/>
                </a:solidFill>
                <a:latin typeface="Arial" panose="020B0604020202020204" pitchFamily="34" charset="0"/>
                <a:cs typeface="Arial" panose="020B0604020202020204" pitchFamily="34" charset="0"/>
              </a:rPr>
              <a:t>= channel(</a:t>
            </a:r>
            <a:r>
              <a:rPr lang="en-US" sz="1600" dirty="0" err="1" smtClean="0">
                <a:solidFill>
                  <a:srgbClr val="212121"/>
                </a:solidFill>
                <a:latin typeface="Arial" panose="020B0604020202020204" pitchFamily="34" charset="0"/>
                <a:cs typeface="Arial" panose="020B0604020202020204" pitchFamily="34" charset="0"/>
              </a:rPr>
              <a:t>ofdmModOut,hasMultipath,hasAWGN,SNR</a:t>
            </a:r>
            <a:r>
              <a:rPr lang="en-US" sz="1600" dirty="0">
                <a:solidFill>
                  <a:srgbClr val="212121"/>
                </a:solidFill>
                <a:latin typeface="Arial" panose="020B0604020202020204" pitchFamily="34" charset="0"/>
                <a:cs typeface="Arial" panose="020B0604020202020204" pitchFamily="34" charset="0"/>
              </a:rPr>
              <a:t>);</a:t>
            </a:r>
            <a:endParaRPr lang="en-US" sz="1600" i="0" dirty="0">
              <a:solidFill>
                <a:srgbClr val="212121"/>
              </a:solidFill>
              <a:effectLst/>
              <a:latin typeface="Arial" panose="020B0604020202020204" pitchFamily="34" charset="0"/>
              <a:cs typeface="Arial" panose="020B0604020202020204" pitchFamily="34" charset="0"/>
            </a:endParaRPr>
          </a:p>
        </p:txBody>
      </p:sp>
      <p:cxnSp>
        <p:nvCxnSpPr>
          <p:cNvPr id="7" name="Straight Arrow Connector 6"/>
          <p:cNvCxnSpPr/>
          <p:nvPr/>
        </p:nvCxnSpPr>
        <p:spPr>
          <a:xfrm flipH="1">
            <a:off x="6068289" y="1166526"/>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8113" y="312710"/>
            <a:ext cx="4335310" cy="4335310"/>
          </a:xfrm>
          <a:prstGeom prst="rect">
            <a:avLst/>
          </a:prstGeom>
        </p:spPr>
      </p:pic>
      <p:cxnSp>
        <p:nvCxnSpPr>
          <p:cNvPr id="10" name="Straight Arrow Connector 9"/>
          <p:cNvCxnSpPr/>
          <p:nvPr/>
        </p:nvCxnSpPr>
        <p:spPr>
          <a:xfrm flipH="1">
            <a:off x="5971307" y="1494417"/>
            <a:ext cx="748145"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61149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237" y="819584"/>
            <a:ext cx="12182763" cy="1143000"/>
          </a:xfrm>
        </p:spPr>
        <p:txBody>
          <a:bodyPr>
            <a:normAutofit fontScale="90000"/>
          </a:bodyPr>
          <a:lstStyle/>
          <a:p>
            <a:pPr algn="ctr"/>
            <a:r>
              <a:rPr lang="en-US" sz="4900" dirty="0">
                <a:solidFill>
                  <a:srgbClr val="FF0000"/>
                </a:solidFill>
                <a:latin typeface="Arial" panose="020B0604020202020204" pitchFamily="34" charset="0"/>
                <a:cs typeface="Arial" panose="020B0604020202020204" pitchFamily="34" charset="0"/>
              </a:rPr>
              <a:t/>
            </a:r>
            <a:br>
              <a:rPr lang="en-US" sz="4900" dirty="0">
                <a:solidFill>
                  <a:srgbClr val="FF0000"/>
                </a:solidFill>
                <a:latin typeface="Arial" panose="020B0604020202020204" pitchFamily="34" charset="0"/>
                <a:cs typeface="Arial" panose="020B0604020202020204" pitchFamily="34" charset="0"/>
              </a:rPr>
            </a:br>
            <a:r>
              <a:rPr lang="en-US" sz="5400" dirty="0" smtClean="0">
                <a:solidFill>
                  <a:srgbClr val="FF0000"/>
                </a:solidFill>
              </a:rPr>
              <a:t/>
            </a:r>
            <a:br>
              <a:rPr lang="en-US" sz="5400" dirty="0" smtClean="0">
                <a:solidFill>
                  <a:srgbClr val="FF0000"/>
                </a:solidFill>
              </a:rPr>
            </a:br>
            <a:r>
              <a:rPr lang="en-US" sz="5400" dirty="0" smtClean="0">
                <a:solidFill>
                  <a:srgbClr val="FF0000"/>
                </a:solidFill>
              </a:rPr>
              <a:t/>
            </a:r>
            <a:br>
              <a:rPr lang="en-US" sz="5400" dirty="0" smtClean="0">
                <a:solidFill>
                  <a:srgbClr val="FF0000"/>
                </a:solidFill>
              </a:rPr>
            </a:br>
            <a:r>
              <a:rPr lang="en-US" sz="4400" dirty="0">
                <a:solidFill>
                  <a:schemeClr val="tx1"/>
                </a:solidFill>
              </a:rPr>
              <a:t>Frequency Domain Equalization</a:t>
            </a:r>
            <a:r>
              <a:rPr lang="en-US" sz="4400" dirty="0" smtClean="0">
                <a:solidFill>
                  <a:schemeClr val="tx1"/>
                </a:solidFill>
              </a:rPr>
              <a:t/>
            </a:r>
            <a:br>
              <a:rPr lang="en-US" sz="4400" dirty="0" smtClean="0">
                <a:solidFill>
                  <a:schemeClr val="tx1"/>
                </a:solidFill>
              </a:rPr>
            </a:br>
            <a:endParaRPr lang="en-US" sz="4400" dirty="0">
              <a:solidFill>
                <a:srgbClr val="FF0000"/>
              </a:solidFill>
            </a:endParaRPr>
          </a:p>
        </p:txBody>
      </p:sp>
    </p:spTree>
    <p:extLst>
      <p:ext uri="{BB962C8B-B14F-4D97-AF65-F5344CB8AC3E}">
        <p14:creationId xmlns:p14="http://schemas.microsoft.com/office/powerpoint/2010/main" val="38871957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19843"/>
            <a:ext cx="11296073" cy="3329709"/>
          </a:xfrm>
        </p:spPr>
        <p:txBody>
          <a:bodyPr>
            <a:noAutofit/>
          </a:bodyPr>
          <a:lstStyle/>
          <a:p>
            <a:pPr marL="109728" indent="0">
              <a:buClrTx/>
              <a:buNone/>
            </a:pPr>
            <a:r>
              <a:rPr lang="en-US" altLang="en-US" sz="1600" b="1" dirty="0"/>
              <a:t>Background</a:t>
            </a:r>
          </a:p>
          <a:p>
            <a:pPr>
              <a:buClrTx/>
            </a:pPr>
            <a:r>
              <a:rPr lang="en-US" altLang="en-US" sz="1600" dirty="0"/>
              <a:t>When designing a practical </a:t>
            </a:r>
            <a:r>
              <a:rPr lang="en-US" altLang="en-US" sz="1600" b="1" dirty="0"/>
              <a:t>OFDM</a:t>
            </a:r>
            <a:r>
              <a:rPr lang="en-US" altLang="en-US" sz="1600" dirty="0"/>
              <a:t> system, the number of subcarriers (the FFT size) is an important design parameter</a:t>
            </a:r>
            <a:r>
              <a:rPr lang="en-US" altLang="en-US" sz="1600" dirty="0" smtClean="0"/>
              <a:t>.</a:t>
            </a:r>
            <a:endParaRPr lang="en-US" altLang="en-US" sz="1600" b="1" dirty="0"/>
          </a:p>
          <a:p>
            <a:pPr>
              <a:buClrTx/>
            </a:pPr>
            <a:r>
              <a:rPr lang="en-US" altLang="en-US" sz="1600" dirty="0"/>
              <a:t>The simulation in this activity is designed around the number of </a:t>
            </a:r>
            <a:r>
              <a:rPr lang="en-US" altLang="en-US" sz="1600" b="1" dirty="0"/>
              <a:t>subcarriers—one 16-QAM </a:t>
            </a:r>
            <a:r>
              <a:rPr lang="en-US" altLang="en-US" sz="1600" dirty="0"/>
              <a:t>symbol is assigned to each subcarrier, creating a single OFDM symbol. The number of source bits to generate is calculated by multiplying the number of subcarriers by the bits per 16-QAM symbol</a:t>
            </a:r>
            <a:r>
              <a:rPr lang="en-US" altLang="en-US" sz="1600" dirty="0" smtClean="0"/>
              <a:t>.</a:t>
            </a:r>
            <a:endParaRPr lang="en-US" altLang="en-US" sz="1600" dirty="0"/>
          </a:p>
          <a:p>
            <a:pPr marL="109728" indent="0">
              <a:buClrTx/>
              <a:buNone/>
            </a:pPr>
            <a:r>
              <a:rPr lang="en-US" altLang="en-US" sz="1600" b="1" dirty="0">
                <a:solidFill>
                  <a:srgbClr val="FF0000"/>
                </a:solidFill>
              </a:rPr>
              <a:t>TASK</a:t>
            </a:r>
          </a:p>
          <a:p>
            <a:pPr>
              <a:buClrTx/>
            </a:pPr>
            <a:r>
              <a:rPr lang="en-US" altLang="en-US" sz="1600" dirty="0"/>
              <a:t>Define the number of subcarriers to be </a:t>
            </a:r>
            <a:r>
              <a:rPr lang="en-US" altLang="en-US" sz="1600" b="1" dirty="0"/>
              <a:t>8192</a:t>
            </a:r>
            <a:r>
              <a:rPr lang="en-US" altLang="en-US" sz="1600" dirty="0"/>
              <a:t> and store it in the variable </a:t>
            </a:r>
            <a:r>
              <a:rPr lang="en-US" altLang="en-US" sz="1600" b="1" dirty="0"/>
              <a:t>numCarr</a:t>
            </a:r>
            <a:r>
              <a:rPr lang="en-US" altLang="en-US" sz="1600" dirty="0"/>
              <a:t>. Then calculate the number of source bits to generate and store it in the variable </a:t>
            </a:r>
            <a:r>
              <a:rPr lang="en-US" altLang="en-US" sz="1600" b="1" dirty="0"/>
              <a:t>numBits</a:t>
            </a:r>
            <a:r>
              <a:rPr lang="en-US" altLang="en-US" sz="1600" dirty="0"/>
              <a:t>.</a:t>
            </a:r>
          </a:p>
          <a:p>
            <a:pPr marL="109728" indent="0">
              <a:buClrTx/>
              <a:buNone/>
            </a:pPr>
            <a:endParaRPr lang="en-US" altLang="en-US" sz="1600" dirty="0"/>
          </a:p>
        </p:txBody>
      </p:sp>
      <p:sp>
        <p:nvSpPr>
          <p:cNvPr id="2" name="Rectangle 1"/>
          <p:cNvSpPr>
            <a:spLocks noChangeArrowheads="1"/>
          </p:cNvSpPr>
          <p:nvPr/>
        </p:nvSpPr>
        <p:spPr bwMode="auto">
          <a:xfrm>
            <a:off x="800212" y="3064119"/>
            <a:ext cx="7974333" cy="256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C04C0B"/>
                </a:solidFill>
                <a:effectLst/>
                <a:latin typeface="Helvetica" panose="020B0604020202020204" pitchFamily="34" charset="0"/>
              </a:rPr>
              <a:t>Frequency Domain Equalization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Helvetica" panose="020B0604020202020204" pitchFamily="34" charset="0"/>
              </a:rPr>
              <a:t>This code sets the simulation parameters.</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 = 16; </a:t>
            </a:r>
            <a:r>
              <a:rPr kumimoji="0" lang="en-US" altLang="en-US" sz="1800" b="0" i="0" u="none" strike="noStrike" cap="none" normalizeH="0" baseline="0" dirty="0" smtClean="0">
                <a:ln>
                  <a:noFill/>
                </a:ln>
                <a:solidFill>
                  <a:srgbClr val="008013"/>
                </a:solidFill>
                <a:effectLst/>
                <a:latin typeface="Arial" panose="020B0604020202020204" pitchFamily="34" charset="0"/>
              </a:rPr>
              <a:t>% for 16-QAM</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bitsPerSymbol</a:t>
            </a:r>
            <a:r>
              <a:rPr kumimoji="0" lang="en-US" altLang="en-US" sz="1800" b="0" i="0" u="none" strike="noStrike" cap="none" normalizeH="0" baseline="0" dirty="0" smtClean="0">
                <a:ln>
                  <a:noFill/>
                </a:ln>
                <a:solidFill>
                  <a:schemeClr val="tx1"/>
                </a:solidFill>
                <a:effectLst/>
                <a:latin typeface="Arial" panose="020B0604020202020204" pitchFamily="34" charset="0"/>
              </a:rPr>
              <a:t> = log2(</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a:t>
            </a:r>
            <a:r>
              <a:rPr kumimoji="0" lang="en-US" altLang="en-US" sz="1800" b="0" i="0" u="none" strike="noStrike" cap="none" normalizeH="0" baseline="0" dirty="0" err="1" smtClean="0">
                <a:ln>
                  <a:noFill/>
                </a:ln>
                <a:solidFill>
                  <a:srgbClr val="008013"/>
                </a:solidFill>
                <a:effectLst/>
                <a:latin typeface="Arial" panose="020B0604020202020204" pitchFamily="34" charset="0"/>
              </a:rPr>
              <a:t>modOrder</a:t>
            </a:r>
            <a:r>
              <a:rPr kumimoji="0" lang="en-US" altLang="en-US" sz="1800" b="0" i="0" u="none" strike="noStrike" cap="none" normalizeH="0" baseline="0" dirty="0" smtClean="0">
                <a:ln>
                  <a:noFill/>
                </a:ln>
                <a:solidFill>
                  <a:srgbClr val="008013"/>
                </a:solidFill>
                <a:effectLst/>
                <a:latin typeface="Arial" panose="020B0604020202020204" pitchFamily="34" charset="0"/>
              </a:rPr>
              <a:t> = 2^bitsPerSymbol</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mpChan</a:t>
            </a:r>
            <a:r>
              <a:rPr kumimoji="0" lang="en-US" altLang="en-US" sz="1800" b="0" i="0" u="none" strike="noStrike" cap="none" normalizeH="0" baseline="0" dirty="0" smtClean="0">
                <a:ln>
                  <a:noFill/>
                </a:ln>
                <a:solidFill>
                  <a:schemeClr val="tx1"/>
                </a:solidFill>
                <a:effectLst/>
                <a:latin typeface="Arial" panose="020B0604020202020204" pitchFamily="34" charset="0"/>
              </a:rPr>
              <a:t> = [0.8; zeros(7,1); -0.5; zeros(7,1); 0.34]; </a:t>
            </a:r>
            <a:r>
              <a:rPr kumimoji="0" lang="en-US" altLang="en-US" sz="1800" b="0" i="0" u="none" strike="noStrike" cap="none" normalizeH="0" baseline="0" dirty="0" smtClean="0">
                <a:ln>
                  <a:noFill/>
                </a:ln>
                <a:solidFill>
                  <a:srgbClr val="008013"/>
                </a:solidFill>
                <a:effectLst/>
                <a:latin typeface="Arial" panose="020B0604020202020204" pitchFamily="34" charset="0"/>
              </a:rPr>
              <a:t>% multipath channel</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SNR = 15 </a:t>
            </a:r>
            <a:r>
              <a:rPr kumimoji="0" lang="en-US" altLang="en-US" sz="1800" b="0" i="0" u="none" strike="noStrike" cap="none" normalizeH="0" baseline="0" dirty="0" smtClean="0">
                <a:ln>
                  <a:noFill/>
                </a:ln>
                <a:solidFill>
                  <a:srgbClr val="008013"/>
                </a:solidFill>
                <a:effectLst/>
                <a:latin typeface="Arial" panose="020B0604020202020204" pitchFamily="34" charset="0"/>
              </a:rPr>
              <a:t>% dB, signal-to-noise ratio of AWGN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rgbClr val="0070C0"/>
                </a:solidFill>
                <a:effectLst/>
                <a:latin typeface="Arial" panose="020B0604020202020204" pitchFamily="34" charset="0"/>
                <a:cs typeface="Arial" panose="020B0604020202020204" pitchFamily="34" charset="0"/>
              </a:rPr>
              <a:t>numCarr = 8192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Arial" panose="020B0604020202020204" pitchFamily="34" charset="0"/>
              </a:rPr>
              <a:t>numBits = numCarr*</a:t>
            </a:r>
            <a:r>
              <a:rPr kumimoji="0" lang="en-US" altLang="en-US" sz="1800" b="1" i="0" u="none" strike="noStrike" cap="none" normalizeH="0" baseline="0" dirty="0" err="1" smtClean="0">
                <a:ln>
                  <a:noFill/>
                </a:ln>
                <a:solidFill>
                  <a:srgbClr val="0070C0"/>
                </a:solidFill>
                <a:effectLst/>
                <a:latin typeface="Arial" panose="020B0604020202020204" pitchFamily="34" charset="0"/>
              </a:rPr>
              <a:t>bitsPerSymbol</a:t>
            </a:r>
            <a:endParaRPr kumimoji="0" lang="en-US" altLang="en-US" sz="1800" b="1" i="0" u="none" strike="noStrike" cap="none" normalizeH="0" baseline="0" dirty="0" smtClean="0">
              <a:ln>
                <a:noFill/>
              </a:ln>
              <a:solidFill>
                <a:srgbClr val="0070C0"/>
              </a:solidFill>
              <a:effectLst/>
              <a:latin typeface="Arial" panose="020B0604020202020204" pitchFamily="34" charset="0"/>
            </a:endParaRPr>
          </a:p>
        </p:txBody>
      </p:sp>
    </p:spTree>
    <p:extLst>
      <p:ext uri="{BB962C8B-B14F-4D97-AF65-F5344CB8AC3E}">
        <p14:creationId xmlns:p14="http://schemas.microsoft.com/office/powerpoint/2010/main" val="387481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95026"/>
            <a:ext cx="12071928" cy="3329709"/>
          </a:xfrm>
        </p:spPr>
        <p:txBody>
          <a:bodyPr>
            <a:noAutofit/>
          </a:bodyPr>
          <a:lstStyle/>
          <a:p>
            <a:pPr>
              <a:buClrTx/>
            </a:pPr>
            <a:r>
              <a:rPr lang="en-US" altLang="en-US" sz="1600" dirty="0"/>
              <a:t>After setting the number of source bits, the </a:t>
            </a:r>
            <a:r>
              <a:rPr lang="en-US" altLang="en-US" sz="1600" dirty="0" smtClean="0"/>
              <a:t> following script </a:t>
            </a:r>
            <a:r>
              <a:rPr lang="en-US" altLang="en-US" sz="1600" dirty="0"/>
              <a:t>creates the source bit sequence and modulates it using 16-QAM</a:t>
            </a:r>
            <a:r>
              <a:rPr lang="en-US" altLang="en-US" sz="1600" dirty="0" smtClean="0"/>
              <a:t>.</a:t>
            </a:r>
          </a:p>
          <a:p>
            <a:pPr>
              <a:buClrTx/>
            </a:pPr>
            <a:endParaRPr lang="en-US" altLang="en-US" sz="1600" dirty="0" smtClean="0"/>
          </a:p>
          <a:p>
            <a:pPr>
              <a:buClrTx/>
            </a:pPr>
            <a:endParaRPr lang="en-US" altLang="en-US" sz="1600" dirty="0"/>
          </a:p>
          <a:p>
            <a:pPr marL="109728" indent="0">
              <a:buClrTx/>
              <a:buNone/>
            </a:pPr>
            <a:endParaRPr lang="en-US" altLang="en-US" sz="1600" b="1" dirty="0"/>
          </a:p>
          <a:p>
            <a:pPr>
              <a:buClrTx/>
            </a:pPr>
            <a:r>
              <a:rPr lang="en-US" altLang="en-US" sz="1600" dirty="0"/>
              <a:t>The next step is to perform </a:t>
            </a:r>
            <a:r>
              <a:rPr lang="en-US" altLang="en-US" sz="1600" b="1" dirty="0"/>
              <a:t>OFDM</a:t>
            </a:r>
            <a:r>
              <a:rPr lang="en-US" altLang="en-US" sz="1600" dirty="0"/>
              <a:t> modulation, including a </a:t>
            </a:r>
            <a:r>
              <a:rPr lang="en-US" altLang="en-US" sz="1600" b="1" dirty="0"/>
              <a:t>cyclic prefix</a:t>
            </a:r>
            <a:r>
              <a:rPr lang="en-US" altLang="en-US" sz="1600" dirty="0"/>
              <a:t>.</a:t>
            </a:r>
          </a:p>
          <a:p>
            <a:pPr marL="109728" indent="0">
              <a:buClrTx/>
              <a:buNone/>
            </a:pPr>
            <a:endParaRPr lang="en-US" altLang="en-US" sz="1600" b="1" dirty="0"/>
          </a:p>
          <a:p>
            <a:pPr>
              <a:buClrTx/>
            </a:pPr>
            <a:r>
              <a:rPr lang="en-US" altLang="en-US" sz="1600" dirty="0"/>
              <a:t>The </a:t>
            </a:r>
            <a:r>
              <a:rPr lang="en-US" altLang="en-US" sz="1600" b="1" dirty="0"/>
              <a:t>ofdmmod</a:t>
            </a:r>
            <a:r>
              <a:rPr lang="en-US" altLang="en-US" sz="1600" dirty="0"/>
              <a:t> and </a:t>
            </a:r>
            <a:r>
              <a:rPr lang="en-US" altLang="en-US" sz="1600" b="1" dirty="0" err="1"/>
              <a:t>ofdmdemod</a:t>
            </a:r>
            <a:r>
              <a:rPr lang="en-US" altLang="en-US" sz="1600" dirty="0"/>
              <a:t> functions manage the cyclic prefix for you. All you have to do is specify the length of the cyclic prefix</a:t>
            </a:r>
            <a:r>
              <a:rPr lang="en-US" altLang="en-US" sz="1600" dirty="0" smtClean="0"/>
              <a:t>.</a:t>
            </a:r>
            <a:endParaRPr lang="en-US" altLang="en-US" sz="1600" b="1" dirty="0"/>
          </a:p>
          <a:p>
            <a:pPr>
              <a:buClrTx/>
            </a:pPr>
            <a:r>
              <a:rPr lang="en-US" altLang="en-US" sz="1600" dirty="0"/>
              <a:t>The cyclic prefix must be at least </a:t>
            </a:r>
            <a:r>
              <a:rPr lang="en-US" altLang="en-US" sz="1600" b="1" dirty="0"/>
              <a:t>as long as the impulse response </a:t>
            </a:r>
            <a:r>
              <a:rPr lang="en-US" altLang="en-US" sz="1600" dirty="0"/>
              <a:t>of the </a:t>
            </a:r>
            <a:r>
              <a:rPr lang="en-US" altLang="en-US" sz="1600" b="1" dirty="0"/>
              <a:t>channel</a:t>
            </a:r>
            <a:r>
              <a:rPr lang="en-US" altLang="en-US" sz="1600" dirty="0"/>
              <a:t>. But, it should also be reasonably short because it contains duplicate data that will be discarded. In this simulation, the multipath channel impulse response length is 17, so use a value slightly larger than that for the cyclic prefix length</a:t>
            </a:r>
            <a:r>
              <a:rPr lang="en-US" altLang="en-US" sz="1600" dirty="0" smtClean="0"/>
              <a:t>.</a:t>
            </a:r>
          </a:p>
          <a:p>
            <a:pPr>
              <a:buClrTx/>
            </a:pPr>
            <a:endParaRPr lang="en-US" altLang="en-US" sz="1600" dirty="0"/>
          </a:p>
          <a:p>
            <a:pPr marL="109728" indent="0">
              <a:buClrTx/>
              <a:buNone/>
            </a:pPr>
            <a:r>
              <a:rPr lang="en-US" altLang="en-US" sz="1600" b="1" dirty="0">
                <a:solidFill>
                  <a:srgbClr val="FF0000"/>
                </a:solidFill>
              </a:rPr>
              <a:t>TASK</a:t>
            </a:r>
          </a:p>
          <a:p>
            <a:pPr marL="109728" indent="0">
              <a:buClrTx/>
              <a:buNone/>
            </a:pPr>
            <a:r>
              <a:rPr lang="en-US" altLang="en-US" sz="1600" dirty="0"/>
              <a:t>Define the cyclic prefix length to be 32 and store it in the variable </a:t>
            </a:r>
            <a:r>
              <a:rPr lang="en-US" altLang="en-US" sz="1600" dirty="0" err="1"/>
              <a:t>cycPrefLen</a:t>
            </a:r>
            <a:r>
              <a:rPr lang="en-US" altLang="en-US" sz="1600" dirty="0" smtClean="0"/>
              <a:t>.</a:t>
            </a:r>
          </a:p>
          <a:p>
            <a:pPr marL="109728" indent="0">
              <a:buClrTx/>
              <a:buNone/>
            </a:pPr>
            <a:endParaRPr lang="en-US" altLang="en-US" sz="1600" dirty="0"/>
          </a:p>
        </p:txBody>
      </p:sp>
      <p:sp>
        <p:nvSpPr>
          <p:cNvPr id="7" name="Rectangle 6"/>
          <p:cNvSpPr>
            <a:spLocks noChangeArrowheads="1"/>
          </p:cNvSpPr>
          <p:nvPr/>
        </p:nvSpPr>
        <p:spPr bwMode="auto">
          <a:xfrm>
            <a:off x="951345" y="1166526"/>
            <a:ext cx="114530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1" i="0" u="none" strike="noStrike" cap="none" normalizeH="0" baseline="0" dirty="0" smtClean="0">
                <a:ln>
                  <a:noFill/>
                </a:ln>
                <a:solidFill>
                  <a:schemeClr val="tx1"/>
                </a:solidFill>
                <a:effectLst/>
                <a:latin typeface="Arial" panose="020B0604020202020204" pitchFamily="34" charset="0"/>
              </a:rPr>
              <a:t> = </a:t>
            </a:r>
            <a:r>
              <a:rPr kumimoji="0" lang="en-US" altLang="en-US" sz="1800" b="1" i="0" u="none" strike="noStrike" cap="none" normalizeH="0" baseline="0" dirty="0" err="1" smtClean="0">
                <a:ln>
                  <a:noFill/>
                </a:ln>
                <a:solidFill>
                  <a:schemeClr val="tx1"/>
                </a:solidFill>
                <a:effectLst/>
                <a:latin typeface="Arial" panose="020B0604020202020204" pitchFamily="34" charset="0"/>
              </a:rPr>
              <a:t>randi</a:t>
            </a:r>
            <a:r>
              <a:rPr kumimoji="0" lang="en-US" altLang="en-US" sz="1800" b="1" i="0" u="none" strike="noStrike" cap="none" normalizeH="0" baseline="0" dirty="0" smtClean="0">
                <a:ln>
                  <a:noFill/>
                </a:ln>
                <a:solidFill>
                  <a:schemeClr val="tx1"/>
                </a:solidFill>
                <a:effectLst/>
                <a:latin typeface="Arial" panose="020B0604020202020204" pitchFamily="34" charset="0"/>
              </a:rPr>
              <a:t>([0,1],numBits,1);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1" i="0" u="none" strike="noStrike" cap="none" normalizeH="0" baseline="0" dirty="0" smtClean="0">
                <a:ln>
                  <a:noFill/>
                </a:ln>
                <a:solidFill>
                  <a:schemeClr val="tx1"/>
                </a:solidFill>
                <a:effectLst/>
                <a:latin typeface="Arial" panose="020B0604020202020204" pitchFamily="34" charset="0"/>
              </a:rPr>
              <a:t> = </a:t>
            </a:r>
            <a:r>
              <a:rPr kumimoji="0" lang="en-US" altLang="en-US" sz="1800" b="1" i="0" u="none" strike="noStrike" cap="none" normalizeH="0" baseline="0" dirty="0" err="1" smtClean="0">
                <a:ln>
                  <a:noFill/>
                </a:ln>
                <a:solidFill>
                  <a:schemeClr val="tx1"/>
                </a:solidFill>
                <a:effectLst/>
                <a:latin typeface="Arial" panose="020B0604020202020204" pitchFamily="34" charset="0"/>
              </a:rPr>
              <a:t>qammod</a:t>
            </a:r>
            <a:r>
              <a:rPr kumimoji="0" lang="en-US" altLang="en-US" sz="1800" b="1" i="0" u="none" strike="noStrike" cap="none" normalizeH="0" baseline="0" dirty="0" smtClean="0">
                <a:ln>
                  <a:noFill/>
                </a:ln>
                <a:solidFill>
                  <a:schemeClr val="tx1"/>
                </a:solidFill>
                <a:effectLst/>
                <a:latin typeface="Arial" panose="020B0604020202020204" pitchFamily="34" charset="0"/>
              </a:rPr>
              <a:t>(srcBits,</a:t>
            </a:r>
            <a:r>
              <a:rPr kumimoji="0" lang="en-US" altLang="en-US" sz="1800" b="1"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1" i="0" u="none" strike="noStrike" cap="none" normalizeH="0" baseline="0" dirty="0" smtClean="0">
                <a:ln>
                  <a:noFill/>
                </a:ln>
                <a:solidFill>
                  <a:srgbClr val="A709F5"/>
                </a:solidFill>
                <a:effectLst/>
                <a:latin typeface="Arial" panose="020B0604020202020204" pitchFamily="34" charset="0"/>
              </a:rPr>
              <a:t>"</a:t>
            </a:r>
            <a:r>
              <a:rPr kumimoji="0" lang="en-US" altLang="en-US" sz="1800" b="1" i="0" u="none" strike="noStrike" cap="none" normalizeH="0" baseline="0" dirty="0" err="1" smtClean="0">
                <a:ln>
                  <a:noFill/>
                </a:ln>
                <a:solidFill>
                  <a:srgbClr val="A709F5"/>
                </a:solidFill>
                <a:effectLst/>
                <a:latin typeface="Arial" panose="020B0604020202020204" pitchFamily="34" charset="0"/>
              </a:rPr>
              <a:t>InputType</a:t>
            </a:r>
            <a:r>
              <a:rPr kumimoji="0" lang="en-US" altLang="en-US" sz="1800" b="1" i="0" u="none" strike="noStrike" cap="none" normalizeH="0" baseline="0" dirty="0" smtClean="0">
                <a:ln>
                  <a:noFill/>
                </a:ln>
                <a:solidFill>
                  <a:srgbClr val="A709F5"/>
                </a:solidFill>
                <a:effectLst/>
                <a:latin typeface="Arial" panose="020B0604020202020204" pitchFamily="34" charset="0"/>
              </a:rPr>
              <a:t>"</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1" i="0" u="none" strike="noStrike" cap="none" normalizeH="0" baseline="0" dirty="0" smtClean="0">
                <a:ln>
                  <a:noFill/>
                </a:ln>
                <a:solidFill>
                  <a:srgbClr val="A709F5"/>
                </a:solidFill>
                <a:effectLst/>
                <a:latin typeface="Arial" panose="020B0604020202020204" pitchFamily="34" charset="0"/>
              </a:rPr>
              <a:t>"bit"</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1" i="0" u="none" strike="noStrike" cap="none" normalizeH="0" baseline="0" dirty="0" smtClean="0">
                <a:ln>
                  <a:noFill/>
                </a:ln>
                <a:solidFill>
                  <a:srgbClr val="A709F5"/>
                </a:solidFill>
                <a:effectLst/>
                <a:latin typeface="Arial" panose="020B0604020202020204" pitchFamily="34" charset="0"/>
              </a:rPr>
              <a:t>"</a:t>
            </a:r>
            <a:r>
              <a:rPr kumimoji="0" lang="en-US" altLang="en-US" sz="1800" b="1"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1" i="0" u="none" strike="noStrike" cap="none" normalizeH="0" baseline="0" dirty="0" smtClean="0">
                <a:ln>
                  <a:noFill/>
                </a:ln>
                <a:solidFill>
                  <a:srgbClr val="A709F5"/>
                </a:solidFill>
                <a:effectLst/>
                <a:latin typeface="Arial" panose="020B0604020202020204" pitchFamily="34" charset="0"/>
              </a:rPr>
              <a:t>"</a:t>
            </a:r>
            <a:r>
              <a:rPr kumimoji="0" lang="en-US" altLang="en-US" sz="1800" b="1" i="0" u="none" strike="noStrike" cap="none" normalizeH="0" baseline="0" dirty="0" smtClean="0">
                <a:ln>
                  <a:noFill/>
                </a:ln>
                <a:solidFill>
                  <a:schemeClr val="tx1"/>
                </a:solidFill>
                <a:effectLst/>
                <a:latin typeface="Arial" panose="020B0604020202020204" pitchFamily="34" charset="0"/>
              </a:rPr>
              <a:t>,true);</a:t>
            </a:r>
          </a:p>
        </p:txBody>
      </p:sp>
      <p:sp>
        <p:nvSpPr>
          <p:cNvPr id="5" name="Rectangle 4"/>
          <p:cNvSpPr/>
          <p:nvPr/>
        </p:nvSpPr>
        <p:spPr>
          <a:xfrm>
            <a:off x="591426" y="5054661"/>
            <a:ext cx="1994457" cy="369332"/>
          </a:xfrm>
          <a:prstGeom prst="rect">
            <a:avLst/>
          </a:prstGeom>
        </p:spPr>
        <p:txBody>
          <a:bodyPr wrap="none">
            <a:spAutoFit/>
          </a:bodyPr>
          <a:lstStyle/>
          <a:p>
            <a:r>
              <a:rPr lang="en-US" b="1" dirty="0" err="1">
                <a:solidFill>
                  <a:srgbClr val="0070C0"/>
                </a:solidFill>
              </a:rPr>
              <a:t>cycPrefLen</a:t>
            </a:r>
            <a:r>
              <a:rPr lang="en-US" b="1" dirty="0">
                <a:solidFill>
                  <a:srgbClr val="0070C0"/>
                </a:solidFill>
              </a:rPr>
              <a:t> = 32</a:t>
            </a:r>
          </a:p>
        </p:txBody>
      </p:sp>
    </p:spTree>
    <p:extLst>
      <p:ext uri="{BB962C8B-B14F-4D97-AF65-F5344CB8AC3E}">
        <p14:creationId xmlns:p14="http://schemas.microsoft.com/office/powerpoint/2010/main" val="376878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95026"/>
            <a:ext cx="12071928" cy="3329709"/>
          </a:xfrm>
        </p:spPr>
        <p:txBody>
          <a:bodyPr>
            <a:noAutofit/>
          </a:bodyPr>
          <a:lstStyle/>
          <a:p>
            <a:pPr>
              <a:buClrTx/>
            </a:pPr>
            <a:r>
              <a:rPr lang="en-US" altLang="en-US" sz="1600" dirty="0"/>
              <a:t>Use the </a:t>
            </a:r>
            <a:r>
              <a:rPr lang="en-US" altLang="en-US" sz="1600" b="1" dirty="0"/>
              <a:t>ofdmmod</a:t>
            </a:r>
            <a:r>
              <a:rPr lang="en-US" altLang="en-US" sz="1600" dirty="0"/>
              <a:t> function to perform OFDM modulation, specifying the number of subcarriers and the cyclic prefix length</a:t>
            </a:r>
            <a:r>
              <a:rPr lang="en-US" altLang="en-US" sz="1600" dirty="0" smtClean="0"/>
              <a:t>.</a:t>
            </a:r>
          </a:p>
          <a:p>
            <a:pPr marL="109728" indent="0">
              <a:buClrTx/>
              <a:buNone/>
            </a:pPr>
            <a:r>
              <a:rPr lang="en-US" altLang="en-US" sz="1600" b="1" dirty="0" smtClean="0"/>
              <a:t>        </a:t>
            </a:r>
            <a:r>
              <a:rPr lang="en-US" altLang="en-US" sz="1600" b="1" dirty="0" err="1" smtClean="0"/>
              <a:t>sigOut</a:t>
            </a:r>
            <a:r>
              <a:rPr lang="en-US" altLang="en-US" sz="1600" b="1" dirty="0" smtClean="0"/>
              <a:t> </a:t>
            </a:r>
            <a:r>
              <a:rPr lang="en-US" altLang="en-US" sz="1600" b="1" dirty="0"/>
              <a:t>= </a:t>
            </a:r>
            <a:r>
              <a:rPr lang="en-US" altLang="en-US" sz="1600" b="1" dirty="0" err="1"/>
              <a:t>ofdmmod</a:t>
            </a:r>
            <a:r>
              <a:rPr lang="en-US" altLang="en-US" sz="1600" b="1" dirty="0"/>
              <a:t>(</a:t>
            </a:r>
            <a:r>
              <a:rPr lang="en-US" altLang="en-US" sz="1600" b="1" dirty="0" err="1"/>
              <a:t>sig,nCarr,cpLen</a:t>
            </a:r>
            <a:r>
              <a:rPr lang="en-US" altLang="en-US" sz="1600" b="1" dirty="0" smtClean="0"/>
              <a:t>)</a:t>
            </a:r>
          </a:p>
          <a:p>
            <a:pPr marL="109728" indent="0">
              <a:buClrTx/>
              <a:buNone/>
            </a:pPr>
            <a:endParaRPr lang="en-US" altLang="en-US" sz="1600" b="1" dirty="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Perform OFDM modulation on the signal </a:t>
            </a:r>
            <a:r>
              <a:rPr lang="en-US" altLang="en-US" sz="1600" b="1" dirty="0" err="1"/>
              <a:t>qamModOut</a:t>
            </a:r>
            <a:r>
              <a:rPr lang="en-US" altLang="en-US" sz="1600" dirty="0"/>
              <a:t>. Specify the number of subcarriers as </a:t>
            </a:r>
            <a:r>
              <a:rPr lang="en-US" altLang="en-US" sz="1600" b="1" dirty="0"/>
              <a:t>numCarr</a:t>
            </a:r>
            <a:r>
              <a:rPr lang="en-US" altLang="en-US" sz="1600" dirty="0"/>
              <a:t> and the cyclic prefix length as </a:t>
            </a:r>
            <a:r>
              <a:rPr lang="en-US" altLang="en-US" sz="1600" b="1" dirty="0" err="1" smtClean="0"/>
              <a:t>cycPrefLen</a:t>
            </a:r>
            <a:r>
              <a:rPr lang="en-US" altLang="en-US" sz="1600" dirty="0" smtClean="0"/>
              <a:t>. Name </a:t>
            </a:r>
            <a:r>
              <a:rPr lang="en-US" altLang="en-US" sz="1600" dirty="0"/>
              <a:t>the output signal </a:t>
            </a:r>
            <a:r>
              <a:rPr lang="en-US" altLang="en-US" sz="1600" b="1" dirty="0"/>
              <a:t>ofdmModOut</a:t>
            </a:r>
            <a:r>
              <a:rPr lang="en-US" altLang="en-US" sz="1600" dirty="0" smtClean="0"/>
              <a:t>.</a:t>
            </a:r>
          </a:p>
          <a:p>
            <a:pPr>
              <a:buClrTx/>
            </a:pPr>
            <a:endParaRPr lang="en-US" altLang="en-US" sz="1600" dirty="0"/>
          </a:p>
          <a:p>
            <a:pPr marL="109728" indent="0">
              <a:buClrTx/>
              <a:buNone/>
            </a:pPr>
            <a:r>
              <a:rPr lang="en-US" altLang="en-US" sz="1600" b="1" dirty="0" smtClean="0">
                <a:solidFill>
                  <a:srgbClr val="00B0F0"/>
                </a:solidFill>
              </a:rPr>
              <a:t>         </a:t>
            </a:r>
            <a:r>
              <a:rPr lang="en-US" altLang="en-US" sz="1600" b="1" dirty="0" smtClean="0">
                <a:solidFill>
                  <a:srgbClr val="0070C0"/>
                </a:solidFill>
              </a:rPr>
              <a:t>ofdmModOut </a:t>
            </a:r>
            <a:r>
              <a:rPr lang="en-US" altLang="en-US" sz="1600" b="1" dirty="0">
                <a:solidFill>
                  <a:srgbClr val="0070C0"/>
                </a:solidFill>
              </a:rPr>
              <a:t>= ofdmmod(</a:t>
            </a:r>
            <a:r>
              <a:rPr lang="en-US" altLang="en-US" sz="1600" b="1" dirty="0" err="1">
                <a:solidFill>
                  <a:srgbClr val="0070C0"/>
                </a:solidFill>
              </a:rPr>
              <a:t>qamModOut,numCarr,cycPrefLen</a:t>
            </a:r>
            <a:r>
              <a:rPr lang="en-US" altLang="en-US" sz="1600" b="1" dirty="0" smtClean="0">
                <a:solidFill>
                  <a:srgbClr val="0070C0"/>
                </a:solidFill>
              </a:rPr>
              <a:t>)</a:t>
            </a:r>
          </a:p>
          <a:p>
            <a:pPr marL="109728" indent="0">
              <a:buClrTx/>
              <a:buNone/>
            </a:pPr>
            <a:endParaRPr lang="en-US" altLang="en-US" sz="1600" b="1" dirty="0" smtClean="0">
              <a:solidFill>
                <a:srgbClr val="00B0F0"/>
              </a:solidFill>
            </a:endParaRPr>
          </a:p>
          <a:p>
            <a:pPr marL="109728" indent="0">
              <a:buClrTx/>
              <a:buNone/>
            </a:pPr>
            <a:endParaRPr lang="en-US" altLang="en-US" sz="1600" b="1" dirty="0" smtClean="0">
              <a:solidFill>
                <a:schemeClr val="accent3"/>
              </a:solidFill>
            </a:endParaRPr>
          </a:p>
          <a:p>
            <a:pPr marL="109728" indent="0">
              <a:buClrTx/>
              <a:buNone/>
            </a:pPr>
            <a:r>
              <a:rPr lang="en-US" altLang="en-US" sz="1600" b="1" dirty="0" smtClean="0">
                <a:solidFill>
                  <a:schemeClr val="accent3"/>
                </a:solidFill>
              </a:rPr>
              <a:t>      Channel</a:t>
            </a:r>
            <a:r>
              <a:rPr lang="en-US" altLang="en-US" sz="1600" b="1" dirty="0">
                <a:solidFill>
                  <a:schemeClr val="accent3"/>
                </a:solidFill>
              </a:rPr>
              <a:t>: multipath channel and </a:t>
            </a:r>
            <a:r>
              <a:rPr lang="en-US" altLang="en-US" sz="1600" b="1" dirty="0" smtClean="0">
                <a:solidFill>
                  <a:schemeClr val="accent3"/>
                </a:solidFill>
              </a:rPr>
              <a:t>AWGN</a:t>
            </a:r>
          </a:p>
          <a:p>
            <a:pPr marL="109728" indent="0">
              <a:buClrTx/>
              <a:buNone/>
            </a:pPr>
            <a:endParaRPr lang="en-US" altLang="en-US" sz="1600" b="1" dirty="0">
              <a:solidFill>
                <a:schemeClr val="accent3"/>
              </a:solidFill>
            </a:endParaRPr>
          </a:p>
        </p:txBody>
      </p:sp>
      <p:sp>
        <p:nvSpPr>
          <p:cNvPr id="2" name="Rectangle 1"/>
          <p:cNvSpPr>
            <a:spLocks noChangeArrowheads="1"/>
          </p:cNvSpPr>
          <p:nvPr/>
        </p:nvSpPr>
        <p:spPr bwMode="auto">
          <a:xfrm>
            <a:off x="120072" y="50245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"ofdmModOut"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3</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mpChanOut</a:t>
            </a:r>
            <a:r>
              <a:rPr kumimoji="0" lang="en-US" altLang="en-US" sz="1800" b="0" i="0" u="none" strike="noStrike" cap="none" normalizeH="0" baseline="0" dirty="0" smtClean="0">
                <a:ln>
                  <a:noFill/>
                </a:ln>
                <a:solidFill>
                  <a:schemeClr val="tx1"/>
                </a:solidFill>
                <a:effectLst/>
                <a:latin typeface="Arial" panose="020B0604020202020204" pitchFamily="34" charset="0"/>
              </a:rPr>
              <a:t> = filter(mpChan,1,ofdmModOut);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awgn</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mpChanOut,SNR,</a:t>
            </a:r>
            <a:r>
              <a:rPr kumimoji="0" lang="en-US" altLang="en-US" sz="1800" b="0" i="0" u="none" strike="noStrike" cap="none" normalizeH="0" baseline="0" dirty="0" err="1" smtClean="0">
                <a:ln>
                  <a:noFill/>
                </a:ln>
                <a:solidFill>
                  <a:srgbClr val="A709F5"/>
                </a:solidFill>
                <a:effectLst/>
                <a:latin typeface="Arial" panose="020B0604020202020204" pitchFamily="34" charset="0"/>
              </a:rPr>
              <a:t>"measured</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68182" t="55488" r="3181" b="19327"/>
          <a:stretch/>
        </p:blipFill>
        <p:spPr>
          <a:xfrm>
            <a:off x="7296727" y="2436007"/>
            <a:ext cx="4784436" cy="2366903"/>
          </a:xfrm>
          <a:prstGeom prst="rect">
            <a:avLst/>
          </a:prstGeom>
        </p:spPr>
      </p:pic>
    </p:spTree>
    <p:extLst>
      <p:ext uri="{BB962C8B-B14F-4D97-AF65-F5344CB8AC3E}">
        <p14:creationId xmlns:p14="http://schemas.microsoft.com/office/powerpoint/2010/main" val="336499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95026"/>
            <a:ext cx="12071928" cy="3329709"/>
          </a:xfrm>
        </p:spPr>
        <p:txBody>
          <a:bodyPr>
            <a:noAutofit/>
          </a:bodyPr>
          <a:lstStyle/>
          <a:p>
            <a:pPr>
              <a:buClrTx/>
            </a:pPr>
            <a:r>
              <a:rPr lang="en-US" altLang="en-US" sz="1600" dirty="0"/>
              <a:t>Next, the </a:t>
            </a:r>
            <a:r>
              <a:rPr lang="en-US" altLang="en-US" sz="1600" b="1" dirty="0"/>
              <a:t>OFDM</a:t>
            </a:r>
            <a:r>
              <a:rPr lang="en-US" altLang="en-US" sz="1600" dirty="0"/>
              <a:t> modulated signal is sent over the channel to the receiver</a:t>
            </a:r>
            <a:r>
              <a:rPr lang="en-US" altLang="en-US" sz="1600" dirty="0" smtClean="0"/>
              <a:t>.</a:t>
            </a:r>
            <a:endParaRPr lang="en-US" altLang="en-US" sz="1600" dirty="0"/>
          </a:p>
          <a:p>
            <a:pPr>
              <a:buClrTx/>
            </a:pPr>
            <a:r>
              <a:rPr lang="en-US" altLang="en-US" sz="1600" dirty="0"/>
              <a:t>In the receiver, perform </a:t>
            </a:r>
            <a:r>
              <a:rPr lang="en-US" altLang="en-US" sz="1600" b="1" dirty="0"/>
              <a:t>OFDM demodulation </a:t>
            </a:r>
            <a:r>
              <a:rPr lang="en-US" altLang="en-US" sz="1600" dirty="0"/>
              <a:t>using the </a:t>
            </a:r>
            <a:r>
              <a:rPr lang="en-US" altLang="en-US" sz="1600" b="1" dirty="0" err="1"/>
              <a:t>ofdmdemod</a:t>
            </a:r>
            <a:r>
              <a:rPr lang="en-US" altLang="en-US" sz="1600" dirty="0"/>
              <a:t> function, again specifying the number of </a:t>
            </a:r>
            <a:r>
              <a:rPr lang="en-US" altLang="en-US" sz="1600" b="1" dirty="0"/>
              <a:t>subcarriers</a:t>
            </a:r>
            <a:r>
              <a:rPr lang="en-US" altLang="en-US" sz="1600" dirty="0"/>
              <a:t> and the </a:t>
            </a:r>
            <a:r>
              <a:rPr lang="en-US" altLang="en-US" sz="1600" b="1" dirty="0"/>
              <a:t>cyclic prefix </a:t>
            </a:r>
            <a:r>
              <a:rPr lang="en-US" altLang="en-US" sz="1600" dirty="0"/>
              <a:t>length</a:t>
            </a:r>
            <a:r>
              <a:rPr lang="en-US" altLang="en-US" sz="1600" dirty="0" smtClean="0"/>
              <a:t>.</a:t>
            </a:r>
            <a:endParaRPr lang="en-US" altLang="en-US" sz="1600" dirty="0"/>
          </a:p>
          <a:p>
            <a:pPr marL="109728" indent="0">
              <a:buClrTx/>
              <a:buNone/>
            </a:pPr>
            <a:r>
              <a:rPr lang="en-US" altLang="en-US" sz="1600" b="1" dirty="0" smtClean="0"/>
              <a:t>              </a:t>
            </a:r>
            <a:r>
              <a:rPr lang="en-US" altLang="en-US" sz="1600" b="1" dirty="0" err="1" smtClean="0"/>
              <a:t>sigOut</a:t>
            </a:r>
            <a:r>
              <a:rPr lang="en-US" altLang="en-US" sz="1600" b="1" dirty="0" smtClean="0"/>
              <a:t> </a:t>
            </a:r>
            <a:r>
              <a:rPr lang="en-US" altLang="en-US" sz="1600" b="1" dirty="0"/>
              <a:t>= </a:t>
            </a:r>
            <a:r>
              <a:rPr lang="en-US" altLang="en-US" sz="1600" b="1" dirty="0" err="1"/>
              <a:t>ofdmdemod</a:t>
            </a:r>
            <a:r>
              <a:rPr lang="en-US" altLang="en-US" sz="1600" b="1" dirty="0"/>
              <a:t>(</a:t>
            </a:r>
            <a:r>
              <a:rPr lang="en-US" altLang="en-US" sz="1600" b="1" dirty="0" err="1"/>
              <a:t>sig,nCarr,cpLen</a:t>
            </a:r>
            <a:r>
              <a:rPr lang="en-US" altLang="en-US" sz="1600" b="1" dirty="0" smtClean="0"/>
              <a:t>)</a:t>
            </a:r>
          </a:p>
          <a:p>
            <a:pPr marL="109728" indent="0">
              <a:buClrTx/>
              <a:buNone/>
            </a:pPr>
            <a:endParaRPr lang="en-US" altLang="en-US" sz="1600" b="1" dirty="0" smtClean="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Perform OFDM demodulation on the signal </a:t>
            </a:r>
            <a:r>
              <a:rPr lang="en-US" altLang="en-US" sz="1600" b="1" dirty="0" err="1"/>
              <a:t>chanOut</a:t>
            </a:r>
            <a:r>
              <a:rPr lang="en-US" altLang="en-US" sz="1600" dirty="0"/>
              <a:t>. Specify the number of subcarriers as </a:t>
            </a:r>
            <a:r>
              <a:rPr lang="en-US" altLang="en-US" sz="1600" b="1" dirty="0"/>
              <a:t>numCarr</a:t>
            </a:r>
            <a:r>
              <a:rPr lang="en-US" altLang="en-US" sz="1600" dirty="0"/>
              <a:t> and the cyclic prefix length as </a:t>
            </a:r>
            <a:r>
              <a:rPr lang="en-US" altLang="en-US" sz="1600" b="1" dirty="0" err="1" smtClean="0"/>
              <a:t>cycPrefLen</a:t>
            </a:r>
            <a:r>
              <a:rPr lang="en-US" altLang="en-US" sz="1600" dirty="0" err="1" smtClean="0"/>
              <a:t>.Name</a:t>
            </a:r>
            <a:r>
              <a:rPr lang="en-US" altLang="en-US" sz="1600" dirty="0" smtClean="0"/>
              <a:t> </a:t>
            </a:r>
            <a:r>
              <a:rPr lang="en-US" altLang="en-US" sz="1600" dirty="0"/>
              <a:t>the output signal </a:t>
            </a:r>
            <a:r>
              <a:rPr lang="en-US" altLang="en-US" sz="1600" b="1" dirty="0"/>
              <a:t>ofdmDemodOut</a:t>
            </a:r>
            <a:r>
              <a:rPr lang="en-US" altLang="en-US" sz="1600" b="1" dirty="0" smtClean="0"/>
              <a:t>.</a:t>
            </a:r>
          </a:p>
          <a:p>
            <a:pPr>
              <a:buClrTx/>
            </a:pPr>
            <a:endParaRPr lang="en-US" altLang="en-US" sz="1600" dirty="0"/>
          </a:p>
          <a:p>
            <a:pPr>
              <a:buClrTx/>
            </a:pPr>
            <a:r>
              <a:rPr lang="en-US" altLang="en-US" sz="1600" dirty="0"/>
              <a:t>Create a </a:t>
            </a:r>
            <a:r>
              <a:rPr lang="en-US" altLang="en-US" sz="1600" b="1" dirty="0"/>
              <a:t>scatter plot </a:t>
            </a:r>
            <a:r>
              <a:rPr lang="en-US" altLang="en-US" sz="1600" dirty="0"/>
              <a:t>of the OFDM demodulator output</a:t>
            </a:r>
            <a:r>
              <a:rPr lang="en-US" altLang="en-US" sz="1600" dirty="0" smtClean="0"/>
              <a:t>.</a:t>
            </a:r>
          </a:p>
          <a:p>
            <a:pPr>
              <a:buClrTx/>
            </a:pPr>
            <a:endParaRPr lang="en-US" altLang="en-US" sz="1600" dirty="0" smtClean="0">
              <a:solidFill>
                <a:srgbClr val="0070C0"/>
              </a:solidFill>
            </a:endParaRPr>
          </a:p>
          <a:p>
            <a:pPr marL="109728" indent="0">
              <a:buClrTx/>
              <a:buNone/>
            </a:pPr>
            <a:r>
              <a:rPr lang="en-US" altLang="en-US" sz="1600" b="1" dirty="0">
                <a:solidFill>
                  <a:srgbClr val="0070C0"/>
                </a:solidFill>
              </a:rPr>
              <a:t>ofdmDemodOut = </a:t>
            </a:r>
            <a:r>
              <a:rPr lang="en-US" altLang="en-US" sz="1600" b="1" dirty="0" err="1">
                <a:solidFill>
                  <a:srgbClr val="0070C0"/>
                </a:solidFill>
              </a:rPr>
              <a:t>ofdmdemod</a:t>
            </a:r>
            <a:r>
              <a:rPr lang="en-US" altLang="en-US" sz="1600" b="1" dirty="0">
                <a:solidFill>
                  <a:srgbClr val="0070C0"/>
                </a:solidFill>
              </a:rPr>
              <a:t>(</a:t>
            </a:r>
            <a:r>
              <a:rPr lang="en-US" altLang="en-US" sz="1600" b="1" dirty="0" err="1">
                <a:solidFill>
                  <a:srgbClr val="0070C0"/>
                </a:solidFill>
              </a:rPr>
              <a:t>chanOut,numCarr,cycPrefLen</a:t>
            </a:r>
            <a:r>
              <a:rPr lang="en-US" altLang="en-US" sz="1600" b="1" dirty="0" smtClean="0">
                <a:solidFill>
                  <a:srgbClr val="0070C0"/>
                </a:solidFill>
              </a:rPr>
              <a:t>);</a:t>
            </a:r>
          </a:p>
          <a:p>
            <a:pPr marL="109728" indent="0">
              <a:buClrTx/>
              <a:buNone/>
            </a:pPr>
            <a:r>
              <a:rPr lang="en-US" altLang="en-US" sz="1600" b="1" dirty="0" smtClean="0">
                <a:solidFill>
                  <a:srgbClr val="0070C0"/>
                </a:solidFill>
              </a:rPr>
              <a:t>scatterplot(</a:t>
            </a:r>
            <a:r>
              <a:rPr lang="en-US" altLang="en-US" sz="1600" b="1" dirty="0" err="1" smtClean="0">
                <a:solidFill>
                  <a:srgbClr val="0070C0"/>
                </a:solidFill>
              </a:rPr>
              <a:t>ofdmDemodOut</a:t>
            </a:r>
            <a:r>
              <a:rPr lang="en-US" altLang="en-US" sz="1600" b="1" dirty="0">
                <a:solidFill>
                  <a:srgbClr val="0070C0"/>
                </a:solidFill>
              </a:rPr>
              <a:t>)</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68636" t="40808" r="4697" b="11381"/>
          <a:stretch/>
        </p:blipFill>
        <p:spPr>
          <a:xfrm>
            <a:off x="8072583" y="2797570"/>
            <a:ext cx="3916218" cy="3949594"/>
          </a:xfrm>
          <a:prstGeom prst="rect">
            <a:avLst/>
          </a:prstGeom>
        </p:spPr>
      </p:pic>
    </p:spTree>
    <p:extLst>
      <p:ext uri="{BB962C8B-B14F-4D97-AF65-F5344CB8AC3E}">
        <p14:creationId xmlns:p14="http://schemas.microsoft.com/office/powerpoint/2010/main" val="408769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en-US" altLang="en-US" sz="4000" dirty="0" smtClean="0"/>
              <a:t/>
            </a:r>
            <a:br>
              <a:rPr lang="en-US" altLang="en-US" sz="4000" dirty="0" smtClean="0"/>
            </a:br>
            <a:endParaRPr lang="en-US" altLang="en-US" sz="4000" dirty="0" smtClean="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30757" t="40404" r="31137" b="23637"/>
          <a:stretch/>
        </p:blipFill>
        <p:spPr>
          <a:xfrm>
            <a:off x="694689" y="905163"/>
            <a:ext cx="10470112" cy="4775201"/>
          </a:xfrm>
          <a:prstGeom prst="rect">
            <a:avLst/>
          </a:prstGeom>
        </p:spPr>
      </p:pic>
    </p:spTree>
    <p:extLst>
      <p:ext uri="{BB962C8B-B14F-4D97-AF65-F5344CB8AC3E}">
        <p14:creationId xmlns:p14="http://schemas.microsoft.com/office/powerpoint/2010/main" val="153925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40145" y="668917"/>
            <a:ext cx="12071928" cy="3329709"/>
          </a:xfrm>
        </p:spPr>
        <p:txBody>
          <a:bodyPr>
            <a:noAutofit/>
          </a:bodyPr>
          <a:lstStyle/>
          <a:p>
            <a:pPr marL="109728" indent="0">
              <a:buClrTx/>
              <a:buNone/>
            </a:pPr>
            <a:r>
              <a:rPr lang="en-US" altLang="en-US" sz="1600" b="1" dirty="0" smtClean="0">
                <a:solidFill>
                  <a:srgbClr val="FF0000"/>
                </a:solidFill>
              </a:rPr>
              <a:t>   Background</a:t>
            </a:r>
            <a:endParaRPr lang="en-US" altLang="en-US" sz="1600" b="1" dirty="0">
              <a:solidFill>
                <a:srgbClr val="FF0000"/>
              </a:solidFill>
            </a:endParaRPr>
          </a:p>
          <a:p>
            <a:pPr>
              <a:buClrTx/>
            </a:pPr>
            <a:r>
              <a:rPr lang="en-US" altLang="en-US" sz="1600" dirty="0"/>
              <a:t>The equalization happens in the </a:t>
            </a:r>
            <a:r>
              <a:rPr lang="en-US" altLang="en-US" sz="1600" b="1" dirty="0"/>
              <a:t>frequency domain</a:t>
            </a:r>
            <a:r>
              <a:rPr lang="en-US" altLang="en-US" sz="1600" dirty="0"/>
              <a:t>, so you need to </a:t>
            </a:r>
            <a:r>
              <a:rPr lang="en-US" altLang="en-US" sz="1600" b="1" dirty="0"/>
              <a:t>transform</a:t>
            </a:r>
            <a:r>
              <a:rPr lang="en-US" altLang="en-US" sz="1600" dirty="0"/>
              <a:t> the channel impulse response using the </a:t>
            </a:r>
            <a:r>
              <a:rPr lang="en-US" altLang="en-US" sz="1600" b="1" dirty="0" err="1"/>
              <a:t>fft</a:t>
            </a:r>
            <a:r>
              <a:rPr lang="en-US" altLang="en-US" sz="1600" b="1" dirty="0"/>
              <a:t> function</a:t>
            </a:r>
            <a:r>
              <a:rPr lang="en-US" altLang="en-US" sz="1600" dirty="0"/>
              <a:t>. Set the FFT size by passing it as a second input</a:t>
            </a:r>
            <a:r>
              <a:rPr lang="en-US" altLang="en-US" sz="1600" dirty="0" smtClean="0"/>
              <a:t>.</a:t>
            </a:r>
          </a:p>
          <a:p>
            <a:pPr marL="109728" indent="0">
              <a:buClrTx/>
              <a:buNone/>
            </a:pPr>
            <a:endParaRPr lang="en-US" altLang="en-US" sz="1600" dirty="0" smtClean="0"/>
          </a:p>
          <a:p>
            <a:pPr marL="109728" indent="0">
              <a:buClrTx/>
              <a:buNone/>
            </a:pPr>
            <a:r>
              <a:rPr lang="en-US" altLang="en-US" sz="1600" b="1" dirty="0" smtClean="0"/>
              <a:t>     </a:t>
            </a:r>
            <a:r>
              <a:rPr lang="en-US" altLang="en-US" sz="1600" b="1" dirty="0" err="1" smtClean="0"/>
              <a:t>fft</a:t>
            </a:r>
            <a:r>
              <a:rPr lang="en-US" altLang="en-US" sz="1600" b="1" dirty="0" smtClean="0"/>
              <a:t>(</a:t>
            </a:r>
            <a:r>
              <a:rPr lang="en-US" altLang="en-US" sz="1600" b="1" dirty="0" err="1" smtClean="0"/>
              <a:t>mpChan,numCarr</a:t>
            </a:r>
            <a:r>
              <a:rPr lang="en-US" altLang="en-US" sz="1600" b="1" dirty="0"/>
              <a:t>)</a:t>
            </a:r>
          </a:p>
          <a:p>
            <a:pPr>
              <a:buClrTx/>
            </a:pPr>
            <a:endParaRPr lang="en-US" altLang="en-US" sz="1600" dirty="0"/>
          </a:p>
          <a:p>
            <a:pPr>
              <a:buClrTx/>
            </a:pPr>
            <a:r>
              <a:rPr lang="en-US" altLang="en-US" sz="1600" dirty="0"/>
              <a:t>The </a:t>
            </a:r>
            <a:r>
              <a:rPr lang="en-US" altLang="en-US" sz="1600" b="1" dirty="0" err="1"/>
              <a:t>fft</a:t>
            </a:r>
            <a:r>
              <a:rPr lang="en-US" altLang="en-US" sz="1600" b="1" dirty="0"/>
              <a:t> function </a:t>
            </a:r>
            <a:r>
              <a:rPr lang="en-US" altLang="en-US" sz="1600" dirty="0"/>
              <a:t>output starts with the </a:t>
            </a:r>
            <a:r>
              <a:rPr lang="en-US" altLang="en-US" sz="1600" b="1" dirty="0"/>
              <a:t>zero-frequency component</a:t>
            </a:r>
            <a:r>
              <a:rPr lang="en-US" altLang="en-US" sz="1600" dirty="0"/>
              <a:t>, but the </a:t>
            </a:r>
            <a:r>
              <a:rPr lang="en-US" altLang="en-US" sz="1600" b="1" dirty="0" err="1"/>
              <a:t>ofdmdemod</a:t>
            </a:r>
            <a:r>
              <a:rPr lang="en-US" altLang="en-US" sz="1600" dirty="0"/>
              <a:t> function specifies the zero-frequency component in the </a:t>
            </a:r>
            <a:r>
              <a:rPr lang="en-US" altLang="en-US" sz="1600" b="1" dirty="0"/>
              <a:t>middle of the frequency range</a:t>
            </a:r>
            <a:r>
              <a:rPr lang="en-US" altLang="en-US" sz="1600" dirty="0"/>
              <a:t>. Use </a:t>
            </a:r>
            <a:r>
              <a:rPr lang="en-US" altLang="en-US" sz="1600" b="1" dirty="0" err="1"/>
              <a:t>fftshift</a:t>
            </a:r>
            <a:r>
              <a:rPr lang="en-US" altLang="en-US" sz="1600" dirty="0"/>
              <a:t> to shift the channel's spectrum so the zero-frequency component is in the center.</a:t>
            </a:r>
          </a:p>
          <a:p>
            <a:pPr>
              <a:buClrTx/>
            </a:pPr>
            <a:endParaRPr lang="en-US" altLang="en-US" sz="1600" dirty="0"/>
          </a:p>
          <a:p>
            <a:pPr marL="109728" indent="0">
              <a:buClrTx/>
              <a:buNone/>
            </a:pPr>
            <a:r>
              <a:rPr lang="en-US" altLang="en-US" sz="1600" b="1" dirty="0" smtClean="0"/>
              <a:t>    </a:t>
            </a:r>
            <a:r>
              <a:rPr lang="en-US" altLang="en-US" sz="1600" b="1" dirty="0" err="1" smtClean="0"/>
              <a:t>fftshift</a:t>
            </a:r>
            <a:r>
              <a:rPr lang="en-US" altLang="en-US" sz="1600" b="1" dirty="0" smtClean="0"/>
              <a:t>(</a:t>
            </a:r>
            <a:r>
              <a:rPr lang="en-US" altLang="en-US" sz="1600" b="1" dirty="0" err="1" smtClean="0"/>
              <a:t>fft</a:t>
            </a:r>
            <a:r>
              <a:rPr lang="en-US" altLang="en-US" sz="1600" b="1" dirty="0" smtClean="0"/>
              <a:t>(</a:t>
            </a:r>
            <a:r>
              <a:rPr lang="en-US" altLang="en-US" sz="1600" b="1" dirty="0" err="1" smtClean="0"/>
              <a:t>mpChan,numCarr</a:t>
            </a:r>
            <a:r>
              <a:rPr lang="en-US" altLang="en-US" sz="1600" b="1" dirty="0" smtClean="0"/>
              <a:t>))</a:t>
            </a:r>
          </a:p>
          <a:p>
            <a:pPr marL="109728" indent="0">
              <a:buClrTx/>
              <a:buNone/>
            </a:pPr>
            <a:endParaRPr lang="en-US" altLang="en-US" sz="1600" b="1" dirty="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Transform the multipath channel impulse response </a:t>
            </a:r>
            <a:r>
              <a:rPr lang="en-US" altLang="en-US" sz="1600" b="1" dirty="0" err="1"/>
              <a:t>mpChan</a:t>
            </a:r>
            <a:r>
              <a:rPr lang="en-US" altLang="en-US" sz="1600" dirty="0"/>
              <a:t> to the frequency domain, with the zero-frequency </a:t>
            </a:r>
            <a:r>
              <a:rPr lang="en-US" altLang="en-US" sz="1600" dirty="0" smtClean="0"/>
              <a:t>component </a:t>
            </a:r>
            <a:r>
              <a:rPr lang="en-US" altLang="en-US" sz="1600" dirty="0"/>
              <a:t>in the center of the frequency range. Name the result </a:t>
            </a:r>
            <a:r>
              <a:rPr lang="en-US" altLang="en-US" sz="1600" b="1" dirty="0" err="1"/>
              <a:t>mpChanFreq</a:t>
            </a:r>
            <a:r>
              <a:rPr lang="en-US" altLang="en-US" sz="1600" dirty="0" smtClean="0"/>
              <a:t>.</a:t>
            </a:r>
          </a:p>
          <a:p>
            <a:pPr>
              <a:buClrTx/>
            </a:pPr>
            <a:endParaRPr lang="en-US" altLang="en-US" sz="1600" dirty="0" smtClean="0"/>
          </a:p>
          <a:p>
            <a:pPr marL="109728" indent="0">
              <a:buClrTx/>
              <a:buNone/>
            </a:pPr>
            <a:r>
              <a:rPr lang="en-US" altLang="en-US" sz="1600" b="1" dirty="0" smtClean="0">
                <a:solidFill>
                  <a:srgbClr val="0070C0"/>
                </a:solidFill>
              </a:rPr>
              <a:t>        </a:t>
            </a:r>
            <a:r>
              <a:rPr lang="en-US" altLang="en-US" sz="1600" b="1" dirty="0" err="1" smtClean="0">
                <a:solidFill>
                  <a:srgbClr val="0070C0"/>
                </a:solidFill>
              </a:rPr>
              <a:t>mpChanFreq</a:t>
            </a:r>
            <a:r>
              <a:rPr lang="en-US" altLang="en-US" sz="1600" b="1" dirty="0" smtClean="0">
                <a:solidFill>
                  <a:srgbClr val="0070C0"/>
                </a:solidFill>
              </a:rPr>
              <a:t> </a:t>
            </a:r>
            <a:r>
              <a:rPr lang="en-US" altLang="en-US" sz="1600" b="1" dirty="0">
                <a:solidFill>
                  <a:srgbClr val="0070C0"/>
                </a:solidFill>
              </a:rPr>
              <a:t>= </a:t>
            </a:r>
            <a:r>
              <a:rPr lang="en-US" altLang="en-US" sz="1600" b="1" dirty="0" err="1">
                <a:solidFill>
                  <a:srgbClr val="0070C0"/>
                </a:solidFill>
              </a:rPr>
              <a:t>fftshift</a:t>
            </a:r>
            <a:r>
              <a:rPr lang="en-US" altLang="en-US" sz="1600" b="1" dirty="0">
                <a:solidFill>
                  <a:srgbClr val="0070C0"/>
                </a:solidFill>
              </a:rPr>
              <a:t>(</a:t>
            </a:r>
            <a:r>
              <a:rPr lang="en-US" altLang="en-US" sz="1600" b="1" dirty="0" err="1">
                <a:solidFill>
                  <a:srgbClr val="0070C0"/>
                </a:solidFill>
              </a:rPr>
              <a:t>fft</a:t>
            </a:r>
            <a:r>
              <a:rPr lang="en-US" altLang="en-US" sz="1600" b="1" dirty="0">
                <a:solidFill>
                  <a:srgbClr val="0070C0"/>
                </a:solidFill>
              </a:rPr>
              <a:t>(</a:t>
            </a:r>
            <a:r>
              <a:rPr lang="en-US" altLang="en-US" sz="1600" b="1" dirty="0" err="1">
                <a:solidFill>
                  <a:srgbClr val="0070C0"/>
                </a:solidFill>
              </a:rPr>
              <a:t>mpChan,numCarr</a:t>
            </a:r>
            <a:r>
              <a:rPr lang="en-US" altLang="en-US" sz="1600" b="1" dirty="0">
                <a:solidFill>
                  <a:srgbClr val="0070C0"/>
                </a:solidFill>
              </a:rPr>
              <a:t>));</a:t>
            </a:r>
            <a:endParaRPr lang="en-US" altLang="en-US" sz="1600" b="1" dirty="0" smtClean="0">
              <a:solidFill>
                <a:srgbClr val="0070C0"/>
              </a:solidFill>
            </a:endParaRPr>
          </a:p>
          <a:p>
            <a:pPr>
              <a:buClrTx/>
            </a:pPr>
            <a:endParaRPr lang="en-US" altLang="en-US" sz="1600" b="1" dirty="0">
              <a:solidFill>
                <a:srgbClr val="00B0F0"/>
              </a:solidFill>
            </a:endParaRPr>
          </a:p>
        </p:txBody>
      </p:sp>
    </p:spTree>
    <p:extLst>
      <p:ext uri="{BB962C8B-B14F-4D97-AF65-F5344CB8AC3E}">
        <p14:creationId xmlns:p14="http://schemas.microsoft.com/office/powerpoint/2010/main" val="333894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6" y="0"/>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25318"/>
            <a:ext cx="12071928" cy="3329709"/>
          </a:xfrm>
        </p:spPr>
        <p:txBody>
          <a:bodyPr>
            <a:noAutofit/>
          </a:bodyPr>
          <a:lstStyle/>
          <a:p>
            <a:pPr>
              <a:buClrTx/>
            </a:pPr>
            <a:r>
              <a:rPr lang="en-US" altLang="en-US" sz="1600" dirty="0"/>
              <a:t>Now you're ready to equalize the signal. To do so, divide it by the channel frequency response, element-wise</a:t>
            </a:r>
            <a:r>
              <a:rPr lang="en-US" altLang="en-US" sz="1600" dirty="0" smtClean="0"/>
              <a:t>.</a:t>
            </a:r>
            <a:endParaRPr lang="en-US" altLang="en-US" sz="1600" dirty="0"/>
          </a:p>
          <a:p>
            <a:pPr>
              <a:buClrTx/>
            </a:pPr>
            <a:r>
              <a:rPr lang="en-US" altLang="en-US" sz="1600" dirty="0"/>
              <a:t>Divide the two vectors element-wise using the ./ operator.</a:t>
            </a:r>
          </a:p>
          <a:p>
            <a:pPr marL="109728" indent="0">
              <a:buClrTx/>
              <a:buNone/>
            </a:pPr>
            <a:r>
              <a:rPr lang="en-US" altLang="en-US" sz="1600" b="1" dirty="0" smtClean="0"/>
              <a:t>                   x </a:t>
            </a:r>
            <a:r>
              <a:rPr lang="en-US" altLang="en-US" sz="1600" b="1" dirty="0"/>
              <a:t>./ </a:t>
            </a:r>
            <a:r>
              <a:rPr lang="en-US" altLang="en-US" sz="1600" b="1" dirty="0" smtClean="0"/>
              <a:t>y</a:t>
            </a:r>
            <a:endParaRPr lang="en-US" altLang="en-US" sz="1600" b="1" dirty="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Equalize the signal </a:t>
            </a:r>
            <a:r>
              <a:rPr lang="en-US" altLang="en-US" sz="1600" b="1" dirty="0"/>
              <a:t>ofdmDemodOut</a:t>
            </a:r>
            <a:r>
              <a:rPr lang="en-US" altLang="en-US" sz="1600" dirty="0"/>
              <a:t> by dividing by </a:t>
            </a:r>
            <a:r>
              <a:rPr lang="en-US" altLang="en-US" sz="1600" b="1" dirty="0" err="1"/>
              <a:t>mpChanFreq</a:t>
            </a:r>
            <a:r>
              <a:rPr lang="en-US" altLang="en-US" sz="1600" dirty="0" smtClean="0"/>
              <a:t>.</a:t>
            </a:r>
          </a:p>
          <a:p>
            <a:pPr marL="109728" indent="0">
              <a:buClrTx/>
              <a:buNone/>
            </a:pPr>
            <a:r>
              <a:rPr lang="en-US" altLang="en-US" sz="1600" dirty="0"/>
              <a:t> </a:t>
            </a:r>
            <a:r>
              <a:rPr lang="en-US" altLang="en-US" sz="1600" dirty="0" smtClean="0"/>
              <a:t>    </a:t>
            </a:r>
            <a:r>
              <a:rPr lang="en-US" altLang="en-US" sz="1600" dirty="0"/>
              <a:t>Name the equalized signal </a:t>
            </a:r>
            <a:r>
              <a:rPr lang="en-US" altLang="en-US" sz="1600" b="1" dirty="0" err="1"/>
              <a:t>eqOut</a:t>
            </a:r>
            <a:r>
              <a:rPr lang="en-US" altLang="en-US" sz="1600" dirty="0"/>
              <a:t>.</a:t>
            </a:r>
          </a:p>
          <a:p>
            <a:pPr>
              <a:buClrTx/>
            </a:pPr>
            <a:endParaRPr lang="en-US" altLang="en-US" sz="1600" dirty="0"/>
          </a:p>
          <a:p>
            <a:pPr>
              <a:buClrTx/>
            </a:pPr>
            <a:r>
              <a:rPr lang="en-US" altLang="en-US" sz="1600" dirty="0"/>
              <a:t>Create a scatter plot of the equalized signal</a:t>
            </a:r>
            <a:r>
              <a:rPr lang="en-US" altLang="en-US" sz="1600" dirty="0" smtClean="0"/>
              <a:t>.</a:t>
            </a:r>
          </a:p>
          <a:p>
            <a:pPr>
              <a:buClrTx/>
            </a:pPr>
            <a:endParaRPr lang="en-US" altLang="en-US" sz="1600" dirty="0"/>
          </a:p>
        </p:txBody>
      </p:sp>
      <p:sp>
        <p:nvSpPr>
          <p:cNvPr id="2" name="Rectangle 1"/>
          <p:cNvSpPr>
            <a:spLocks noChangeArrowheads="1"/>
          </p:cNvSpPr>
          <p:nvPr/>
        </p:nvSpPr>
        <p:spPr bwMode="auto">
          <a:xfrm>
            <a:off x="581892" y="2887930"/>
            <a:ext cx="502311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eqOut</a:t>
            </a:r>
            <a:r>
              <a:rPr kumimoji="0" lang="en-US" altLang="en-US" sz="1800" b="1" i="0" u="none" strike="noStrike" cap="none" normalizeH="0" baseline="0" dirty="0" smtClean="0">
                <a:ln>
                  <a:noFill/>
                </a:ln>
                <a:solidFill>
                  <a:schemeClr val="tx1"/>
                </a:solidFill>
                <a:effectLst/>
                <a:latin typeface="Arial" panose="020B0604020202020204" pitchFamily="34" charset="0"/>
              </a:rPr>
              <a:t> = ofdmDemodOut ./ </a:t>
            </a:r>
            <a:r>
              <a:rPr kumimoji="0" lang="en-US" altLang="en-US" sz="1800" b="1" i="0" u="none" strike="noStrike" cap="none" normalizeH="0" baseline="0" dirty="0" err="1" smtClean="0">
                <a:ln>
                  <a:noFill/>
                </a:ln>
                <a:solidFill>
                  <a:schemeClr val="tx1"/>
                </a:solidFill>
                <a:effectLst/>
                <a:latin typeface="Arial" panose="020B0604020202020204" pitchFamily="34" charset="0"/>
              </a:rPr>
              <a:t>mpChanFreq</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scatterplot(</a:t>
            </a:r>
            <a:r>
              <a:rPr kumimoji="0" lang="en-US" altLang="en-US" sz="1800" b="1" i="0" u="none" strike="noStrike" cap="none" normalizeH="0" baseline="0" dirty="0" err="1" smtClean="0">
                <a:ln>
                  <a:noFill/>
                </a:ln>
                <a:solidFill>
                  <a:schemeClr val="tx1"/>
                </a:solidFill>
                <a:effectLst/>
                <a:latin typeface="Arial" panose="020B0604020202020204" pitchFamily="34" charset="0"/>
              </a:rPr>
              <a:t>eqOut</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title(</a:t>
            </a:r>
            <a:r>
              <a:rPr kumimoji="0" lang="en-US" altLang="en-US" sz="1800" b="1" i="0" u="none" strike="noStrike" cap="none" normalizeH="0" baseline="0" dirty="0" smtClean="0">
                <a:ln>
                  <a:noFill/>
                </a:ln>
                <a:solidFill>
                  <a:srgbClr val="A709F5"/>
                </a:solidFill>
                <a:effectLst/>
                <a:latin typeface="Arial" panose="020B0604020202020204" pitchFamily="34" charset="0"/>
              </a:rPr>
              <a:t>"Frequency Domain Equalizer Output"</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p:txBody>
      </p:sp>
      <p:sp>
        <p:nvSpPr>
          <p:cNvPr id="3" name="Rectangle 2"/>
          <p:cNvSpPr>
            <a:spLocks noChangeArrowheads="1"/>
          </p:cNvSpPr>
          <p:nvPr/>
        </p:nvSpPr>
        <p:spPr bwMode="auto">
          <a:xfrm>
            <a:off x="0" y="4058612"/>
            <a:ext cx="12071927" cy="2563500"/>
          </a:xfrm>
          <a:prstGeom prst="rect">
            <a:avLst/>
          </a:prstGeom>
          <a:solidFill>
            <a:schemeClr val="bg1"/>
          </a:solidFill>
          <a:ln>
            <a:noFill/>
          </a:ln>
          <a:effectLst/>
        </p:spPr>
        <p:txBody>
          <a:bodyPr vert="horz" wrap="squar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accent3"/>
                </a:solidFill>
                <a:effectLst/>
                <a:latin typeface="Helvetica" panose="020B0604020202020204" pitchFamily="34" charset="0"/>
              </a:rPr>
              <a:t>Demodulate back into bits, then calculate the BER.</a:t>
            </a:r>
            <a:endParaRPr kumimoji="0" lang="en-US" altLang="en-US" sz="1800" b="1"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eqOut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6</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(eqOut,</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r>
              <a:rPr lang="en-US" altLang="en-US" dirty="0">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numBitErrors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numBitErrors/</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p>
          <a:p>
            <a:pPr lvl="0" algn="ctr" eaLnBrk="0" fontAlgn="base" hangingPunct="0">
              <a:spcBef>
                <a:spcPct val="0"/>
              </a:spcBef>
              <a:spcAft>
                <a:spcPct val="0"/>
              </a:spcAft>
            </a:pPr>
            <a:r>
              <a:rPr lang="en-US" altLang="en-US" dirty="0" smtClean="0">
                <a:solidFill>
                  <a:srgbClr val="FF0000"/>
                </a:solidFill>
                <a:latin typeface="Arial" panose="020B0604020202020204" pitchFamily="34" charset="0"/>
              </a:rPr>
              <a:t>                                                                                                     numBitErrors = 1312</a:t>
            </a:r>
          </a:p>
          <a:p>
            <a:pPr lvl="0" algn="ctr" eaLnBrk="0" fontAlgn="base" hangingPunct="0">
              <a:spcBef>
                <a:spcPct val="0"/>
              </a:spcBef>
              <a:spcAft>
                <a:spcPct val="0"/>
              </a:spcAft>
            </a:pPr>
            <a:r>
              <a:rPr lang="en-US" altLang="en-US" dirty="0" smtClean="0">
                <a:solidFill>
                  <a:srgbClr val="FF0000"/>
                </a:solidFill>
                <a:latin typeface="Arial" panose="020B0604020202020204" pitchFamily="34" charset="0"/>
              </a:rPr>
              <a:t>                                                                                            BER = 0.0400</a:t>
            </a:r>
            <a:endParaRPr lang="en-US" altLang="en-US" dirty="0">
              <a:solidFill>
                <a:srgbClr val="FF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68636" t="41751" r="4849" b="10841"/>
          <a:stretch/>
        </p:blipFill>
        <p:spPr>
          <a:xfrm>
            <a:off x="7913482" y="875784"/>
            <a:ext cx="4001428" cy="4024292"/>
          </a:xfrm>
          <a:prstGeom prst="rect">
            <a:avLst/>
          </a:prstGeom>
        </p:spPr>
      </p:pic>
    </p:spTree>
    <p:extLst>
      <p:ext uri="{BB962C8B-B14F-4D97-AF65-F5344CB8AC3E}">
        <p14:creationId xmlns:p14="http://schemas.microsoft.com/office/powerpoint/2010/main" val="194395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237" y="819584"/>
            <a:ext cx="12182763" cy="1143000"/>
          </a:xfrm>
        </p:spPr>
        <p:txBody>
          <a:bodyPr>
            <a:normAutofit fontScale="90000"/>
          </a:bodyPr>
          <a:lstStyle/>
          <a:p>
            <a:pPr algn="ctr"/>
            <a:r>
              <a:rPr lang="en-US" sz="4900" dirty="0">
                <a:solidFill>
                  <a:srgbClr val="FF0000"/>
                </a:solidFill>
                <a:latin typeface="Arial" panose="020B0604020202020204" pitchFamily="34" charset="0"/>
                <a:cs typeface="Arial" panose="020B0604020202020204" pitchFamily="34" charset="0"/>
              </a:rPr>
              <a:t/>
            </a:r>
            <a:br>
              <a:rPr lang="en-US" sz="4900" dirty="0">
                <a:solidFill>
                  <a:srgbClr val="FF0000"/>
                </a:solidFill>
                <a:latin typeface="Arial" panose="020B0604020202020204" pitchFamily="34" charset="0"/>
                <a:cs typeface="Arial" panose="020B0604020202020204" pitchFamily="34" charset="0"/>
              </a:rPr>
            </a:br>
            <a:r>
              <a:rPr lang="en-US" sz="5400" dirty="0" smtClean="0">
                <a:solidFill>
                  <a:srgbClr val="FF0000"/>
                </a:solidFill>
              </a:rPr>
              <a:t/>
            </a:r>
            <a:br>
              <a:rPr lang="en-US" sz="5400" dirty="0" smtClean="0">
                <a:solidFill>
                  <a:srgbClr val="FF0000"/>
                </a:solidFill>
              </a:rPr>
            </a:br>
            <a:r>
              <a:rPr lang="en-US" sz="5400" dirty="0" smtClean="0">
                <a:solidFill>
                  <a:srgbClr val="FF0000"/>
                </a:solidFill>
              </a:rPr>
              <a:t/>
            </a:r>
            <a:br>
              <a:rPr lang="en-US" sz="5400" dirty="0" smtClean="0">
                <a:solidFill>
                  <a:srgbClr val="FF0000"/>
                </a:solidFill>
              </a:rPr>
            </a:br>
            <a:r>
              <a:rPr lang="en-US" sz="4400" dirty="0">
                <a:solidFill>
                  <a:schemeClr val="tx1"/>
                </a:solidFill>
              </a:rPr>
              <a:t>Null Subcarriers</a:t>
            </a:r>
            <a:r>
              <a:rPr lang="en-US" sz="4400" dirty="0" smtClean="0">
                <a:solidFill>
                  <a:schemeClr val="tx1"/>
                </a:solidFill>
              </a:rPr>
              <a:t/>
            </a:r>
            <a:br>
              <a:rPr lang="en-US" sz="4400" dirty="0" smtClean="0">
                <a:solidFill>
                  <a:schemeClr val="tx1"/>
                </a:solidFill>
              </a:rPr>
            </a:br>
            <a:endParaRPr lang="en-US" sz="4400" dirty="0">
              <a:solidFill>
                <a:srgbClr val="FF0000"/>
              </a:solidFill>
            </a:endParaRPr>
          </a:p>
        </p:txBody>
      </p:sp>
    </p:spTree>
    <p:extLst>
      <p:ext uri="{BB962C8B-B14F-4D97-AF65-F5344CB8AC3E}">
        <p14:creationId xmlns:p14="http://schemas.microsoft.com/office/powerpoint/2010/main" val="17515851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7122" t="21818" r="28939" b="13132"/>
          <a:stretch/>
        </p:blipFill>
        <p:spPr>
          <a:xfrm>
            <a:off x="1523999" y="147781"/>
            <a:ext cx="7943273" cy="6614831"/>
          </a:xfrm>
          <a:prstGeom prst="rect">
            <a:avLst/>
          </a:prstGeom>
        </p:spPr>
      </p:pic>
    </p:spTree>
    <p:extLst>
      <p:ext uri="{BB962C8B-B14F-4D97-AF65-F5344CB8AC3E}">
        <p14:creationId xmlns:p14="http://schemas.microsoft.com/office/powerpoint/2010/main" val="39176299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2" name="Rectangle 1"/>
          <p:cNvSpPr>
            <a:spLocks noChangeArrowheads="1"/>
          </p:cNvSpPr>
          <p:nvPr/>
        </p:nvSpPr>
        <p:spPr bwMode="auto">
          <a:xfrm>
            <a:off x="674253" y="1132325"/>
            <a:ext cx="9993746" cy="3706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rgbClr val="C04C0B"/>
                </a:solidFill>
                <a:effectLst/>
                <a:latin typeface="Helvetica" panose="020B0604020202020204" pitchFamily="34" charset="0"/>
              </a:rPr>
              <a:t>Null Subcarriers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Helvetica" panose="020B0604020202020204" pitchFamily="34" charset="0"/>
              </a:rPr>
              <a:t>This code sets the simulation parameters.</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2000" b="0" i="0" u="none" strike="noStrike" cap="none" normalizeH="0" baseline="0" dirty="0" smtClean="0">
                <a:ln>
                  <a:noFill/>
                </a:ln>
                <a:solidFill>
                  <a:schemeClr val="tx1"/>
                </a:solidFill>
                <a:effectLst/>
                <a:latin typeface="Arial" panose="020B0604020202020204" pitchFamily="34" charset="0"/>
              </a:rPr>
              <a:t> = 16; </a:t>
            </a:r>
            <a:r>
              <a:rPr kumimoji="0" lang="en-US" altLang="en-US" sz="2000" b="0" i="0" u="none" strike="noStrike" cap="none" normalizeH="0" baseline="0" dirty="0" smtClean="0">
                <a:ln>
                  <a:noFill/>
                </a:ln>
                <a:solidFill>
                  <a:srgbClr val="008013"/>
                </a:solidFill>
                <a:effectLst/>
                <a:latin typeface="Arial" panose="020B0604020202020204" pitchFamily="34" charset="0"/>
              </a:rPr>
              <a:t>% for 16-QAM</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panose="020B0604020202020204" pitchFamily="34" charset="0"/>
              </a:rPr>
              <a:t>bitsPerSymbol</a:t>
            </a:r>
            <a:r>
              <a:rPr kumimoji="0" lang="en-US" altLang="en-US" sz="2000" b="0" i="0" u="none" strike="noStrike" cap="none" normalizeH="0" baseline="0" dirty="0" smtClean="0">
                <a:ln>
                  <a:noFill/>
                </a:ln>
                <a:solidFill>
                  <a:schemeClr val="tx1"/>
                </a:solidFill>
                <a:effectLst/>
                <a:latin typeface="Arial" panose="020B0604020202020204" pitchFamily="34" charset="0"/>
              </a:rPr>
              <a:t> = log2(</a:t>
            </a:r>
            <a:r>
              <a:rPr kumimoji="0" lang="en-US" altLang="en-US" sz="20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rgbClr val="008013"/>
                </a:solidFill>
                <a:effectLst/>
                <a:latin typeface="Arial" panose="020B0604020202020204" pitchFamily="34" charset="0"/>
              </a:rPr>
              <a:t>% </a:t>
            </a:r>
            <a:r>
              <a:rPr kumimoji="0" lang="en-US" altLang="en-US" sz="2000" b="0" i="0" u="none" strike="noStrike" cap="none" normalizeH="0" baseline="0" dirty="0" err="1" smtClean="0">
                <a:ln>
                  <a:noFill/>
                </a:ln>
                <a:solidFill>
                  <a:srgbClr val="008013"/>
                </a:solidFill>
                <a:effectLst/>
                <a:latin typeface="Arial" panose="020B0604020202020204" pitchFamily="34" charset="0"/>
              </a:rPr>
              <a:t>modOrder</a:t>
            </a:r>
            <a:r>
              <a:rPr kumimoji="0" lang="en-US" altLang="en-US" sz="2000" b="0" i="0" u="none" strike="noStrike" cap="none" normalizeH="0" baseline="0" dirty="0" smtClean="0">
                <a:ln>
                  <a:noFill/>
                </a:ln>
                <a:solidFill>
                  <a:srgbClr val="008013"/>
                </a:solidFill>
                <a:effectLst/>
                <a:latin typeface="Arial" panose="020B0604020202020204" pitchFamily="34" charset="0"/>
              </a:rPr>
              <a:t> = 2^bitsPerSymbol</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panose="020B0604020202020204" pitchFamily="34" charset="0"/>
              </a:rPr>
              <a:t>mpChan</a:t>
            </a:r>
            <a:r>
              <a:rPr kumimoji="0" lang="en-US" altLang="en-US" sz="2000" b="0" i="0" u="none" strike="noStrike" cap="none" normalizeH="0" baseline="0" dirty="0" smtClean="0">
                <a:ln>
                  <a:noFill/>
                </a:ln>
                <a:solidFill>
                  <a:schemeClr val="tx1"/>
                </a:solidFill>
                <a:effectLst/>
                <a:latin typeface="Arial" panose="020B0604020202020204" pitchFamily="34" charset="0"/>
              </a:rPr>
              <a:t> = [0.8; zeros(7,1); -0.5; zeros(7,1); 0.34]; </a:t>
            </a:r>
            <a:r>
              <a:rPr kumimoji="0" lang="en-US" altLang="en-US" sz="2000" b="0" i="0" u="none" strike="noStrike" cap="none" normalizeH="0" baseline="0" dirty="0" smtClean="0">
                <a:ln>
                  <a:noFill/>
                </a:ln>
                <a:solidFill>
                  <a:srgbClr val="008013"/>
                </a:solidFill>
                <a:effectLst/>
                <a:latin typeface="Arial" panose="020B0604020202020204" pitchFamily="34" charset="0"/>
              </a:rPr>
              <a:t>% multipath channel</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SNR = 15 </a:t>
            </a:r>
            <a:r>
              <a:rPr kumimoji="0" lang="en-US" altLang="en-US" sz="2000" b="0" i="0" u="none" strike="noStrike" cap="none" normalizeH="0" baseline="0" dirty="0" smtClean="0">
                <a:ln>
                  <a:noFill/>
                </a:ln>
                <a:solidFill>
                  <a:srgbClr val="008013"/>
                </a:solidFill>
                <a:effectLst/>
                <a:latin typeface="Arial" panose="020B0604020202020204" pitchFamily="34" charset="0"/>
              </a:rPr>
              <a:t>% dB, signal-to-noise ratio of AWGN</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numCarr = 8192; </a:t>
            </a:r>
            <a:r>
              <a:rPr kumimoji="0" lang="en-US" altLang="en-US" sz="2000" b="0" i="0" u="none" strike="noStrike" cap="none" normalizeH="0" baseline="0" dirty="0" smtClean="0">
                <a:ln>
                  <a:noFill/>
                </a:ln>
                <a:solidFill>
                  <a:srgbClr val="008013"/>
                </a:solidFill>
                <a:effectLst/>
                <a:latin typeface="Arial" panose="020B0604020202020204" pitchFamily="34" charset="0"/>
              </a:rPr>
              <a:t>% number of subcarriers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panose="020B0604020202020204" pitchFamily="34" charset="0"/>
              </a:rPr>
              <a:t>cycPrefLen</a:t>
            </a:r>
            <a:r>
              <a:rPr kumimoji="0" lang="en-US" altLang="en-US" sz="2000" b="0" i="0" u="none" strike="noStrike" cap="none" normalizeH="0" baseline="0" dirty="0" smtClean="0">
                <a:ln>
                  <a:noFill/>
                </a:ln>
                <a:solidFill>
                  <a:schemeClr val="tx1"/>
                </a:solidFill>
                <a:effectLst/>
                <a:latin typeface="Arial" panose="020B0604020202020204" pitchFamily="34" charset="0"/>
              </a:rPr>
              <a:t> = 32; </a:t>
            </a:r>
            <a:r>
              <a:rPr kumimoji="0" lang="en-US" altLang="en-US" sz="2000" b="0" i="0" u="none" strike="noStrike" cap="none" normalizeH="0" baseline="0" dirty="0" smtClean="0">
                <a:ln>
                  <a:noFill/>
                </a:ln>
                <a:solidFill>
                  <a:srgbClr val="008013"/>
                </a:solidFill>
                <a:effectLst/>
                <a:latin typeface="Arial" panose="020B0604020202020204" pitchFamily="34" charset="0"/>
              </a:rPr>
              <a:t>% cyclic prefix length</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189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19843"/>
            <a:ext cx="11296073" cy="3329709"/>
          </a:xfrm>
        </p:spPr>
        <p:txBody>
          <a:bodyPr>
            <a:noAutofit/>
          </a:bodyPr>
          <a:lstStyle/>
          <a:p>
            <a:pPr marL="109728" indent="0">
              <a:buClrTx/>
              <a:buNone/>
            </a:pPr>
            <a:r>
              <a:rPr lang="en-US" altLang="en-US" sz="1600" b="1" dirty="0"/>
              <a:t>Background</a:t>
            </a:r>
          </a:p>
          <a:p>
            <a:pPr>
              <a:buClrTx/>
            </a:pPr>
            <a:r>
              <a:rPr lang="en-US" altLang="en-US" sz="1600" dirty="0" smtClean="0"/>
              <a:t>In </a:t>
            </a:r>
            <a:r>
              <a:rPr lang="en-US" altLang="en-US" sz="1600" dirty="0"/>
              <a:t>MATLAB, you identify a </a:t>
            </a:r>
            <a:r>
              <a:rPr lang="en-US" altLang="en-US" sz="1600" b="1" dirty="0"/>
              <a:t>subcarrier</a:t>
            </a:r>
            <a:r>
              <a:rPr lang="en-US" altLang="en-US" sz="1600" dirty="0"/>
              <a:t> by its </a:t>
            </a:r>
            <a:r>
              <a:rPr lang="en-US" altLang="en-US" sz="1600" b="1" dirty="0"/>
              <a:t>index</a:t>
            </a:r>
            <a:r>
              <a:rPr lang="en-US" altLang="en-US" sz="1600" dirty="0"/>
              <a:t>. The subcarriers are numbered from left to right, starting with </a:t>
            </a:r>
            <a:r>
              <a:rPr lang="en-US" altLang="en-US" sz="1600" b="1" dirty="0"/>
              <a:t>1</a:t>
            </a:r>
            <a:r>
              <a:rPr lang="en-US" altLang="en-US" sz="1600" dirty="0"/>
              <a:t> and ending with </a:t>
            </a:r>
            <a:r>
              <a:rPr lang="en-US" altLang="en-US" sz="1600" b="1" dirty="0"/>
              <a:t>numCarr.</a:t>
            </a:r>
            <a:r>
              <a:rPr lang="en-US" altLang="en-US" sz="1600" dirty="0"/>
              <a:t> The </a:t>
            </a:r>
            <a:r>
              <a:rPr lang="en-US" altLang="en-US" sz="1600" b="1" dirty="0"/>
              <a:t>ofdmmod</a:t>
            </a:r>
            <a:r>
              <a:rPr lang="en-US" altLang="en-US" sz="1600" dirty="0"/>
              <a:t> and </a:t>
            </a:r>
            <a:r>
              <a:rPr lang="en-US" altLang="en-US" sz="1600" b="1" dirty="0" err="1"/>
              <a:t>ofdmdemod</a:t>
            </a:r>
            <a:r>
              <a:rPr lang="en-US" altLang="en-US" sz="1600" dirty="0"/>
              <a:t> functions order the subcarriers from the most negative frequencies to the most positive frequencies, with the zero-frequency component in the middle</a:t>
            </a:r>
            <a:r>
              <a:rPr lang="en-US" altLang="en-US" sz="1600" dirty="0" smtClean="0"/>
              <a:t>.</a:t>
            </a:r>
            <a:endParaRPr lang="en-US" altLang="en-US" sz="1600" dirty="0"/>
          </a:p>
          <a:p>
            <a:pPr>
              <a:buClrTx/>
            </a:pPr>
            <a:r>
              <a:rPr lang="en-US" altLang="en-US" sz="1600" dirty="0"/>
              <a:t>To specify the guard band indices, first set the number of subcarriers in each guard band. Then, you can define the guard band indices using the </a:t>
            </a:r>
            <a:r>
              <a:rPr lang="en-US" altLang="en-US" sz="1600" b="1" dirty="0"/>
              <a:t>: operator</a:t>
            </a:r>
            <a:r>
              <a:rPr lang="en-US" altLang="en-US" sz="1600" dirty="0"/>
              <a:t>. The left guard band indices are defined as follows</a:t>
            </a:r>
            <a:r>
              <a:rPr lang="en-US" altLang="en-US" sz="1600" dirty="0" smtClean="0"/>
              <a:t>.</a:t>
            </a:r>
            <a:endParaRPr lang="en-US" altLang="en-US" sz="1600" dirty="0"/>
          </a:p>
          <a:p>
            <a:pPr marL="109728" indent="0">
              <a:buClrTx/>
              <a:buNone/>
            </a:pPr>
            <a:r>
              <a:rPr lang="en-US" altLang="en-US" sz="1600" b="1" dirty="0" smtClean="0"/>
              <a:t>     1:numGBCarr</a:t>
            </a:r>
            <a:endParaRPr lang="en-US" altLang="en-US" sz="1600" dirty="0"/>
          </a:p>
          <a:p>
            <a:pPr>
              <a:buClrTx/>
            </a:pPr>
            <a:r>
              <a:rPr lang="en-US" altLang="en-US" sz="1600" dirty="0"/>
              <a:t>Similarly, you can define the right guard band indices</a:t>
            </a:r>
            <a:r>
              <a:rPr lang="en-US" altLang="en-US" sz="1600" dirty="0" smtClean="0"/>
              <a:t>.</a:t>
            </a:r>
            <a:endParaRPr lang="en-US" altLang="en-US" sz="1600" dirty="0"/>
          </a:p>
          <a:p>
            <a:pPr marL="109728" indent="0">
              <a:buClrTx/>
              <a:buNone/>
            </a:pPr>
            <a:r>
              <a:rPr lang="en-US" altLang="en-US" sz="1600" dirty="0" smtClean="0"/>
              <a:t>    </a:t>
            </a:r>
            <a:r>
              <a:rPr lang="en-US" altLang="en-US" sz="1600" b="1" dirty="0" smtClean="0"/>
              <a:t>(</a:t>
            </a:r>
            <a:r>
              <a:rPr lang="en-US" altLang="en-US" sz="1600" b="1" dirty="0"/>
              <a:t>numCarr-numGBCarr+1):</a:t>
            </a:r>
            <a:r>
              <a:rPr lang="en-US" altLang="en-US" sz="1600" b="1" dirty="0" smtClean="0"/>
              <a:t>numCarr</a:t>
            </a:r>
          </a:p>
          <a:p>
            <a:pPr marL="109728" indent="0">
              <a:buClrTx/>
              <a:buNone/>
            </a:pPr>
            <a:endParaRPr lang="en-US" altLang="en-US" sz="1600" b="1" dirty="0"/>
          </a:p>
          <a:p>
            <a:pPr marL="109728" indent="0">
              <a:buClrTx/>
              <a:buNone/>
            </a:pPr>
            <a:r>
              <a:rPr lang="en-US" altLang="en-US" sz="1600" b="1" dirty="0">
                <a:solidFill>
                  <a:srgbClr val="FF0000"/>
                </a:solidFill>
              </a:rPr>
              <a:t>TASK</a:t>
            </a:r>
          </a:p>
          <a:p>
            <a:pPr>
              <a:buClrTx/>
            </a:pPr>
            <a:r>
              <a:rPr lang="en-US" altLang="en-US" sz="1600" dirty="0"/>
              <a:t>Define the guard band size as </a:t>
            </a:r>
            <a:r>
              <a:rPr lang="en-US" altLang="en-US" sz="1600" b="1" dirty="0" err="1"/>
              <a:t>numCarr</a:t>
            </a:r>
            <a:r>
              <a:rPr lang="en-US" altLang="en-US" sz="1600" b="1" dirty="0"/>
              <a:t>/16</a:t>
            </a:r>
            <a:r>
              <a:rPr lang="en-US" altLang="en-US" sz="1600" dirty="0"/>
              <a:t> and store it in the variable </a:t>
            </a:r>
            <a:r>
              <a:rPr lang="en-US" altLang="en-US" sz="1600" b="1" dirty="0"/>
              <a:t>numGBCarr</a:t>
            </a:r>
            <a:r>
              <a:rPr lang="en-US" altLang="en-US" sz="1600" dirty="0" smtClean="0"/>
              <a:t>.</a:t>
            </a:r>
            <a:endParaRPr lang="en-US" altLang="en-US" sz="1600" dirty="0"/>
          </a:p>
          <a:p>
            <a:pPr>
              <a:buClrTx/>
            </a:pPr>
            <a:r>
              <a:rPr lang="en-US" altLang="en-US" sz="1600" dirty="0"/>
              <a:t>Define the </a:t>
            </a:r>
            <a:r>
              <a:rPr lang="en-US" altLang="en-US" sz="1600" b="1" dirty="0"/>
              <a:t>left</a:t>
            </a:r>
            <a:r>
              <a:rPr lang="en-US" altLang="en-US" sz="1600" dirty="0"/>
              <a:t> and </a:t>
            </a:r>
            <a:r>
              <a:rPr lang="en-US" altLang="en-US" sz="1600" b="1" dirty="0"/>
              <a:t>right </a:t>
            </a:r>
            <a:r>
              <a:rPr lang="en-US" altLang="en-US" sz="1600" dirty="0"/>
              <a:t>guard band indices and store them in the variables </a:t>
            </a:r>
            <a:r>
              <a:rPr lang="en-US" altLang="en-US" sz="1600" b="1" dirty="0"/>
              <a:t>gbLeft</a:t>
            </a:r>
            <a:r>
              <a:rPr lang="en-US" altLang="en-US" sz="1600" dirty="0"/>
              <a:t> and </a:t>
            </a:r>
            <a:r>
              <a:rPr lang="en-US" altLang="en-US" sz="1600" b="1" dirty="0" err="1" smtClean="0"/>
              <a:t>gbRight</a:t>
            </a:r>
            <a:r>
              <a:rPr lang="en-US" altLang="en-US" sz="1600" dirty="0" err="1" smtClean="0"/>
              <a:t>,respectively</a:t>
            </a:r>
            <a:r>
              <a:rPr lang="en-US" altLang="en-US" sz="1600" dirty="0" smtClean="0"/>
              <a:t>.</a:t>
            </a:r>
          </a:p>
          <a:p>
            <a:pPr>
              <a:buClrTx/>
            </a:pPr>
            <a:endParaRPr lang="en-US" altLang="en-US" sz="1600" dirty="0"/>
          </a:p>
        </p:txBody>
      </p:sp>
      <p:sp>
        <p:nvSpPr>
          <p:cNvPr id="3" name="Rectangle 2"/>
          <p:cNvSpPr/>
          <p:nvPr/>
        </p:nvSpPr>
        <p:spPr>
          <a:xfrm>
            <a:off x="886691" y="4805326"/>
            <a:ext cx="6096000" cy="923330"/>
          </a:xfrm>
          <a:prstGeom prst="rect">
            <a:avLst/>
          </a:prstGeom>
        </p:spPr>
        <p:txBody>
          <a:bodyPr>
            <a:spAutoFit/>
          </a:bodyPr>
          <a:lstStyle/>
          <a:p>
            <a:r>
              <a:rPr lang="en-US" b="1" dirty="0">
                <a:solidFill>
                  <a:srgbClr val="0070C0"/>
                </a:solidFill>
              </a:rPr>
              <a:t>numGBCarr = </a:t>
            </a:r>
            <a:r>
              <a:rPr lang="en-US" b="1" dirty="0" smtClean="0">
                <a:solidFill>
                  <a:srgbClr val="0070C0"/>
                </a:solidFill>
              </a:rPr>
              <a:t>numCarr/16</a:t>
            </a:r>
          </a:p>
          <a:p>
            <a:r>
              <a:rPr lang="en-US" b="1" dirty="0" smtClean="0">
                <a:solidFill>
                  <a:srgbClr val="0070C0"/>
                </a:solidFill>
              </a:rPr>
              <a:t>gbLeft </a:t>
            </a:r>
            <a:r>
              <a:rPr lang="en-US" b="1" dirty="0">
                <a:solidFill>
                  <a:srgbClr val="0070C0"/>
                </a:solidFill>
              </a:rPr>
              <a:t>= 1:numGBCarr </a:t>
            </a:r>
            <a:endParaRPr lang="en-US" b="1" dirty="0" smtClean="0">
              <a:solidFill>
                <a:srgbClr val="0070C0"/>
              </a:solidFill>
            </a:endParaRPr>
          </a:p>
          <a:p>
            <a:r>
              <a:rPr lang="en-US" b="1" dirty="0" smtClean="0">
                <a:solidFill>
                  <a:srgbClr val="0070C0"/>
                </a:solidFill>
              </a:rPr>
              <a:t>gbRight </a:t>
            </a:r>
            <a:r>
              <a:rPr lang="en-US" b="1" dirty="0">
                <a:solidFill>
                  <a:srgbClr val="0070C0"/>
                </a:solidFill>
              </a:rPr>
              <a:t>= (numCarr-numGBCarr+1):numCarr</a:t>
            </a:r>
          </a:p>
        </p:txBody>
      </p:sp>
    </p:spTree>
    <p:extLst>
      <p:ext uri="{BB962C8B-B14F-4D97-AF65-F5344CB8AC3E}">
        <p14:creationId xmlns:p14="http://schemas.microsoft.com/office/powerpoint/2010/main" val="377702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20072" y="519843"/>
            <a:ext cx="11296073" cy="3329709"/>
          </a:xfrm>
        </p:spPr>
        <p:txBody>
          <a:bodyPr>
            <a:noAutofit/>
          </a:bodyPr>
          <a:lstStyle/>
          <a:p>
            <a:pPr>
              <a:buClrTx/>
            </a:pPr>
            <a:r>
              <a:rPr lang="en-US" altLang="en-US" sz="1600" dirty="0"/>
              <a:t>The </a:t>
            </a:r>
            <a:r>
              <a:rPr lang="en-US" altLang="en-US" sz="1600" b="1" dirty="0"/>
              <a:t>ofdmmod</a:t>
            </a:r>
            <a:r>
              <a:rPr lang="en-US" altLang="en-US" sz="1600" dirty="0"/>
              <a:t> function specifies the zero-frequency component in the middle of the frequency range. This means the DC null subcarrier is the center index. When there is an even number of subcarriers, the DC null index is defined as follows</a:t>
            </a:r>
            <a:r>
              <a:rPr lang="en-US" altLang="en-US" sz="1600" dirty="0" smtClean="0"/>
              <a:t>.</a:t>
            </a:r>
            <a:endParaRPr lang="en-US" altLang="en-US" sz="1600" dirty="0"/>
          </a:p>
          <a:p>
            <a:pPr marL="109728" indent="0">
              <a:buClrTx/>
              <a:buNone/>
            </a:pPr>
            <a:r>
              <a:rPr lang="en-US" altLang="en-US" sz="1600" b="1" dirty="0" smtClean="0"/>
              <a:t>     numCarr/2 </a:t>
            </a:r>
            <a:r>
              <a:rPr lang="en-US" altLang="en-US" sz="1600" b="1" dirty="0"/>
              <a:t>+ </a:t>
            </a:r>
            <a:r>
              <a:rPr lang="en-US" altLang="en-US" sz="1600" b="1" dirty="0" smtClean="0"/>
              <a:t>1</a:t>
            </a:r>
            <a:endParaRPr lang="en-US" altLang="en-US" sz="1600" dirty="0"/>
          </a:p>
          <a:p>
            <a:pPr>
              <a:buClrTx/>
            </a:pPr>
            <a:r>
              <a:rPr lang="en-US" altLang="en-US" sz="1600" dirty="0"/>
              <a:t>To create the column vector of null subcarrier indices, concatenate the left guard band, DC null, and right guard band indices, and then transpose.</a:t>
            </a:r>
          </a:p>
          <a:p>
            <a:pPr marL="109728" indent="0">
              <a:buClrTx/>
              <a:buNone/>
            </a:pPr>
            <a:endParaRPr lang="en-US" altLang="en-US" sz="1600" dirty="0"/>
          </a:p>
          <a:p>
            <a:pPr marL="109728" indent="0">
              <a:buClrTx/>
              <a:buNone/>
            </a:pPr>
            <a:r>
              <a:rPr lang="en-US" altLang="en-US" sz="1600" b="1" dirty="0" smtClean="0"/>
              <a:t>     [</a:t>
            </a:r>
            <a:r>
              <a:rPr lang="en-US" altLang="en-US" sz="1600" b="1" dirty="0"/>
              <a:t>left dc right</a:t>
            </a:r>
            <a:r>
              <a:rPr lang="en-US" altLang="en-US" sz="1600" b="1" dirty="0" smtClean="0"/>
              <a:t>]‘</a:t>
            </a:r>
          </a:p>
          <a:p>
            <a:pPr marL="109728" indent="0">
              <a:buClrTx/>
              <a:buNone/>
            </a:pPr>
            <a:endParaRPr lang="en-US" altLang="en-US" sz="1600" b="1" dirty="0"/>
          </a:p>
          <a:p>
            <a:pPr marL="109728" indent="0">
              <a:buClrTx/>
              <a:buNone/>
            </a:pPr>
            <a:r>
              <a:rPr lang="en-US" altLang="en-US" sz="1600" b="1" dirty="0">
                <a:solidFill>
                  <a:srgbClr val="FF0000"/>
                </a:solidFill>
              </a:rPr>
              <a:t>TASK</a:t>
            </a:r>
          </a:p>
          <a:p>
            <a:pPr>
              <a:buClrTx/>
            </a:pPr>
            <a:r>
              <a:rPr lang="en-US" altLang="en-US" sz="1600" dirty="0"/>
              <a:t>Define the DC null index and store it in the variable </a:t>
            </a:r>
            <a:r>
              <a:rPr lang="en-US" altLang="en-US" sz="1600" b="1" dirty="0"/>
              <a:t>dcIdx</a:t>
            </a:r>
            <a:r>
              <a:rPr lang="en-US" altLang="en-US" sz="1600" dirty="0" smtClean="0"/>
              <a:t>.</a:t>
            </a:r>
            <a:endParaRPr lang="en-US" altLang="en-US" sz="1600" dirty="0"/>
          </a:p>
          <a:p>
            <a:pPr>
              <a:buClrTx/>
            </a:pPr>
            <a:r>
              <a:rPr lang="en-US" altLang="en-US" sz="1600" dirty="0"/>
              <a:t>Create a column vector containing the null subcarrier indices and name it </a:t>
            </a:r>
            <a:r>
              <a:rPr lang="en-US" altLang="en-US" sz="1600" b="1" dirty="0" err="1"/>
              <a:t>nullIdx</a:t>
            </a:r>
            <a:r>
              <a:rPr lang="en-US" altLang="en-US" sz="1600" dirty="0"/>
              <a:t>.</a:t>
            </a:r>
          </a:p>
        </p:txBody>
      </p:sp>
      <p:sp>
        <p:nvSpPr>
          <p:cNvPr id="3" name="Rectangle 2"/>
          <p:cNvSpPr/>
          <p:nvPr/>
        </p:nvSpPr>
        <p:spPr>
          <a:xfrm>
            <a:off x="794327" y="4140308"/>
            <a:ext cx="6096000" cy="646331"/>
          </a:xfrm>
          <a:prstGeom prst="rect">
            <a:avLst/>
          </a:prstGeom>
        </p:spPr>
        <p:txBody>
          <a:bodyPr>
            <a:spAutoFit/>
          </a:bodyPr>
          <a:lstStyle/>
          <a:p>
            <a:r>
              <a:rPr lang="en-US" b="1" dirty="0">
                <a:solidFill>
                  <a:srgbClr val="0070C0"/>
                </a:solidFill>
              </a:rPr>
              <a:t>dcIdx = (numCarr/2)+</a:t>
            </a:r>
            <a:r>
              <a:rPr lang="en-US" b="1" dirty="0" smtClean="0">
                <a:solidFill>
                  <a:srgbClr val="0070C0"/>
                </a:solidFill>
              </a:rPr>
              <a:t>1</a:t>
            </a:r>
          </a:p>
          <a:p>
            <a:r>
              <a:rPr lang="en-US" b="1" dirty="0" err="1" smtClean="0">
                <a:solidFill>
                  <a:srgbClr val="0070C0"/>
                </a:solidFill>
              </a:rPr>
              <a:t>nullIdx</a:t>
            </a:r>
            <a:r>
              <a:rPr lang="en-US" b="1" dirty="0" smtClean="0">
                <a:solidFill>
                  <a:srgbClr val="0070C0"/>
                </a:solidFill>
              </a:rPr>
              <a:t> </a:t>
            </a:r>
            <a:r>
              <a:rPr lang="en-US" b="1" dirty="0">
                <a:solidFill>
                  <a:srgbClr val="0070C0"/>
                </a:solidFill>
              </a:rPr>
              <a:t>= [gbLeft </a:t>
            </a:r>
            <a:r>
              <a:rPr lang="en-US" b="1" dirty="0" smtClean="0">
                <a:solidFill>
                  <a:srgbClr val="0070C0"/>
                </a:solidFill>
              </a:rPr>
              <a:t> dcIdx  gbRight</a:t>
            </a:r>
            <a:r>
              <a:rPr lang="en-US" b="1" dirty="0">
                <a:solidFill>
                  <a:srgbClr val="0070C0"/>
                </a:solidFill>
              </a:rPr>
              <a:t>]'</a:t>
            </a:r>
          </a:p>
        </p:txBody>
      </p:sp>
    </p:spTree>
    <p:extLst>
      <p:ext uri="{BB962C8B-B14F-4D97-AF65-F5344CB8AC3E}">
        <p14:creationId xmlns:p14="http://schemas.microsoft.com/office/powerpoint/2010/main" val="265930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12435" y="598925"/>
            <a:ext cx="11296073" cy="3329709"/>
          </a:xfrm>
        </p:spPr>
        <p:txBody>
          <a:bodyPr>
            <a:noAutofit/>
          </a:bodyPr>
          <a:lstStyle/>
          <a:p>
            <a:pPr>
              <a:buClrTx/>
            </a:pPr>
            <a:r>
              <a:rPr lang="en-US" altLang="en-US" sz="1600" dirty="0"/>
              <a:t>The total number of subcarriers is numCarr. However, not all subcarriers are data subcarriers</a:t>
            </a:r>
            <a:r>
              <a:rPr lang="en-US" altLang="en-US" sz="1600" dirty="0" smtClean="0"/>
              <a:t>.</a:t>
            </a:r>
            <a:endParaRPr lang="en-US" altLang="en-US" sz="1600" dirty="0"/>
          </a:p>
          <a:p>
            <a:pPr>
              <a:buClrTx/>
            </a:pPr>
            <a:r>
              <a:rPr lang="en-US" altLang="en-US" sz="1600" dirty="0"/>
              <a:t>This simulation sends one 16-QAM symbol per data subcarrier, which means the length of the source bit sequence is based on the number of data subcarriers</a:t>
            </a:r>
            <a:r>
              <a:rPr lang="en-US" altLang="en-US" sz="1600" dirty="0" smtClean="0"/>
              <a:t>.</a:t>
            </a:r>
            <a:endParaRPr lang="en-US" altLang="en-US" sz="1600" dirty="0"/>
          </a:p>
          <a:p>
            <a:pPr>
              <a:buClrTx/>
            </a:pPr>
            <a:r>
              <a:rPr lang="en-US" altLang="en-US" sz="1600" dirty="0"/>
              <a:t>To determine the number of data subcarriers, subtract the number of null subcarriers from the total number of subcarriers</a:t>
            </a:r>
            <a:r>
              <a:rPr lang="en-US" altLang="en-US" sz="1600" dirty="0" smtClean="0"/>
              <a:t>.</a:t>
            </a:r>
            <a:endParaRPr lang="en-US" altLang="en-US" sz="1600" dirty="0"/>
          </a:p>
          <a:p>
            <a:pPr>
              <a:buClrTx/>
            </a:pPr>
            <a:r>
              <a:rPr lang="en-US" altLang="en-US" sz="1600" b="1" dirty="0"/>
              <a:t>The number of source bits to generate is then the number of data subcarriers multiplied by the bits per 16-QAM symbol</a:t>
            </a:r>
            <a:r>
              <a:rPr lang="en-US" altLang="en-US" sz="1600" b="1" dirty="0" smtClean="0"/>
              <a:t>.</a:t>
            </a:r>
          </a:p>
          <a:p>
            <a:pPr>
              <a:buClrTx/>
            </a:pPr>
            <a:endParaRPr lang="en-US" altLang="en-US" sz="1600" b="1" dirty="0"/>
          </a:p>
          <a:p>
            <a:pPr marL="109728" indent="0">
              <a:buClrTx/>
              <a:buNone/>
            </a:pPr>
            <a:r>
              <a:rPr lang="en-US" altLang="en-US" sz="1600" b="1" dirty="0">
                <a:solidFill>
                  <a:srgbClr val="FF0000"/>
                </a:solidFill>
              </a:rPr>
              <a:t>TASK</a:t>
            </a:r>
          </a:p>
          <a:p>
            <a:pPr>
              <a:buClrTx/>
            </a:pPr>
            <a:r>
              <a:rPr lang="en-US" altLang="en-US" sz="1600" dirty="0"/>
              <a:t>Calculate the number of data subcarriers and store it in the variable </a:t>
            </a:r>
            <a:r>
              <a:rPr lang="en-US" altLang="en-US" sz="1600" b="1" dirty="0"/>
              <a:t>numDataCarr</a:t>
            </a:r>
            <a:r>
              <a:rPr lang="en-US" altLang="en-US" sz="1600" dirty="0"/>
              <a:t>. Then calculate the number of source bits to generate and store it in the variable </a:t>
            </a:r>
            <a:r>
              <a:rPr lang="en-US" altLang="en-US" sz="1600" b="1" dirty="0"/>
              <a:t>numBits</a:t>
            </a:r>
            <a:r>
              <a:rPr lang="en-US" altLang="en-US" sz="1600" dirty="0"/>
              <a:t>.</a:t>
            </a:r>
          </a:p>
        </p:txBody>
      </p:sp>
      <p:sp>
        <p:nvSpPr>
          <p:cNvPr id="3" name="Rectangle 2"/>
          <p:cNvSpPr/>
          <p:nvPr/>
        </p:nvSpPr>
        <p:spPr>
          <a:xfrm>
            <a:off x="655782" y="4075652"/>
            <a:ext cx="6096000" cy="646331"/>
          </a:xfrm>
          <a:prstGeom prst="rect">
            <a:avLst/>
          </a:prstGeom>
        </p:spPr>
        <p:txBody>
          <a:bodyPr>
            <a:spAutoFit/>
          </a:bodyPr>
          <a:lstStyle/>
          <a:p>
            <a:r>
              <a:rPr lang="en-US" b="1" dirty="0">
                <a:solidFill>
                  <a:srgbClr val="0070C0"/>
                </a:solidFill>
              </a:rPr>
              <a:t>numDataCarr = numCarr - length(</a:t>
            </a:r>
            <a:r>
              <a:rPr lang="en-US" b="1" dirty="0" err="1">
                <a:solidFill>
                  <a:srgbClr val="0070C0"/>
                </a:solidFill>
              </a:rPr>
              <a:t>nullIdx</a:t>
            </a:r>
            <a:r>
              <a:rPr lang="en-US" b="1" dirty="0" smtClean="0">
                <a:solidFill>
                  <a:srgbClr val="0070C0"/>
                </a:solidFill>
              </a:rPr>
              <a:t>)</a:t>
            </a:r>
          </a:p>
          <a:p>
            <a:r>
              <a:rPr lang="en-US" b="1" dirty="0" smtClean="0">
                <a:solidFill>
                  <a:srgbClr val="0070C0"/>
                </a:solidFill>
              </a:rPr>
              <a:t>numBits </a:t>
            </a:r>
            <a:r>
              <a:rPr lang="en-US" b="1" dirty="0">
                <a:solidFill>
                  <a:srgbClr val="0070C0"/>
                </a:solidFill>
              </a:rPr>
              <a:t>= numDataCarr*</a:t>
            </a:r>
            <a:r>
              <a:rPr lang="en-US" b="1" dirty="0" err="1">
                <a:solidFill>
                  <a:srgbClr val="0070C0"/>
                </a:solidFill>
              </a:rPr>
              <a:t>bitsPerSymbol</a:t>
            </a:r>
            <a:r>
              <a:rPr lang="en-US" b="1" dirty="0">
                <a:solidFill>
                  <a:srgbClr val="0070C0"/>
                </a:solidFill>
              </a:rPr>
              <a:t>;</a:t>
            </a:r>
          </a:p>
        </p:txBody>
      </p:sp>
    </p:spTree>
    <p:extLst>
      <p:ext uri="{BB962C8B-B14F-4D97-AF65-F5344CB8AC3E}">
        <p14:creationId xmlns:p14="http://schemas.microsoft.com/office/powerpoint/2010/main" val="420337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12435" y="598925"/>
            <a:ext cx="11296073" cy="3329709"/>
          </a:xfrm>
        </p:spPr>
        <p:txBody>
          <a:bodyPr>
            <a:noAutofit/>
          </a:bodyPr>
          <a:lstStyle/>
          <a:p>
            <a:pPr>
              <a:buClrTx/>
            </a:pPr>
            <a:r>
              <a:rPr lang="en-US" altLang="en-US" sz="1600" dirty="0"/>
              <a:t>After setting the number of source bits, the script </a:t>
            </a:r>
            <a:r>
              <a:rPr lang="en-US" altLang="en-US" sz="1600" dirty="0" smtClean="0"/>
              <a:t>below creates </a:t>
            </a:r>
            <a:r>
              <a:rPr lang="en-US" altLang="en-US" sz="1600" dirty="0"/>
              <a:t>the source bit sequence and modulates it using 16-QAM</a:t>
            </a:r>
            <a:r>
              <a:rPr lang="en-US" altLang="en-US" sz="1600" dirty="0" smtClean="0"/>
              <a:t>.</a:t>
            </a:r>
          </a:p>
          <a:p>
            <a:pPr>
              <a:buClrTx/>
            </a:pPr>
            <a:endParaRPr lang="en-US" altLang="en-US" sz="1600" dirty="0" smtClean="0"/>
          </a:p>
          <a:p>
            <a:pPr>
              <a:buClrTx/>
            </a:pPr>
            <a:endParaRPr lang="en-US" altLang="en-US" sz="1600" dirty="0"/>
          </a:p>
          <a:p>
            <a:pPr>
              <a:buClrTx/>
            </a:pPr>
            <a:endParaRPr lang="en-US" altLang="en-US" sz="1600" dirty="0" smtClean="0"/>
          </a:p>
          <a:p>
            <a:pPr>
              <a:buClrTx/>
            </a:pPr>
            <a:endParaRPr lang="en-US" altLang="en-US" sz="1600" dirty="0"/>
          </a:p>
          <a:p>
            <a:pPr>
              <a:buClrTx/>
            </a:pPr>
            <a:endParaRPr lang="en-US" altLang="en-US" sz="1600" dirty="0" smtClean="0"/>
          </a:p>
          <a:p>
            <a:pPr>
              <a:buClrTx/>
            </a:pPr>
            <a:endParaRPr lang="en-US" altLang="en-US" sz="1600" dirty="0"/>
          </a:p>
          <a:p>
            <a:pPr>
              <a:buClrTx/>
            </a:pPr>
            <a:r>
              <a:rPr lang="en-US" altLang="en-US" sz="1600" dirty="0"/>
              <a:t>Now you can use the </a:t>
            </a:r>
            <a:r>
              <a:rPr lang="en-US" altLang="en-US" sz="1600" b="1" dirty="0"/>
              <a:t>ofdmmod</a:t>
            </a:r>
            <a:r>
              <a:rPr lang="en-US" altLang="en-US" sz="1600" dirty="0"/>
              <a:t> function to perform OFDM modulation. To specify the null subcarriers, pass the null index vector as a fourth input</a:t>
            </a:r>
            <a:r>
              <a:rPr lang="en-US" altLang="en-US" sz="1600" dirty="0" smtClean="0"/>
              <a:t>.</a:t>
            </a:r>
            <a:endParaRPr lang="en-US" altLang="en-US" sz="1600" dirty="0"/>
          </a:p>
          <a:p>
            <a:pPr marL="109728" indent="0">
              <a:buClrTx/>
              <a:buNone/>
            </a:pPr>
            <a:r>
              <a:rPr lang="en-US" altLang="en-US" sz="1600" b="1" dirty="0" smtClean="0"/>
              <a:t>      </a:t>
            </a:r>
            <a:r>
              <a:rPr lang="en-US" altLang="en-US" sz="1600" b="1" dirty="0" err="1" smtClean="0"/>
              <a:t>sigOut</a:t>
            </a:r>
            <a:r>
              <a:rPr lang="en-US" altLang="en-US" sz="1600" b="1" dirty="0" smtClean="0"/>
              <a:t> = ofdmmod(</a:t>
            </a:r>
            <a:r>
              <a:rPr lang="en-US" altLang="en-US" sz="1600" b="1" dirty="0" err="1" smtClean="0"/>
              <a:t>sig,nCarr,cpLen,nullIdx</a:t>
            </a:r>
            <a:r>
              <a:rPr lang="en-US" altLang="en-US" sz="1600" dirty="0" smtClean="0"/>
              <a:t>)</a:t>
            </a:r>
          </a:p>
          <a:p>
            <a:pPr marL="109728" indent="0">
              <a:buClrTx/>
              <a:buNone/>
            </a:pPr>
            <a:endParaRPr lang="en-US" altLang="en-US" sz="1600" dirty="0"/>
          </a:p>
          <a:p>
            <a:pPr marL="109728" indent="0">
              <a:buClrTx/>
              <a:buNone/>
            </a:pPr>
            <a:r>
              <a:rPr lang="en-US" altLang="en-US" sz="1600" b="1" dirty="0" smtClean="0"/>
              <a:t>   </a:t>
            </a:r>
            <a:r>
              <a:rPr lang="en-US" altLang="en-US" sz="1600" b="1" dirty="0" smtClean="0">
                <a:solidFill>
                  <a:srgbClr val="FF0000"/>
                </a:solidFill>
              </a:rPr>
              <a:t>TASK</a:t>
            </a:r>
            <a:endParaRPr lang="en-US" altLang="en-US" sz="1600" b="1" dirty="0">
              <a:solidFill>
                <a:srgbClr val="FF0000"/>
              </a:solidFill>
            </a:endParaRPr>
          </a:p>
          <a:p>
            <a:pPr>
              <a:buClrTx/>
            </a:pPr>
            <a:r>
              <a:rPr lang="en-US" altLang="en-US" sz="1600" dirty="0"/>
              <a:t>Perform OFDM modulation on the signal </a:t>
            </a:r>
            <a:r>
              <a:rPr lang="en-US" altLang="en-US" sz="1600" b="1" dirty="0" err="1"/>
              <a:t>qamModOut</a:t>
            </a:r>
            <a:r>
              <a:rPr lang="en-US" altLang="en-US" sz="1600" dirty="0"/>
              <a:t>. Specify the number of subcarriers </a:t>
            </a:r>
            <a:r>
              <a:rPr lang="en-US" altLang="en-US" sz="1600" b="1" dirty="0"/>
              <a:t>numCarr</a:t>
            </a:r>
            <a:r>
              <a:rPr lang="en-US" altLang="en-US" sz="1600" dirty="0"/>
              <a:t>, the cyclic prefix length </a:t>
            </a:r>
            <a:r>
              <a:rPr lang="en-US" altLang="en-US" sz="1600" b="1" dirty="0" err="1"/>
              <a:t>cycPrefLen</a:t>
            </a:r>
            <a:r>
              <a:rPr lang="en-US" altLang="en-US" sz="1600" dirty="0"/>
              <a:t>, and the null subcarrier indices </a:t>
            </a:r>
            <a:r>
              <a:rPr lang="en-US" altLang="en-US" sz="1600" b="1" dirty="0" err="1"/>
              <a:t>nullIdx</a:t>
            </a:r>
            <a:r>
              <a:rPr lang="en-US" altLang="en-US" sz="1600" dirty="0" smtClean="0"/>
              <a:t>.</a:t>
            </a:r>
            <a:endParaRPr lang="en-US" altLang="en-US" sz="1600" dirty="0"/>
          </a:p>
          <a:p>
            <a:pPr>
              <a:buClrTx/>
            </a:pPr>
            <a:r>
              <a:rPr lang="en-US" altLang="en-US" sz="1600" dirty="0"/>
              <a:t>Name the output signal </a:t>
            </a:r>
            <a:r>
              <a:rPr lang="en-US" altLang="en-US" sz="1600" b="1" dirty="0"/>
              <a:t>ofdmModOut</a:t>
            </a:r>
            <a:r>
              <a:rPr lang="en-US" altLang="en-US" sz="1600" dirty="0"/>
              <a:t>.</a:t>
            </a:r>
          </a:p>
        </p:txBody>
      </p:sp>
      <p:sp>
        <p:nvSpPr>
          <p:cNvPr id="3" name="Rectangle 2"/>
          <p:cNvSpPr/>
          <p:nvPr/>
        </p:nvSpPr>
        <p:spPr>
          <a:xfrm>
            <a:off x="2392218" y="5523996"/>
            <a:ext cx="8700657" cy="369332"/>
          </a:xfrm>
          <a:prstGeom prst="rect">
            <a:avLst/>
          </a:prstGeom>
        </p:spPr>
        <p:txBody>
          <a:bodyPr wrap="square">
            <a:spAutoFit/>
          </a:bodyPr>
          <a:lstStyle/>
          <a:p>
            <a:r>
              <a:rPr lang="en-US" b="1" dirty="0">
                <a:solidFill>
                  <a:srgbClr val="0070C0"/>
                </a:solidFill>
              </a:rPr>
              <a:t>ofdmModOut = ofdmmod(</a:t>
            </a:r>
            <a:r>
              <a:rPr lang="en-US" b="1" dirty="0" err="1">
                <a:solidFill>
                  <a:srgbClr val="0070C0"/>
                </a:solidFill>
              </a:rPr>
              <a:t>qamModOut,numCarr,cycPrefLen,nullIdx</a:t>
            </a:r>
            <a:r>
              <a:rPr lang="en-US" b="1" dirty="0">
                <a:solidFill>
                  <a:srgbClr val="0070C0"/>
                </a:solidFill>
              </a:rPr>
              <a:t>);</a:t>
            </a:r>
          </a:p>
        </p:txBody>
      </p:sp>
      <p:sp>
        <p:nvSpPr>
          <p:cNvPr id="2" name="Rectangle 1"/>
          <p:cNvSpPr>
            <a:spLocks noChangeArrowheads="1"/>
          </p:cNvSpPr>
          <p:nvPr/>
        </p:nvSpPr>
        <p:spPr bwMode="auto">
          <a:xfrm>
            <a:off x="1228436" y="1341195"/>
            <a:ext cx="9004146" cy="1455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C00000"/>
                </a:solidFill>
                <a:effectLst/>
                <a:latin typeface="Helvetica" panose="020B0604020202020204" pitchFamily="34" charset="0"/>
              </a:rPr>
              <a:t>Create the source bit sequence and modulate using 16-QAM</a:t>
            </a:r>
            <a:r>
              <a:rPr kumimoji="0" lang="en-US" altLang="en-US" sz="1800" b="0" i="0" u="none" strike="noStrike" cap="none" normalizeH="0" baseline="0" dirty="0" smtClean="0">
                <a:ln>
                  <a:noFill/>
                </a:ln>
                <a:solidFill>
                  <a:schemeClr val="tx1"/>
                </a:solidFill>
                <a:effectLst/>
                <a:latin typeface="Helvetica" panose="020B0604020202020204" pitchFamily="34" charset="0"/>
              </a:rPr>
              <a:t>.</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"numBits"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3</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randi</a:t>
            </a:r>
            <a:r>
              <a:rPr kumimoji="0" lang="en-US" altLang="en-US" sz="1800" b="0" i="0" u="none" strike="noStrike" cap="none" normalizeH="0" baseline="0" dirty="0" smtClean="0">
                <a:ln>
                  <a:noFill/>
                </a:ln>
                <a:solidFill>
                  <a:schemeClr val="tx1"/>
                </a:solidFill>
                <a:effectLst/>
                <a:latin typeface="Arial" panose="020B0604020202020204" pitchFamily="34" charset="0"/>
              </a:rPr>
              <a:t>([0,1],numBits,1);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qammod</a:t>
            </a:r>
            <a:r>
              <a:rPr kumimoji="0" lang="en-US" altLang="en-US" sz="1800" b="0" i="0" u="none" strike="noStrike" cap="none" normalizeH="0" baseline="0" dirty="0" smtClean="0">
                <a:ln>
                  <a:noFill/>
                </a:ln>
                <a:solidFill>
                  <a:schemeClr val="tx1"/>
                </a:solidFill>
                <a:effectLst/>
                <a:latin typeface="Arial" panose="020B0604020202020204" pitchFamily="34" charset="0"/>
              </a:rPr>
              <a:t>(srcBits,</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InputType</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431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4" name="Rectangle 1"/>
          <p:cNvSpPr>
            <a:spLocks noChangeArrowheads="1"/>
          </p:cNvSpPr>
          <p:nvPr/>
        </p:nvSpPr>
        <p:spPr bwMode="auto">
          <a:xfrm>
            <a:off x="443345" y="870962"/>
            <a:ext cx="7141392" cy="1455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accent3"/>
                </a:solidFill>
                <a:effectLst/>
                <a:latin typeface="Helvetica" panose="020B0604020202020204" pitchFamily="34" charset="0"/>
              </a:rPr>
              <a:t>Channel: multipath and AWGN</a:t>
            </a:r>
            <a:endParaRPr kumimoji="0" lang="en-US" altLang="en-US" sz="1800" b="1"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"ofdmModOut"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4</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mpChanOut</a:t>
            </a:r>
            <a:r>
              <a:rPr kumimoji="0" lang="en-US" altLang="en-US" sz="1800" b="0" i="0" u="none" strike="noStrike" cap="none" normalizeH="0" baseline="0" dirty="0" smtClean="0">
                <a:ln>
                  <a:noFill/>
                </a:ln>
                <a:solidFill>
                  <a:schemeClr val="tx1"/>
                </a:solidFill>
                <a:effectLst/>
                <a:latin typeface="Arial" panose="020B0604020202020204" pitchFamily="34" charset="0"/>
              </a:rPr>
              <a:t> = filter(mpChan,1,ofdmModOut);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chanOut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awgn</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mpChanOut,SNR,</a:t>
            </a:r>
            <a:r>
              <a:rPr kumimoji="0" lang="en-US" altLang="en-US" sz="1800" b="0" i="0" u="none" strike="noStrike" cap="none" normalizeH="0" baseline="0" dirty="0" err="1" smtClean="0">
                <a:ln>
                  <a:noFill/>
                </a:ln>
                <a:solidFill>
                  <a:srgbClr val="A709F5"/>
                </a:solidFill>
                <a:effectLst/>
                <a:latin typeface="Arial" panose="020B0604020202020204" pitchFamily="34" charset="0"/>
              </a:rPr>
              <a:t>"measured</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727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12435" y="598925"/>
            <a:ext cx="11296073" cy="3329709"/>
          </a:xfrm>
        </p:spPr>
        <p:txBody>
          <a:bodyPr>
            <a:noAutofit/>
          </a:bodyPr>
          <a:lstStyle/>
          <a:p>
            <a:pPr>
              <a:buClrTx/>
            </a:pPr>
            <a:r>
              <a:rPr lang="en-US" altLang="en-US" sz="1600" dirty="0"/>
              <a:t>Next, the OFDM modulated signal is sent over the channel to the receiver</a:t>
            </a:r>
            <a:r>
              <a:rPr lang="en-US" altLang="en-US" sz="1600" dirty="0" smtClean="0"/>
              <a:t>.</a:t>
            </a:r>
            <a:endParaRPr lang="en-US" altLang="en-US" sz="1600" dirty="0"/>
          </a:p>
          <a:p>
            <a:pPr>
              <a:buClrTx/>
            </a:pPr>
            <a:r>
              <a:rPr lang="en-US" altLang="en-US" sz="1600" dirty="0"/>
              <a:t>Perform </a:t>
            </a:r>
            <a:r>
              <a:rPr lang="en-US" altLang="en-US" sz="1600" b="1" dirty="0"/>
              <a:t>OFDM demodulation </a:t>
            </a:r>
            <a:r>
              <a:rPr lang="en-US" altLang="en-US" sz="1600" dirty="0"/>
              <a:t>on the received signal using the </a:t>
            </a:r>
            <a:r>
              <a:rPr lang="en-US" altLang="en-US" sz="1600" b="1" dirty="0" err="1"/>
              <a:t>ofdmdemod</a:t>
            </a:r>
            <a:r>
              <a:rPr lang="en-US" altLang="en-US" sz="1600" dirty="0"/>
              <a:t> function. Because null subcarriers were used, </a:t>
            </a:r>
            <a:endParaRPr lang="en-US" altLang="en-US" sz="1600" dirty="0" smtClean="0"/>
          </a:p>
          <a:p>
            <a:pPr>
              <a:buClrTx/>
            </a:pPr>
            <a:r>
              <a:rPr lang="en-US" altLang="en-US" sz="1600" dirty="0" smtClean="0"/>
              <a:t>the </a:t>
            </a:r>
            <a:r>
              <a:rPr lang="en-US" altLang="en-US" sz="1600" dirty="0"/>
              <a:t>function needs two additional inputs: </a:t>
            </a:r>
            <a:r>
              <a:rPr lang="en-US" altLang="en-US" sz="1600" b="1" dirty="0"/>
              <a:t>the symbol sampling offset and the null index vector</a:t>
            </a:r>
            <a:r>
              <a:rPr lang="en-US" altLang="en-US" sz="1600" b="1" dirty="0" smtClean="0"/>
              <a:t>.</a:t>
            </a:r>
            <a:endParaRPr lang="en-US" altLang="en-US" sz="1600" dirty="0"/>
          </a:p>
          <a:p>
            <a:pPr marL="109728" indent="0">
              <a:buClrTx/>
              <a:buNone/>
            </a:pPr>
            <a:r>
              <a:rPr lang="en-US" altLang="en-US" sz="1600" dirty="0" smtClean="0"/>
              <a:t>               </a:t>
            </a:r>
            <a:r>
              <a:rPr lang="en-US" altLang="en-US" sz="1600" b="1" dirty="0" err="1" smtClean="0"/>
              <a:t>sigOut</a:t>
            </a:r>
            <a:r>
              <a:rPr lang="en-US" altLang="en-US" sz="1600" b="1" dirty="0" smtClean="0"/>
              <a:t> </a:t>
            </a:r>
            <a:r>
              <a:rPr lang="en-US" altLang="en-US" sz="1600" b="1" dirty="0"/>
              <a:t>= </a:t>
            </a:r>
            <a:r>
              <a:rPr lang="en-US" altLang="en-US" sz="1600" b="1" dirty="0" err="1"/>
              <a:t>ofdmdemod</a:t>
            </a:r>
            <a:r>
              <a:rPr lang="en-US" altLang="en-US" sz="1600" b="1" dirty="0"/>
              <a:t>(</a:t>
            </a:r>
            <a:r>
              <a:rPr lang="en-US" altLang="en-US" sz="1600" b="1" dirty="0" err="1"/>
              <a:t>sig,nCarr</a:t>
            </a:r>
            <a:r>
              <a:rPr lang="en-US" altLang="en-US" sz="1600" b="1" dirty="0" smtClean="0"/>
              <a:t>, ...  </a:t>
            </a:r>
            <a:r>
              <a:rPr lang="en-US" altLang="en-US" sz="1600" b="1" dirty="0" err="1"/>
              <a:t>cpLen,symOffset,nullIdx</a:t>
            </a:r>
            <a:r>
              <a:rPr lang="en-US" altLang="en-US" sz="1600" b="1" dirty="0" smtClean="0"/>
              <a:t>)</a:t>
            </a:r>
            <a:endParaRPr lang="en-US" altLang="en-US" sz="1600" dirty="0"/>
          </a:p>
          <a:p>
            <a:pPr>
              <a:buClrTx/>
            </a:pPr>
            <a:r>
              <a:rPr lang="en-US" altLang="en-US" sz="1600" b="1" dirty="0"/>
              <a:t>The symbol sampling offset </a:t>
            </a:r>
            <a:r>
              <a:rPr lang="en-US" altLang="en-US" sz="1600" dirty="0"/>
              <a:t>is the number of signal samples to discard before performing the FFT. It can be any value from 0 to the cyclic prefix length. To remove information corrupted by the multipath channel, it should be larger than the length of the multipath channel impulse response</a:t>
            </a:r>
            <a:r>
              <a:rPr lang="en-US" altLang="en-US" sz="1600" dirty="0" smtClean="0"/>
              <a:t>.</a:t>
            </a:r>
          </a:p>
          <a:p>
            <a:pPr>
              <a:buClrTx/>
            </a:pPr>
            <a:endParaRPr lang="en-US" altLang="en-US" sz="1600" dirty="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Perform OFDM demodulation on the received signal </a:t>
            </a:r>
            <a:r>
              <a:rPr lang="en-US" altLang="en-US" sz="1600" b="1" dirty="0" err="1"/>
              <a:t>chanOut</a:t>
            </a:r>
            <a:r>
              <a:rPr lang="en-US" altLang="en-US" sz="1600" dirty="0"/>
              <a:t>. Specify the number of subcarriers </a:t>
            </a:r>
            <a:r>
              <a:rPr lang="en-US" altLang="en-US" sz="1600" b="1" dirty="0"/>
              <a:t>numCarr</a:t>
            </a:r>
            <a:r>
              <a:rPr lang="en-US" altLang="en-US" sz="1600" dirty="0"/>
              <a:t>, the cyclic prefix length </a:t>
            </a:r>
            <a:r>
              <a:rPr lang="en-US" altLang="en-US" sz="1600" b="1" dirty="0" err="1"/>
              <a:t>cycPrefLen</a:t>
            </a:r>
            <a:r>
              <a:rPr lang="en-US" altLang="en-US" sz="1600" dirty="0"/>
              <a:t>, and the null subcarrier indices </a:t>
            </a:r>
            <a:r>
              <a:rPr lang="en-US" altLang="en-US" sz="1600" b="1" dirty="0" err="1"/>
              <a:t>nullIdx</a:t>
            </a:r>
            <a:r>
              <a:rPr lang="en-US" altLang="en-US" sz="1600" dirty="0"/>
              <a:t>. For the symbol sampling offset, use the cyclic prefix length </a:t>
            </a:r>
            <a:r>
              <a:rPr lang="en-US" altLang="en-US" sz="1600" b="1" dirty="0" err="1"/>
              <a:t>cycPrefLen</a:t>
            </a:r>
            <a:r>
              <a:rPr lang="en-US" altLang="en-US" sz="1600" dirty="0" smtClean="0"/>
              <a:t>.</a:t>
            </a:r>
            <a:endParaRPr lang="en-US" altLang="en-US" sz="1600" dirty="0"/>
          </a:p>
          <a:p>
            <a:pPr>
              <a:buClrTx/>
            </a:pPr>
            <a:r>
              <a:rPr lang="en-US" altLang="en-US" sz="1600" dirty="0"/>
              <a:t>Name the output signal </a:t>
            </a:r>
            <a:r>
              <a:rPr lang="en-US" altLang="en-US" sz="1600" b="1" dirty="0"/>
              <a:t>ofdmDemodOut</a:t>
            </a:r>
            <a:r>
              <a:rPr lang="en-US" altLang="en-US" sz="1600" dirty="0"/>
              <a:t>.</a:t>
            </a:r>
          </a:p>
        </p:txBody>
      </p:sp>
      <p:sp>
        <p:nvSpPr>
          <p:cNvPr id="3" name="Rectangle 2"/>
          <p:cNvSpPr/>
          <p:nvPr/>
        </p:nvSpPr>
        <p:spPr>
          <a:xfrm>
            <a:off x="822036" y="4932868"/>
            <a:ext cx="9652000" cy="369332"/>
          </a:xfrm>
          <a:prstGeom prst="rect">
            <a:avLst/>
          </a:prstGeom>
        </p:spPr>
        <p:txBody>
          <a:bodyPr wrap="square">
            <a:spAutoFit/>
          </a:bodyPr>
          <a:lstStyle/>
          <a:p>
            <a:r>
              <a:rPr lang="en-US" b="1" dirty="0">
                <a:solidFill>
                  <a:srgbClr val="0070C0"/>
                </a:solidFill>
              </a:rPr>
              <a:t>ofdmDemodOut = </a:t>
            </a:r>
            <a:r>
              <a:rPr lang="en-US" b="1" dirty="0" err="1">
                <a:solidFill>
                  <a:srgbClr val="0070C0"/>
                </a:solidFill>
              </a:rPr>
              <a:t>ofdmdemod</a:t>
            </a:r>
            <a:r>
              <a:rPr lang="en-US" b="1" dirty="0">
                <a:solidFill>
                  <a:srgbClr val="0070C0"/>
                </a:solidFill>
              </a:rPr>
              <a:t>(</a:t>
            </a:r>
            <a:r>
              <a:rPr lang="en-US" b="1" dirty="0" err="1">
                <a:solidFill>
                  <a:srgbClr val="0070C0"/>
                </a:solidFill>
              </a:rPr>
              <a:t>chanOut,numCarr,cycPrefLen,cycPrefLen,nullIdx</a:t>
            </a:r>
            <a:r>
              <a:rPr lang="en-US" b="1" dirty="0">
                <a:solidFill>
                  <a:srgbClr val="0070C0"/>
                </a:solidFill>
              </a:rPr>
              <a:t>);</a:t>
            </a:r>
          </a:p>
        </p:txBody>
      </p:sp>
    </p:spTree>
    <p:extLst>
      <p:ext uri="{BB962C8B-B14F-4D97-AF65-F5344CB8AC3E}">
        <p14:creationId xmlns:p14="http://schemas.microsoft.com/office/powerpoint/2010/main" val="370726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12435" y="598925"/>
            <a:ext cx="11296073" cy="3329709"/>
          </a:xfrm>
        </p:spPr>
        <p:txBody>
          <a:bodyPr>
            <a:noAutofit/>
          </a:bodyPr>
          <a:lstStyle/>
          <a:p>
            <a:pPr>
              <a:buClrTx/>
            </a:pPr>
            <a:r>
              <a:rPr lang="en-US" altLang="en-US" sz="1600" dirty="0"/>
              <a:t>The next step is to equalize the signal</a:t>
            </a:r>
            <a:r>
              <a:rPr lang="en-US" altLang="en-US" sz="1600" dirty="0" smtClean="0"/>
              <a:t>.</a:t>
            </a:r>
            <a:endParaRPr lang="en-US" altLang="en-US" sz="1600" dirty="0"/>
          </a:p>
          <a:p>
            <a:pPr>
              <a:buClrTx/>
            </a:pPr>
            <a:r>
              <a:rPr lang="en-US" altLang="en-US" sz="1600" dirty="0"/>
              <a:t>Transform and shift the channel impulse response with the </a:t>
            </a:r>
            <a:r>
              <a:rPr lang="en-US" altLang="en-US" sz="1600" b="1" dirty="0" err="1"/>
              <a:t>fft</a:t>
            </a:r>
            <a:r>
              <a:rPr lang="en-US" altLang="en-US" sz="1600" dirty="0"/>
              <a:t> and </a:t>
            </a:r>
            <a:r>
              <a:rPr lang="en-US" altLang="en-US" sz="1600" b="1" dirty="0" err="1"/>
              <a:t>fftshift</a:t>
            </a:r>
            <a:r>
              <a:rPr lang="en-US" altLang="en-US" sz="1600" dirty="0"/>
              <a:t> functions as you did previously</a:t>
            </a:r>
            <a:r>
              <a:rPr lang="en-US" altLang="en-US" sz="1600" dirty="0" smtClean="0"/>
              <a:t>.</a:t>
            </a:r>
            <a:endParaRPr lang="en-US" altLang="en-US" sz="1600" dirty="0"/>
          </a:p>
          <a:p>
            <a:pPr marL="109728" indent="0">
              <a:buClrTx/>
              <a:buNone/>
            </a:pPr>
            <a:r>
              <a:rPr lang="en-US" altLang="en-US" sz="1600" b="1" dirty="0" smtClean="0"/>
              <a:t>    </a:t>
            </a:r>
            <a:r>
              <a:rPr lang="en-US" altLang="en-US" sz="1600" b="1" dirty="0" err="1" smtClean="0"/>
              <a:t>fftshift</a:t>
            </a:r>
            <a:r>
              <a:rPr lang="en-US" altLang="en-US" sz="1600" b="1" dirty="0" smtClean="0"/>
              <a:t>(</a:t>
            </a:r>
            <a:r>
              <a:rPr lang="en-US" altLang="en-US" sz="1600" b="1" dirty="0" err="1" smtClean="0"/>
              <a:t>fft</a:t>
            </a:r>
            <a:r>
              <a:rPr lang="en-US" altLang="en-US" sz="1600" b="1" dirty="0" smtClean="0"/>
              <a:t>(</a:t>
            </a:r>
            <a:r>
              <a:rPr lang="en-US" altLang="en-US" sz="1600" b="1" dirty="0" err="1" smtClean="0"/>
              <a:t>mpChan,numCarr</a:t>
            </a:r>
            <a:r>
              <a:rPr lang="en-US" altLang="en-US" sz="1600" b="1" dirty="0" smtClean="0"/>
              <a:t>))</a:t>
            </a:r>
            <a:endParaRPr lang="en-US" altLang="en-US" sz="1600" dirty="0"/>
          </a:p>
          <a:p>
            <a:pPr>
              <a:buClrTx/>
            </a:pPr>
            <a:r>
              <a:rPr lang="en-US" altLang="en-US" sz="1600" dirty="0"/>
              <a:t>The channel frequency response has </a:t>
            </a:r>
            <a:r>
              <a:rPr lang="en-US" altLang="en-US" sz="1600" b="1" dirty="0"/>
              <a:t>numCarr</a:t>
            </a:r>
            <a:r>
              <a:rPr lang="en-US" altLang="en-US" sz="1600" dirty="0"/>
              <a:t> frequency components. However, the OFDM demodulator output contains only the data subcarriers. To perform the element-wise division, you need to remove the null subcarrier frequency components from the channel frequency response</a:t>
            </a:r>
            <a:r>
              <a:rPr lang="en-US" altLang="en-US" sz="1600" dirty="0" smtClean="0"/>
              <a:t>.</a:t>
            </a:r>
            <a:endParaRPr lang="en-US" altLang="en-US" sz="1600" dirty="0"/>
          </a:p>
          <a:p>
            <a:pPr>
              <a:buClrTx/>
            </a:pPr>
            <a:r>
              <a:rPr lang="en-US" altLang="en-US" sz="1600" dirty="0"/>
              <a:t>You can remove specific elements of a vector using indexing</a:t>
            </a:r>
            <a:r>
              <a:rPr lang="en-US" altLang="en-US" sz="1600" dirty="0" smtClean="0"/>
              <a:t>.</a:t>
            </a:r>
            <a:endParaRPr lang="en-US" altLang="en-US" sz="1600" dirty="0"/>
          </a:p>
          <a:p>
            <a:pPr marL="109728" indent="0">
              <a:buClrTx/>
              <a:buNone/>
            </a:pPr>
            <a:r>
              <a:rPr lang="en-US" altLang="en-US" sz="1600" b="1" dirty="0" smtClean="0"/>
              <a:t>     x(</a:t>
            </a:r>
            <a:r>
              <a:rPr lang="en-US" altLang="en-US" sz="1600" b="1" dirty="0" err="1" smtClean="0"/>
              <a:t>idx</a:t>
            </a:r>
            <a:r>
              <a:rPr lang="en-US" altLang="en-US" sz="1600" b="1" dirty="0"/>
              <a:t>) = </a:t>
            </a:r>
            <a:r>
              <a:rPr lang="en-US" altLang="en-US" sz="1600" b="1" dirty="0" smtClean="0"/>
              <a:t>[ ]</a:t>
            </a:r>
            <a:endParaRPr lang="en-US" altLang="en-US" sz="1600" b="1" dirty="0"/>
          </a:p>
          <a:p>
            <a:pPr marL="109728" indent="0">
              <a:buClrTx/>
              <a:buNone/>
            </a:pPr>
            <a:r>
              <a:rPr lang="en-US" altLang="en-US" sz="1600" b="1" dirty="0" smtClean="0">
                <a:solidFill>
                  <a:srgbClr val="FF0000"/>
                </a:solidFill>
              </a:rPr>
              <a:t>      TASK</a:t>
            </a:r>
            <a:endParaRPr lang="en-US" altLang="en-US" sz="1600" b="1" dirty="0">
              <a:solidFill>
                <a:srgbClr val="FF0000"/>
              </a:solidFill>
            </a:endParaRPr>
          </a:p>
          <a:p>
            <a:pPr>
              <a:buClrTx/>
            </a:pPr>
            <a:r>
              <a:rPr lang="en-US" altLang="en-US" sz="1600" dirty="0"/>
              <a:t>Transform the multipath channel impulse response </a:t>
            </a:r>
            <a:r>
              <a:rPr lang="en-US" altLang="en-US" sz="1600" b="1" dirty="0" err="1"/>
              <a:t>mpChan</a:t>
            </a:r>
            <a:r>
              <a:rPr lang="en-US" altLang="en-US" sz="1600" dirty="0"/>
              <a:t> to the frequency domain and shift the zero-frequency component to the center of the spectrum. Name the result </a:t>
            </a:r>
            <a:r>
              <a:rPr lang="en-US" altLang="en-US" sz="1600" b="1" dirty="0" err="1"/>
              <a:t>mpChanFreq</a:t>
            </a:r>
            <a:r>
              <a:rPr lang="en-US" altLang="en-US" sz="1600" dirty="0" smtClean="0"/>
              <a:t>.</a:t>
            </a:r>
            <a:endParaRPr lang="en-US" altLang="en-US" sz="1600" dirty="0"/>
          </a:p>
          <a:p>
            <a:pPr>
              <a:buClrTx/>
            </a:pPr>
            <a:r>
              <a:rPr lang="en-US" altLang="en-US" sz="1600" dirty="0"/>
              <a:t>Remove the elements of </a:t>
            </a:r>
            <a:r>
              <a:rPr lang="en-US" altLang="en-US" sz="1600" b="1" dirty="0" err="1"/>
              <a:t>mpChanFreq</a:t>
            </a:r>
            <a:r>
              <a:rPr lang="en-US" altLang="en-US" sz="1600" dirty="0"/>
              <a:t> that correspond to the null subcarrier indices.</a:t>
            </a:r>
          </a:p>
        </p:txBody>
      </p:sp>
      <p:sp>
        <p:nvSpPr>
          <p:cNvPr id="3" name="Rectangle 2"/>
          <p:cNvSpPr/>
          <p:nvPr/>
        </p:nvSpPr>
        <p:spPr>
          <a:xfrm>
            <a:off x="803564" y="4504033"/>
            <a:ext cx="9652000" cy="646331"/>
          </a:xfrm>
          <a:prstGeom prst="rect">
            <a:avLst/>
          </a:prstGeom>
        </p:spPr>
        <p:txBody>
          <a:bodyPr wrap="square">
            <a:spAutoFit/>
          </a:bodyPr>
          <a:lstStyle/>
          <a:p>
            <a:r>
              <a:rPr lang="en-US" b="1" dirty="0" err="1">
                <a:solidFill>
                  <a:srgbClr val="0070C0"/>
                </a:solidFill>
              </a:rPr>
              <a:t>mpChanFreq</a:t>
            </a:r>
            <a:r>
              <a:rPr lang="en-US" b="1" dirty="0">
                <a:solidFill>
                  <a:srgbClr val="0070C0"/>
                </a:solidFill>
              </a:rPr>
              <a:t> = </a:t>
            </a:r>
            <a:r>
              <a:rPr lang="en-US" b="1" dirty="0" err="1">
                <a:solidFill>
                  <a:srgbClr val="0070C0"/>
                </a:solidFill>
              </a:rPr>
              <a:t>fftshift</a:t>
            </a:r>
            <a:r>
              <a:rPr lang="en-US" b="1" dirty="0">
                <a:solidFill>
                  <a:srgbClr val="0070C0"/>
                </a:solidFill>
              </a:rPr>
              <a:t>(</a:t>
            </a:r>
            <a:r>
              <a:rPr lang="en-US" b="1" dirty="0" err="1">
                <a:solidFill>
                  <a:srgbClr val="0070C0"/>
                </a:solidFill>
              </a:rPr>
              <a:t>fft</a:t>
            </a:r>
            <a:r>
              <a:rPr lang="en-US" b="1" dirty="0">
                <a:solidFill>
                  <a:srgbClr val="0070C0"/>
                </a:solidFill>
              </a:rPr>
              <a:t>(</a:t>
            </a:r>
            <a:r>
              <a:rPr lang="en-US" b="1" dirty="0" err="1">
                <a:solidFill>
                  <a:srgbClr val="0070C0"/>
                </a:solidFill>
              </a:rPr>
              <a:t>mpChan,numCarr</a:t>
            </a:r>
            <a:r>
              <a:rPr lang="en-US" b="1" dirty="0" smtClean="0">
                <a:solidFill>
                  <a:srgbClr val="0070C0"/>
                </a:solidFill>
              </a:rPr>
              <a:t>));</a:t>
            </a:r>
          </a:p>
          <a:p>
            <a:r>
              <a:rPr lang="en-US" b="1" dirty="0" err="1" smtClean="0">
                <a:solidFill>
                  <a:srgbClr val="0070C0"/>
                </a:solidFill>
              </a:rPr>
              <a:t>mpChanFreq</a:t>
            </a:r>
            <a:r>
              <a:rPr lang="en-US" b="1" dirty="0" smtClean="0">
                <a:solidFill>
                  <a:srgbClr val="0070C0"/>
                </a:solidFill>
              </a:rPr>
              <a:t>(</a:t>
            </a:r>
            <a:r>
              <a:rPr lang="en-US" b="1" dirty="0" err="1" smtClean="0">
                <a:solidFill>
                  <a:srgbClr val="0070C0"/>
                </a:solidFill>
              </a:rPr>
              <a:t>nullIdx</a:t>
            </a:r>
            <a:r>
              <a:rPr lang="en-US" b="1" dirty="0">
                <a:solidFill>
                  <a:srgbClr val="0070C0"/>
                </a:solidFill>
              </a:rPr>
              <a:t>) = </a:t>
            </a:r>
            <a:r>
              <a:rPr lang="en-US" b="1" dirty="0" smtClean="0">
                <a:solidFill>
                  <a:srgbClr val="0070C0"/>
                </a:solidFill>
              </a:rPr>
              <a:t>[ ];</a:t>
            </a:r>
            <a:endParaRPr lang="en-US" b="1" dirty="0">
              <a:solidFill>
                <a:srgbClr val="0070C0"/>
              </a:solidFill>
            </a:endParaRPr>
          </a:p>
        </p:txBody>
      </p:sp>
    </p:spTree>
    <p:extLst>
      <p:ext uri="{BB962C8B-B14F-4D97-AF65-F5344CB8AC3E}">
        <p14:creationId xmlns:p14="http://schemas.microsoft.com/office/powerpoint/2010/main" val="221230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12435" y="598925"/>
            <a:ext cx="11296073" cy="3329709"/>
          </a:xfrm>
        </p:spPr>
        <p:txBody>
          <a:bodyPr>
            <a:noAutofit/>
          </a:bodyPr>
          <a:lstStyle/>
          <a:p>
            <a:pPr marL="109728" indent="0">
              <a:buClrTx/>
              <a:buNone/>
            </a:pPr>
            <a:r>
              <a:rPr lang="en-US" altLang="en-US" sz="1600" b="1" dirty="0">
                <a:solidFill>
                  <a:srgbClr val="FF0000"/>
                </a:solidFill>
              </a:rPr>
              <a:t>TASK</a:t>
            </a:r>
          </a:p>
          <a:p>
            <a:pPr>
              <a:buClrTx/>
            </a:pPr>
            <a:r>
              <a:rPr lang="en-US" altLang="en-US" sz="1600" dirty="0"/>
              <a:t>Equalize the signal </a:t>
            </a:r>
            <a:r>
              <a:rPr lang="en-US" altLang="en-US" sz="1600" b="1" dirty="0"/>
              <a:t>ofdmDemodOu</a:t>
            </a:r>
            <a:r>
              <a:rPr lang="en-US" altLang="en-US" sz="1600" dirty="0"/>
              <a:t>t by dividing by </a:t>
            </a:r>
            <a:r>
              <a:rPr lang="en-US" altLang="en-US" sz="1600" b="1" dirty="0" err="1"/>
              <a:t>mpChanFreq</a:t>
            </a:r>
            <a:r>
              <a:rPr lang="en-US" altLang="en-US" sz="1600" dirty="0"/>
              <a:t>. Name the equalized signal </a:t>
            </a:r>
            <a:r>
              <a:rPr lang="en-US" altLang="en-US" sz="1600" b="1" dirty="0" err="1"/>
              <a:t>eqOut</a:t>
            </a:r>
            <a:r>
              <a:rPr lang="en-US" altLang="en-US" sz="1600" dirty="0" smtClean="0"/>
              <a:t>.</a:t>
            </a:r>
            <a:endParaRPr lang="en-US" altLang="en-US" sz="1600" dirty="0"/>
          </a:p>
          <a:p>
            <a:pPr>
              <a:buClrTx/>
            </a:pPr>
            <a:r>
              <a:rPr lang="en-US" altLang="en-US" sz="1600" dirty="0"/>
              <a:t>Create a </a:t>
            </a:r>
            <a:r>
              <a:rPr lang="en-US" altLang="en-US" sz="1600" b="1" dirty="0"/>
              <a:t>scatter plot </a:t>
            </a:r>
            <a:r>
              <a:rPr lang="en-US" altLang="en-US" sz="1600" dirty="0"/>
              <a:t>of the equalized signal.</a:t>
            </a:r>
          </a:p>
        </p:txBody>
      </p:sp>
      <p:sp>
        <p:nvSpPr>
          <p:cNvPr id="2" name="Rectangle 1"/>
          <p:cNvSpPr>
            <a:spLocks noChangeArrowheads="1"/>
          </p:cNvSpPr>
          <p:nvPr/>
        </p:nvSpPr>
        <p:spPr bwMode="auto">
          <a:xfrm>
            <a:off x="1052945" y="1741925"/>
            <a:ext cx="502311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eqOut</a:t>
            </a:r>
            <a:r>
              <a:rPr kumimoji="0" lang="en-US" altLang="en-US" sz="1800" b="1" i="0" u="none" strike="noStrike" cap="none" normalizeH="0" baseline="0" dirty="0" smtClean="0">
                <a:ln>
                  <a:noFill/>
                </a:ln>
                <a:solidFill>
                  <a:schemeClr val="tx1"/>
                </a:solidFill>
                <a:effectLst/>
                <a:latin typeface="Arial" panose="020B0604020202020204" pitchFamily="34" charset="0"/>
              </a:rPr>
              <a:t> = ofdmDemodOut ./ </a:t>
            </a:r>
            <a:r>
              <a:rPr kumimoji="0" lang="en-US" altLang="en-US" sz="1800" b="1" i="0" u="none" strike="noStrike" cap="none" normalizeH="0" baseline="0" dirty="0" err="1" smtClean="0">
                <a:ln>
                  <a:noFill/>
                </a:ln>
                <a:solidFill>
                  <a:schemeClr val="tx1"/>
                </a:solidFill>
                <a:effectLst/>
                <a:latin typeface="Arial" panose="020B0604020202020204" pitchFamily="34" charset="0"/>
              </a:rPr>
              <a:t>mpChanFreq</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scatterplot(</a:t>
            </a:r>
            <a:r>
              <a:rPr kumimoji="0" lang="en-US" altLang="en-US" sz="1800" b="1" i="0" u="none" strike="noStrike" cap="none" normalizeH="0" baseline="0" dirty="0" err="1" smtClean="0">
                <a:ln>
                  <a:noFill/>
                </a:ln>
                <a:solidFill>
                  <a:schemeClr val="tx1"/>
                </a:solidFill>
                <a:effectLst/>
                <a:latin typeface="Arial" panose="020B0604020202020204" pitchFamily="34" charset="0"/>
              </a:rPr>
              <a:t>eqOut</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title(</a:t>
            </a:r>
            <a:r>
              <a:rPr kumimoji="0" lang="en-US" altLang="en-US" sz="1800" b="1" i="0" u="none" strike="noStrike" cap="none" normalizeH="0" baseline="0" dirty="0" smtClean="0">
                <a:ln>
                  <a:noFill/>
                </a:ln>
                <a:solidFill>
                  <a:srgbClr val="A709F5"/>
                </a:solidFill>
                <a:effectLst/>
                <a:latin typeface="Arial" panose="020B0604020202020204" pitchFamily="34" charset="0"/>
              </a:rPr>
              <a:t>"Frequency Domain Equalizer Output"</a:t>
            </a:r>
            <a:r>
              <a:rPr kumimoji="0" lang="en-US" altLang="en-US" sz="1800" b="1" i="0" u="none" strike="noStrike" cap="none" normalizeH="0" baseline="0" dirty="0" smtClean="0">
                <a:ln>
                  <a:noFill/>
                </a:ln>
                <a:solidFill>
                  <a:schemeClr val="tx1"/>
                </a:solidFill>
                <a:effectLst/>
                <a:latin typeface="Arial" panose="020B0604020202020204" pitchFamily="34" charset="0"/>
              </a:rPr>
              <a:t>)</a:t>
            </a:r>
          </a:p>
        </p:txBody>
      </p:sp>
      <p:sp>
        <p:nvSpPr>
          <p:cNvPr id="4" name="Rectangle 2"/>
          <p:cNvSpPr>
            <a:spLocks noChangeArrowheads="1"/>
          </p:cNvSpPr>
          <p:nvPr/>
        </p:nvSpPr>
        <p:spPr bwMode="auto">
          <a:xfrm>
            <a:off x="0" y="4928844"/>
            <a:ext cx="9670995" cy="1732503"/>
          </a:xfrm>
          <a:prstGeom prst="rect">
            <a:avLst/>
          </a:prstGeom>
          <a:solidFill>
            <a:schemeClr val="bg1"/>
          </a:solidFill>
          <a:ln>
            <a:noFill/>
          </a:ln>
          <a:effec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C00000"/>
                </a:solidFill>
                <a:effectLst/>
                <a:latin typeface="Helvetica" panose="020B0604020202020204" pitchFamily="34" charset="0"/>
              </a:rPr>
              <a:t>Demodulate back into bits, then calculate the BER.</a:t>
            </a:r>
            <a:endParaRPr kumimoji="0" lang="en-US" altLang="en-US" sz="1800" b="1" i="0" u="none" strike="noStrike" cap="none" normalizeH="0" baseline="0" dirty="0" smtClean="0">
              <a:ln>
                <a:noFill/>
              </a:ln>
              <a:solidFill>
                <a:srgbClr val="C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if </a:t>
            </a:r>
            <a:r>
              <a:rPr kumimoji="0" lang="en-US" altLang="en-US" sz="1800" b="0" i="0" u="none" strike="noStrike" cap="none" normalizeH="0" baseline="0" dirty="0" smtClean="0">
                <a:ln>
                  <a:noFill/>
                </a:ln>
                <a:solidFill>
                  <a:schemeClr val="tx1"/>
                </a:solidFill>
                <a:effectLst/>
                <a:latin typeface="Arial" panose="020B0604020202020204" pitchFamily="34" charset="0"/>
              </a:rPr>
              <a:t>exist(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eqOut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var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8013"/>
                </a:solidFill>
                <a:effectLst/>
                <a:latin typeface="Arial" panose="020B0604020202020204" pitchFamily="34" charset="0"/>
              </a:rPr>
              <a:t>% code runs after you complete Task 7</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a:t>
            </a:r>
            <a:r>
              <a:rPr kumimoji="0" lang="en-US" altLang="en-US" sz="1800" b="0" i="0" u="none" strike="noStrike" cap="none" normalizeH="0" baseline="0" dirty="0" smtClean="0">
                <a:ln>
                  <a:noFill/>
                </a:ln>
                <a:solidFill>
                  <a:schemeClr val="tx1"/>
                </a:solidFill>
                <a:effectLst/>
                <a:latin typeface="Arial" panose="020B0604020202020204" pitchFamily="34" charset="0"/>
              </a:rPr>
              <a:t>(eqOut,</a:t>
            </a:r>
            <a:r>
              <a:rPr kumimoji="0" lang="en-US" altLang="en-US" sz="1800" b="0" i="0" u="none" strike="noStrike" cap="none" normalizeH="0" baseline="0" dirty="0" err="1" smtClean="0">
                <a:ln>
                  <a:noFill/>
                </a:ln>
                <a:solidFill>
                  <a:schemeClr val="tx1"/>
                </a:solidFill>
                <a:effectLst/>
                <a:latin typeface="Arial" panose="020B0604020202020204" pitchFamily="34" charset="0"/>
              </a:rPr>
              <a:t>modOrder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OutputType</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"bit"</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err="1" smtClean="0">
                <a:ln>
                  <a:noFill/>
                </a:ln>
                <a:solidFill>
                  <a:srgbClr val="A709F5"/>
                </a:solidFill>
                <a:effectLst/>
                <a:latin typeface="Arial" panose="020B0604020202020204" pitchFamily="34" charset="0"/>
              </a:rPr>
              <a:t>UnitAveragePower</a:t>
            </a:r>
            <a:r>
              <a:rPr kumimoji="0" lang="en-US" altLang="en-US" sz="1800" b="0" i="0" u="none" strike="noStrike" cap="none" normalizeH="0" baseline="0" dirty="0" smtClean="0">
                <a:ln>
                  <a:noFill/>
                </a:ln>
                <a:solidFill>
                  <a:srgbClr val="A709F5"/>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numBitErrors</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nnz</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srcBits</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err="1" smtClean="0">
                <a:ln>
                  <a:noFill/>
                </a:ln>
                <a:solidFill>
                  <a:schemeClr val="tx1"/>
                </a:solidFill>
                <a:effectLst/>
                <a:latin typeface="Arial" panose="020B0604020202020204" pitchFamily="34" charset="0"/>
              </a:rPr>
              <a:t>qamDemodOut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BER = </a:t>
            </a:r>
            <a:r>
              <a:rPr kumimoji="0" lang="en-US" altLang="en-US" sz="1800" b="0" i="0" u="none" strike="noStrike" cap="none" normalizeH="0" baseline="0" dirty="0" err="1" smtClean="0">
                <a:ln>
                  <a:noFill/>
                </a:ln>
                <a:solidFill>
                  <a:schemeClr val="tx1"/>
                </a:solidFill>
                <a:effectLst/>
                <a:latin typeface="Arial" panose="020B0604020202020204" pitchFamily="34" charset="0"/>
              </a:rPr>
              <a:t>numBitErrors</a:t>
            </a:r>
            <a:r>
              <a:rPr kumimoji="0" lang="en-US" altLang="en-US" sz="1800" b="0" i="0" u="none" strike="noStrike" cap="none" normalizeH="0" baseline="0" dirty="0" smtClean="0">
                <a:ln>
                  <a:noFill/>
                </a:ln>
                <a:solidFill>
                  <a:schemeClr val="tx1"/>
                </a:solidFill>
                <a:effectLst/>
                <a:latin typeface="Arial" panose="020B0604020202020204" pitchFamily="34" charset="0"/>
              </a:rPr>
              <a:t>/numBits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E00FF"/>
                </a:solidFill>
                <a:effectLst/>
                <a:latin typeface="Arial" panose="020B0604020202020204" pitchFamily="34" charset="0"/>
              </a:rPr>
              <a:t>end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68333" t="37845" r="4545" b="9899"/>
          <a:stretch/>
        </p:blipFill>
        <p:spPr>
          <a:xfrm>
            <a:off x="7647709" y="1389758"/>
            <a:ext cx="3768436" cy="4084227"/>
          </a:xfrm>
          <a:prstGeom prst="rect">
            <a:avLst/>
          </a:prstGeom>
        </p:spPr>
      </p:pic>
    </p:spTree>
    <p:extLst>
      <p:ext uri="{BB962C8B-B14F-4D97-AF65-F5344CB8AC3E}">
        <p14:creationId xmlns:p14="http://schemas.microsoft.com/office/powerpoint/2010/main" val="156292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Berlin">
  <a:themeElements>
    <a:clrScheme name="Custom 8">
      <a:dk1>
        <a:srgbClr val="6DAA2D"/>
      </a:dk1>
      <a:lt1>
        <a:sysClr val="window" lastClr="FFFFFF"/>
      </a:lt1>
      <a:dk2>
        <a:srgbClr val="17606F"/>
      </a:dk2>
      <a:lt2>
        <a:srgbClr val="E7E6E6"/>
      </a:lt2>
      <a:accent1>
        <a:srgbClr val="FFFFFF"/>
      </a:accent1>
      <a:accent2>
        <a:srgbClr val="60DE72"/>
      </a:accent2>
      <a:accent3>
        <a:srgbClr val="DDCC64"/>
      </a:accent3>
      <a:accent4>
        <a:srgbClr val="F49D50"/>
      </a:accent4>
      <a:accent5>
        <a:srgbClr val="E44951"/>
      </a:accent5>
      <a:accent6>
        <a:srgbClr val="D666F9"/>
      </a:accent6>
      <a:hlink>
        <a:srgbClr val="4BF7ED"/>
      </a:hlink>
      <a:folHlink>
        <a:srgbClr val="C41D25"/>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15204</TotalTime>
  <Words>2730</Words>
  <Application>Microsoft Office PowerPoint</Application>
  <PresentationFormat>Widescreen</PresentationFormat>
  <Paragraphs>369</Paragraphs>
  <Slides>34</Slides>
  <Notes>27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34</vt:i4>
      </vt:variant>
    </vt:vector>
  </HeadingPairs>
  <TitlesOfParts>
    <vt:vector size="47" baseType="lpstr">
      <vt:lpstr>-apple-system</vt:lpstr>
      <vt:lpstr>Arial</vt:lpstr>
      <vt:lpstr>Calibri</vt:lpstr>
      <vt:lpstr>Helvetica</vt:lpstr>
      <vt:lpstr>Lucida Sans Unicode</vt:lpstr>
      <vt:lpstr>Times New Roman</vt:lpstr>
      <vt:lpstr>Trebuchet MS</vt:lpstr>
      <vt:lpstr>Verdana</vt:lpstr>
      <vt:lpstr>Wingdings</vt:lpstr>
      <vt:lpstr>Wingdings 2</vt:lpstr>
      <vt:lpstr>Wingdings 3</vt:lpstr>
      <vt:lpstr>Berlin</vt:lpstr>
      <vt:lpstr>Concourse</vt:lpstr>
      <vt:lpstr>Communication Design </vt:lpstr>
      <vt:lpstr>Course Outline:</vt:lpstr>
      <vt:lpstr> </vt:lpstr>
      <vt:lpstr>   OFDM Modulation with the Inverse FFT (Basic link)</vt:lpstr>
      <vt:lpstr>Task 1 </vt:lpstr>
      <vt:lpstr>Task 1 </vt:lpstr>
      <vt:lpstr>Task 1 </vt:lpstr>
      <vt:lpstr>Task 2 </vt:lpstr>
      <vt:lpstr>Task 3 </vt:lpstr>
      <vt:lpstr>   OFDM Modulation with the Inverse FFT (Channel effects)</vt:lpstr>
      <vt:lpstr>Task 1 </vt:lpstr>
      <vt:lpstr>Task 1 </vt:lpstr>
      <vt:lpstr>Task 1 </vt:lpstr>
      <vt:lpstr>Task 1 </vt:lpstr>
      <vt:lpstr>Task 1 </vt:lpstr>
      <vt:lpstr>   Frequency Domain Equalization </vt:lpstr>
      <vt:lpstr>Task 1 </vt:lpstr>
      <vt:lpstr>Task 2 </vt:lpstr>
      <vt:lpstr>Task 3 </vt:lpstr>
      <vt:lpstr>Task 4 </vt:lpstr>
      <vt:lpstr>Task 5 </vt:lpstr>
      <vt:lpstr>Task 5 </vt:lpstr>
      <vt:lpstr>Task 6 </vt:lpstr>
      <vt:lpstr>   Null Subcarriers </vt:lpstr>
      <vt:lpstr>PowerPoint Presentation</vt:lpstr>
      <vt:lpstr>Task 1 </vt:lpstr>
      <vt:lpstr>Task 1 </vt:lpstr>
      <vt:lpstr>Task 2 </vt:lpstr>
      <vt:lpstr>Task 3 </vt:lpstr>
      <vt:lpstr>Task 4 </vt:lpstr>
      <vt:lpstr>Task 4 </vt:lpstr>
      <vt:lpstr>Task 5 </vt:lpstr>
      <vt:lpstr>Task 6 </vt:lpstr>
      <vt:lpstr>Task 7 </vt:lpstr>
    </vt:vector>
  </TitlesOfParts>
  <Company>Al-Qaisar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Ammar</dc:creator>
  <cp:lastModifiedBy>Ammar</cp:lastModifiedBy>
  <cp:revision>207</cp:revision>
  <dcterms:created xsi:type="dcterms:W3CDTF">2023-10-02T10:05:27Z</dcterms:created>
  <dcterms:modified xsi:type="dcterms:W3CDTF">2024-04-21T12:52:36Z</dcterms:modified>
</cp:coreProperties>
</file>