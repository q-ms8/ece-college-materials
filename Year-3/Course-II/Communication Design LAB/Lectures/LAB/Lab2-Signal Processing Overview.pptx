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88" r:id="rId1"/>
    <p:sldMasterId id="2147484206" r:id="rId2"/>
  </p:sldMasterIdLst>
  <p:notesMasterIdLst>
    <p:notesMasterId r:id="rId25"/>
  </p:notesMasterIdLst>
  <p:sldIdLst>
    <p:sldId id="271" r:id="rId3"/>
    <p:sldId id="272" r:id="rId4"/>
    <p:sldId id="302" r:id="rId5"/>
    <p:sldId id="306" r:id="rId6"/>
    <p:sldId id="273" r:id="rId7"/>
    <p:sldId id="298" r:id="rId8"/>
    <p:sldId id="299" r:id="rId9"/>
    <p:sldId id="300" r:id="rId10"/>
    <p:sldId id="301" r:id="rId11"/>
    <p:sldId id="303" r:id="rId12"/>
    <p:sldId id="304" r:id="rId13"/>
    <p:sldId id="307" r:id="rId14"/>
    <p:sldId id="309" r:id="rId15"/>
    <p:sldId id="305" r:id="rId16"/>
    <p:sldId id="310" r:id="rId17"/>
    <p:sldId id="308" r:id="rId18"/>
    <p:sldId id="311" r:id="rId19"/>
    <p:sldId id="312" r:id="rId20"/>
    <p:sldId id="313" r:id="rId21"/>
    <p:sldId id="321" r:id="rId22"/>
    <p:sldId id="322" r:id="rId23"/>
    <p:sldId id="32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6C1E05-4EA0-4B40-A596-1CFBDA5523D8}" type="datetimeFigureOut">
              <a:rPr lang="en-US" smtClean="0"/>
              <a:t>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175833-B9DE-4319-A13D-F99B8F81B187}" type="slidenum">
              <a:rPr lang="en-US" smtClean="0"/>
              <a:t>‹#›</a:t>
            </a:fld>
            <a:endParaRPr lang="en-US"/>
          </a:p>
        </p:txBody>
      </p:sp>
    </p:spTree>
    <p:extLst>
      <p:ext uri="{BB962C8B-B14F-4D97-AF65-F5344CB8AC3E}">
        <p14:creationId xmlns:p14="http://schemas.microsoft.com/office/powerpoint/2010/main" val="3209451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C80245-7872-4A6F-B54D-234D3FB35212}" type="slidenum">
              <a:rPr lang="en-US" smtClean="0"/>
              <a:t>1</a:t>
            </a:fld>
            <a:endParaRPr lang="en-US"/>
          </a:p>
        </p:txBody>
      </p:sp>
    </p:spTree>
    <p:extLst>
      <p:ext uri="{BB962C8B-B14F-4D97-AF65-F5344CB8AC3E}">
        <p14:creationId xmlns:p14="http://schemas.microsoft.com/office/powerpoint/2010/main" val="2039119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5</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1317351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6</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673169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7</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1276266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8</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1963181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9</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595916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11</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142204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14</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3558014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15</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3925830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16</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7875283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17</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437396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18</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4208704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20</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1152724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21</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4072550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22</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7055795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BF96EA4-2D53-4203-954D-CFC94D62B5A8}" type="datetimeFigureOut">
              <a:rPr lang="en-US" smtClean="0"/>
              <a:t>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1360818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BF96EA4-2D53-4203-954D-CFC94D62B5A8}" type="datetimeFigureOut">
              <a:rPr lang="en-US" smtClean="0"/>
              <a:t>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1195608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BF96EA4-2D53-4203-954D-CFC94D62B5A8}" type="datetimeFigureOut">
              <a:rPr lang="en-US" smtClean="0"/>
              <a:t>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51327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BF96EA4-2D53-4203-954D-CFC94D62B5A8}" type="datetimeFigureOut">
              <a:rPr lang="en-US" smtClean="0"/>
              <a:t>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465709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BF96EA4-2D53-4203-954D-CFC94D62B5A8}" type="datetimeFigureOut">
              <a:rPr lang="en-US" smtClean="0"/>
              <a:t>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874216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BF96EA4-2D53-4203-954D-CFC94D62B5A8}" type="datetimeFigureOut">
              <a:rPr lang="en-US" smtClean="0"/>
              <a:t>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1151392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0BF96EA4-2D53-4203-954D-CFC94D62B5A8}" type="datetimeFigureOut">
              <a:rPr lang="en-US" smtClean="0"/>
              <a:t>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2166240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948595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671591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56700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802341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2FB79782-ADA0-44BB-ABED-8390C1709453}"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0378117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416119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0BF96EA4-2D53-4203-954D-CFC94D62B5A8}" type="datetimeFigureOut">
              <a:rPr lang="en-US" smtClean="0"/>
              <a:t>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29878917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0BF96EA4-2D53-4203-954D-CFC94D62B5A8}" type="datetimeFigureOut">
              <a:rPr lang="en-US" smtClean="0"/>
              <a:t>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5459860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BF96EA4-2D53-4203-954D-CFC94D62B5A8}" type="datetimeFigureOut">
              <a:rPr lang="en-US" smtClean="0"/>
              <a:t>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1619910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0BF96EA4-2D53-4203-954D-CFC94D62B5A8}" type="datetimeFigureOut">
              <a:rPr lang="en-US" smtClean="0"/>
              <a:t>2/8/2024</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2FB79782-ADA0-44BB-ABED-8390C1709453}" type="slidenum">
              <a:rPr lang="en-US" smtClean="0"/>
              <a:t>‹#›</a:t>
            </a:fld>
            <a:endParaRPr lang="en-US"/>
          </a:p>
        </p:txBody>
      </p:sp>
    </p:spTree>
    <p:extLst>
      <p:ext uri="{BB962C8B-B14F-4D97-AF65-F5344CB8AC3E}">
        <p14:creationId xmlns:p14="http://schemas.microsoft.com/office/powerpoint/2010/main" val="22582015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BF96EA4-2D53-4203-954D-CFC94D62B5A8}" type="datetimeFigureOut">
              <a:rPr lang="en-US" smtClean="0"/>
              <a:t>2/8/2024</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2FB79782-ADA0-44BB-ABED-8390C1709453}" type="slidenum">
              <a:rPr lang="en-US" smtClean="0"/>
              <a:t>‹#›</a:t>
            </a:fld>
            <a:endParaRPr lang="en-US"/>
          </a:p>
        </p:txBody>
      </p:sp>
    </p:spTree>
    <p:extLst>
      <p:ext uri="{BB962C8B-B14F-4D97-AF65-F5344CB8AC3E}">
        <p14:creationId xmlns:p14="http://schemas.microsoft.com/office/powerpoint/2010/main" val="420419440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F96EA4-2D53-4203-954D-CFC94D62B5A8}" type="datetimeFigureOut">
              <a:rPr lang="en-US" smtClean="0"/>
              <a:t>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
        <p:nvSpPr>
          <p:cNvPr id="7" name="Title 6"/>
          <p:cNvSpPr>
            <a:spLocks noGrp="1"/>
          </p:cNvSpPr>
          <p:nvPr>
            <p:ph type="title"/>
          </p:nvPr>
        </p:nvSpPr>
        <p:spPr/>
        <p:txBody>
          <a:bodyPr rtlCol="0"/>
          <a:lstStyle/>
          <a:p>
            <a:r>
              <a:rPr kumimoji="0" lang="en-US" smtClean="0"/>
              <a:t>Click to edit Master title style</a:t>
            </a:r>
            <a:endParaRPr kumimoji="0" lang="en-US"/>
          </a:p>
        </p:txBody>
      </p:sp>
    </p:spTree>
    <p:extLst>
      <p:ext uri="{BB962C8B-B14F-4D97-AF65-F5344CB8AC3E}">
        <p14:creationId xmlns:p14="http://schemas.microsoft.com/office/powerpoint/2010/main" val="436356897"/>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0BF96EA4-2D53-4203-954D-CFC94D62B5A8}" type="datetimeFigureOut">
              <a:rPr lang="en-US" smtClean="0"/>
              <a:t>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Tree>
    <p:extLst>
      <p:ext uri="{BB962C8B-B14F-4D97-AF65-F5344CB8AC3E}">
        <p14:creationId xmlns:p14="http://schemas.microsoft.com/office/powerpoint/2010/main" val="2526434278"/>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0BF96EA4-2D53-4203-954D-CFC94D62B5A8}" type="datetimeFigureOut">
              <a:rPr lang="en-US" smtClean="0"/>
              <a:t>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79782-ADA0-44BB-ABED-8390C1709453}" type="slidenum">
              <a:rPr lang="en-US" smtClean="0"/>
              <a:t>‹#›</a:t>
            </a:fld>
            <a:endParaRPr lang="en-US"/>
          </a:p>
        </p:txBody>
      </p:sp>
      <p:sp>
        <p:nvSpPr>
          <p:cNvPr id="8" name="Title 7"/>
          <p:cNvSpPr>
            <a:spLocks noGrp="1"/>
          </p:cNvSpPr>
          <p:nvPr>
            <p:ph type="title"/>
          </p:nvPr>
        </p:nvSpPr>
        <p:spPr/>
        <p:txBody>
          <a:bodyPr rtlCol="0"/>
          <a:lstStyle/>
          <a:p>
            <a:r>
              <a:rPr kumimoji="0" lang="en-US" smtClean="0"/>
              <a:t>Click to edit Master title style</a:t>
            </a:r>
            <a:endParaRPr kumimoji="0" lang="en-US"/>
          </a:p>
        </p:txBody>
      </p:sp>
    </p:spTree>
    <p:extLst>
      <p:ext uri="{BB962C8B-B14F-4D97-AF65-F5344CB8AC3E}">
        <p14:creationId xmlns:p14="http://schemas.microsoft.com/office/powerpoint/2010/main" val="3758215060"/>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0BF96EA4-2D53-4203-954D-CFC94D62B5A8}" type="datetimeFigureOut">
              <a:rPr lang="en-US" smtClean="0"/>
              <a:t>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2735182881"/>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BF96EA4-2D53-4203-954D-CFC94D62B5A8}" type="datetimeFigureOut">
              <a:rPr lang="en-US" smtClean="0"/>
              <a:t>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B79782-ADA0-44BB-ABED-8390C1709453}" type="slidenum">
              <a:rPr lang="en-US" smtClean="0"/>
              <a:t>‹#›</a:t>
            </a:fld>
            <a:endParaRPr lang="en-US"/>
          </a:p>
        </p:txBody>
      </p:sp>
      <p:sp>
        <p:nvSpPr>
          <p:cNvPr id="6" name="Title 5"/>
          <p:cNvSpPr>
            <a:spLocks noGrp="1"/>
          </p:cNvSpPr>
          <p:nvPr>
            <p:ph type="title"/>
          </p:nvPr>
        </p:nvSpPr>
        <p:spPr/>
        <p:txBody>
          <a:bodyPr rtlCol="0"/>
          <a:lstStyle/>
          <a:p>
            <a:r>
              <a:rPr kumimoji="0" lang="en-US" smtClean="0"/>
              <a:t>Click to edit Master title style</a:t>
            </a:r>
            <a:endParaRPr kumimoji="0" lang="en-US"/>
          </a:p>
        </p:txBody>
      </p:sp>
    </p:spTree>
    <p:extLst>
      <p:ext uri="{BB962C8B-B14F-4D97-AF65-F5344CB8AC3E}">
        <p14:creationId xmlns:p14="http://schemas.microsoft.com/office/powerpoint/2010/main" val="1422548933"/>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F96EA4-2D53-4203-954D-CFC94D62B5A8}" type="datetimeFigureOut">
              <a:rPr lang="en-US" smtClean="0"/>
              <a:t>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25342529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p>
            <a:fld id="{0BF96EA4-2D53-4203-954D-CFC94D62B5A8}" type="datetimeFigureOut">
              <a:rPr lang="en-US" smtClean="0"/>
              <a:t>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80004406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BF96EA4-2D53-4203-954D-CFC94D62B5A8}" type="datetimeFigureOut">
              <a:rPr lang="en-US" smtClean="0"/>
              <a:t>2/8/2024</a:t>
            </a:fld>
            <a:endParaRPr lang="en-US"/>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2FB79782-ADA0-44BB-ABED-8390C1709453}" type="slidenum">
              <a:rPr lang="en-US" smtClean="0"/>
              <a:t>‹#›</a:t>
            </a:fld>
            <a:endParaRPr lang="en-US"/>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9" name="Freeform 8"/>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Right Triangle 9"/>
          <p:cNvSpPr>
            <a:spLocks/>
          </p:cNvSpPr>
          <p:nvPr/>
        </p:nvSpPr>
        <p:spPr bwMode="auto">
          <a:xfrm>
            <a:off x="-8056" y="5791253"/>
            <a:ext cx="4536419"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Tree>
    <p:extLst>
      <p:ext uri="{BB962C8B-B14F-4D97-AF65-F5344CB8AC3E}">
        <p14:creationId xmlns:p14="http://schemas.microsoft.com/office/powerpoint/2010/main" val="2272677201"/>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1481330"/>
            <a:ext cx="10972800" cy="4386071"/>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F96EA4-2D53-4203-954D-CFC94D62B5A8}" type="datetimeFigureOut">
              <a:rPr lang="en-US" smtClean="0"/>
              <a:t>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364077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41"/>
            <a:ext cx="8432800" cy="559276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F96EA4-2D53-4203-954D-CFC94D62B5A8}" type="datetimeFigureOut">
              <a:rPr lang="en-US" smtClean="0"/>
              <a:t>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47133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image" Target="../media/image4.jpeg"/><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BF96EA4-2D53-4203-954D-CFC94D62B5A8}" type="datetimeFigureOut">
              <a:rPr lang="en-US" smtClean="0"/>
              <a:t>2/8/2024</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2FB79782-ADA0-44BB-ABED-8390C1709453}" type="slidenum">
              <a:rPr lang="en-US" smtClean="0"/>
              <a:t>‹#›</a:t>
            </a:fld>
            <a:endParaRPr lang="en-US"/>
          </a:p>
        </p:txBody>
      </p:sp>
    </p:spTree>
    <p:extLst>
      <p:ext uri="{BB962C8B-B14F-4D97-AF65-F5344CB8AC3E}">
        <p14:creationId xmlns:p14="http://schemas.microsoft.com/office/powerpoint/2010/main" val="1312402181"/>
      </p:ext>
    </p:extLst>
  </p:cSld>
  <p:clrMap bg1="dk1" tx1="lt1" bg2="dk2" tx2="lt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 id="2147484200" r:id="rId12"/>
    <p:sldLayoutId id="2147484201" r:id="rId13"/>
    <p:sldLayoutId id="2147484202" r:id="rId14"/>
    <p:sldLayoutId id="2147484203" r:id="rId15"/>
    <p:sldLayoutId id="2147484204" r:id="rId16"/>
    <p:sldLayoutId id="2147484205"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2" name="Freeform 11"/>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4" name="Right Triangle 13"/>
          <p:cNvSpPr>
            <a:spLocks/>
          </p:cNvSpPr>
          <p:nvPr/>
        </p:nvSpPr>
        <p:spPr bwMode="auto">
          <a:xfrm>
            <a:off x="-8056" y="5791253"/>
            <a:ext cx="4536419"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0BF96EA4-2D53-4203-954D-CFC94D62B5A8}" type="datetimeFigureOut">
              <a:rPr lang="en-US" smtClean="0"/>
              <a:t>2/8/2024</a:t>
            </a:fld>
            <a:endParaRPr lang="en-US"/>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2FB79782-ADA0-44BB-ABED-8390C1709453}" type="slidenum">
              <a:rPr lang="en-US" smtClean="0"/>
              <a:t>‹#›</a:t>
            </a:fld>
            <a:endParaRPr lang="en-US"/>
          </a:p>
        </p:txBody>
      </p:sp>
    </p:spTree>
    <p:extLst>
      <p:ext uri="{BB962C8B-B14F-4D97-AF65-F5344CB8AC3E}">
        <p14:creationId xmlns:p14="http://schemas.microsoft.com/office/powerpoint/2010/main" val="2091053518"/>
      </p:ext>
    </p:extLst>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Lst>
  <mc:AlternateContent xmlns:mc="http://schemas.openxmlformats.org/markup-compatibility/2006" xmlns:p14="http://schemas.microsoft.com/office/powerpoint/2010/main">
    <mc:Choice Requires="p14">
      <p:transition spd="slow" p14:dur="2000">
        <p:sndAc>
          <p:endSnd/>
        </p:sndAc>
      </p:transition>
    </mc:Choice>
    <mc:Fallback xmlns="">
      <p:transition spd="slow">
        <p:sndAc>
          <p:endSnd/>
        </p:sndAc>
      </p:transition>
    </mc:Fallback>
  </mc:AlternateContent>
  <p:timing>
    <p:tnLst>
      <p:par>
        <p:cTn id="1" dur="indefinite" restart="never" nodeType="tmRoot"/>
      </p:par>
    </p:tnLst>
  </p:timing>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tif"/><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9.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noAutofit/>
          </a:bodyPr>
          <a:lstStyle/>
          <a:p>
            <a:pPr algn="ctr"/>
            <a:r>
              <a:rPr lang="en-US" b="1" dirty="0" smtClean="0">
                <a:solidFill>
                  <a:schemeClr val="bg2">
                    <a:lumMod val="50000"/>
                  </a:schemeClr>
                </a:solidFill>
              </a:rPr>
              <a:t>Communication Design </a:t>
            </a:r>
            <a:endParaRPr lang="en-US" b="1" dirty="0">
              <a:solidFill>
                <a:schemeClr val="bg2">
                  <a:lumMod val="50000"/>
                </a:schemeClr>
              </a:solidFill>
            </a:endParaRPr>
          </a:p>
        </p:txBody>
      </p:sp>
      <p:sp>
        <p:nvSpPr>
          <p:cNvPr id="3" name="Subtitle 2"/>
          <p:cNvSpPr>
            <a:spLocks noGrp="1"/>
          </p:cNvSpPr>
          <p:nvPr>
            <p:ph type="subTitle" idx="1"/>
          </p:nvPr>
        </p:nvSpPr>
        <p:spPr>
          <a:xfrm>
            <a:off x="680322" y="4624948"/>
            <a:ext cx="8144134" cy="1117687"/>
          </a:xfrm>
        </p:spPr>
        <p:txBody>
          <a:bodyPr>
            <a:normAutofit fontScale="77500" lnSpcReduction="20000"/>
          </a:bodyPr>
          <a:lstStyle/>
          <a:p>
            <a:r>
              <a:rPr lang="en-US" sz="3300" b="1" dirty="0" smtClean="0">
                <a:solidFill>
                  <a:srgbClr val="FFFF00"/>
                </a:solidFill>
              </a:rPr>
              <a:t># LAB.2              </a:t>
            </a:r>
            <a:r>
              <a:rPr lang="en-US" sz="3300" b="1" dirty="0">
                <a:solidFill>
                  <a:srgbClr val="FFFF00"/>
                </a:solidFill>
              </a:rPr>
              <a:t>Signal Processing Overview</a:t>
            </a:r>
          </a:p>
          <a:p>
            <a:endParaRPr lang="en-US" sz="2800" b="1" dirty="0" smtClean="0">
              <a:solidFill>
                <a:srgbClr val="FFFF00"/>
              </a:solidFill>
            </a:endParaRPr>
          </a:p>
          <a:p>
            <a:r>
              <a:rPr lang="en-US" sz="2800" b="1" dirty="0" smtClean="0">
                <a:solidFill>
                  <a:srgbClr val="FFFF00"/>
                </a:solidFill>
              </a:rPr>
              <a:t>Ass.Lec.Ammar Alabbassi</a:t>
            </a:r>
            <a:endParaRPr lang="en-US" sz="2800" b="1" dirty="0">
              <a:solidFill>
                <a:srgbClr val="FFFF00"/>
              </a:solidFill>
            </a:endParaRPr>
          </a:p>
        </p:txBody>
      </p:sp>
      <p:pic>
        <p:nvPicPr>
          <p:cNvPr id="4" name="Picture 3"/>
          <p:cNvPicPr>
            <a:picLocks noChangeAspect="1"/>
          </p:cNvPicPr>
          <p:nvPr/>
        </p:nvPicPr>
        <p:blipFill>
          <a:blip r:embed="rId3"/>
          <a:stretch>
            <a:fillRect/>
          </a:stretch>
        </p:blipFill>
        <p:spPr>
          <a:xfrm>
            <a:off x="680322" y="287033"/>
            <a:ext cx="2257425" cy="202882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2944" y="393832"/>
            <a:ext cx="1434354" cy="143435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3739269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marL="838200" indent="-838200"/>
            <a:r>
              <a:rPr lang="en-US" altLang="en-US" dirty="0" smtClean="0">
                <a:solidFill>
                  <a:srgbClr val="FF0000"/>
                </a:solidFill>
                <a:latin typeface="Times New Roman" panose="02020603050405020304" pitchFamily="18" charset="0"/>
                <a:cs typeface="Times New Roman" panose="02020603050405020304" pitchFamily="18" charset="0"/>
              </a:rPr>
              <a:t>Outline:</a:t>
            </a:r>
            <a:endParaRPr lang="tr-TR" altLang="en-US" dirty="0" smtClean="0">
              <a:solidFill>
                <a:srgbClr val="FF0000"/>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type="body" idx="1"/>
          </p:nvPr>
        </p:nvSpPr>
        <p:spPr>
          <a:xfrm>
            <a:off x="1136073" y="1371600"/>
            <a:ext cx="9352541" cy="4248150"/>
          </a:xfrm>
        </p:spPr>
        <p:txBody>
          <a:bodyPr>
            <a:normAutofit/>
          </a:bodyPr>
          <a:lstStyle/>
          <a:p>
            <a:pPr>
              <a:lnSpc>
                <a:spcPct val="150000"/>
              </a:lnSpc>
            </a:pPr>
            <a:r>
              <a:rPr lang="en-US" altLang="en-US" sz="2800" dirty="0">
                <a:latin typeface="Times New Roman" panose="02020603050405020304" pitchFamily="18" charset="0"/>
                <a:cs typeface="Times New Roman" panose="02020603050405020304" pitchFamily="18" charset="0"/>
              </a:rPr>
              <a:t>Signal Processing </a:t>
            </a:r>
            <a:r>
              <a:rPr lang="en-US" altLang="en-US" sz="2800" dirty="0" smtClean="0">
                <a:latin typeface="Times New Roman" panose="02020603050405020304" pitchFamily="18" charset="0"/>
                <a:cs typeface="Times New Roman" panose="02020603050405020304" pitchFamily="18" charset="0"/>
              </a:rPr>
              <a:t>Overview</a:t>
            </a:r>
          </a:p>
          <a:p>
            <a:pPr>
              <a:lnSpc>
                <a:spcPct val="150000"/>
              </a:lnSpc>
            </a:pPr>
            <a:r>
              <a:rPr lang="en-US" altLang="en-US" sz="2800" dirty="0" smtClean="0">
                <a:latin typeface="Times New Roman" panose="02020603050405020304" pitchFamily="18" charset="0"/>
                <a:cs typeface="Times New Roman" panose="02020603050405020304" pitchFamily="18" charset="0"/>
              </a:rPr>
              <a:t>Generate </a:t>
            </a:r>
            <a:r>
              <a:rPr lang="en-US" altLang="en-US" sz="2800" dirty="0">
                <a:latin typeface="Times New Roman" panose="02020603050405020304" pitchFamily="18" charset="0"/>
                <a:cs typeface="Times New Roman" panose="02020603050405020304" pitchFamily="18" charset="0"/>
              </a:rPr>
              <a:t>Signals </a:t>
            </a:r>
            <a:endParaRPr lang="en-US" altLang="en-US" sz="2800" dirty="0" smtClean="0">
              <a:latin typeface="Times New Roman" panose="02020603050405020304" pitchFamily="18" charset="0"/>
              <a:cs typeface="Times New Roman" panose="02020603050405020304" pitchFamily="18" charset="0"/>
            </a:endParaRPr>
          </a:p>
          <a:p>
            <a:pPr>
              <a:lnSpc>
                <a:spcPct val="150000"/>
              </a:lnSpc>
            </a:pPr>
            <a:r>
              <a:rPr lang="en-US" altLang="en-US" sz="2800" dirty="0" smtClean="0">
                <a:latin typeface="Times New Roman" panose="02020603050405020304" pitchFamily="18" charset="0"/>
                <a:cs typeface="Times New Roman" panose="02020603050405020304" pitchFamily="18" charset="0"/>
              </a:rPr>
              <a:t>Import Signals</a:t>
            </a:r>
          </a:p>
          <a:p>
            <a:pPr>
              <a:lnSpc>
                <a:spcPct val="150000"/>
              </a:lnSpc>
            </a:pPr>
            <a:r>
              <a:rPr lang="en-US" altLang="en-US" sz="2800" dirty="0">
                <a:latin typeface="Times New Roman" panose="02020603050405020304" pitchFamily="18" charset="0"/>
                <a:cs typeface="Times New Roman" panose="02020603050405020304" pitchFamily="18" charset="0"/>
              </a:rPr>
              <a:t>View Power </a:t>
            </a:r>
            <a:r>
              <a:rPr lang="en-US" altLang="en-US" sz="2800" dirty="0" smtClean="0">
                <a:latin typeface="Times New Roman" panose="02020603050405020304" pitchFamily="18" charset="0"/>
                <a:cs typeface="Times New Roman" panose="02020603050405020304" pitchFamily="18" charset="0"/>
              </a:rPr>
              <a:t>Spectrum</a:t>
            </a:r>
          </a:p>
          <a:p>
            <a:pPr>
              <a:lnSpc>
                <a:spcPct val="150000"/>
              </a:lnSpc>
            </a:pPr>
            <a:r>
              <a:rPr lang="en-US" altLang="en-US" sz="2800" dirty="0" smtClean="0">
                <a:latin typeface="Times New Roman" panose="02020603050405020304" pitchFamily="18" charset="0"/>
                <a:cs typeface="Times New Roman" panose="02020603050405020304" pitchFamily="18" charset="0"/>
              </a:rPr>
              <a:t>Compare Signals</a:t>
            </a:r>
          </a:p>
          <a:p>
            <a:pPr>
              <a:lnSpc>
                <a:spcPct val="150000"/>
              </a:lnSpc>
            </a:pPr>
            <a:endParaRPr lang="en-US" alt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2955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Signal Processing Overview</a:t>
            </a:r>
            <a:r>
              <a:rPr lang="en-US" dirty="0"/>
              <a:t/>
            </a:r>
            <a:br>
              <a:rPr lang="en-US" dirty="0"/>
            </a:br>
            <a:endParaRPr lang="en-US" dirty="0"/>
          </a:p>
        </p:txBody>
      </p:sp>
      <p:pic>
        <p:nvPicPr>
          <p:cNvPr id="3074" name="Picture 2" descr="https://lcms-files.mathworks.com/content/file/add2eec8-5f8f-44e7-b78d-0cb3968351cc/workflow.jpg?versionId=MuaULEmL0BUzFIlHY._fTA4k5nSj170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9004" y="1935626"/>
            <a:ext cx="3827541" cy="411228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84242" y="1108101"/>
            <a:ext cx="7864762" cy="4939814"/>
          </a:xfrm>
          <a:prstGeom prst="rect">
            <a:avLst/>
          </a:prstGeom>
        </p:spPr>
        <p:txBody>
          <a:bodyPr wrap="square">
            <a:spAutoFit/>
          </a:bodyPr>
          <a:lstStyle/>
          <a:p>
            <a:pPr algn="just" fontAlgn="base">
              <a:lnSpc>
                <a:spcPct val="250000"/>
              </a:lnSpc>
              <a:buFont typeface="+mj-lt"/>
              <a:buAutoNum type="arabicPeriod"/>
            </a:pPr>
            <a:r>
              <a:rPr lang="en-US" dirty="0">
                <a:solidFill>
                  <a:srgbClr val="FF0000"/>
                </a:solidFill>
                <a:latin typeface="Arial" panose="020B0604020202020204" pitchFamily="34" charset="0"/>
              </a:rPr>
              <a:t>Generate </a:t>
            </a:r>
            <a:r>
              <a:rPr lang="en-US" dirty="0" smtClean="0">
                <a:solidFill>
                  <a:srgbClr val="FF0000"/>
                </a:solidFill>
                <a:latin typeface="Arial" panose="020B0604020202020204" pitchFamily="34" charset="0"/>
              </a:rPr>
              <a:t>signals.</a:t>
            </a:r>
            <a:endParaRPr lang="en-US" dirty="0">
              <a:solidFill>
                <a:srgbClr val="FF0000"/>
              </a:solidFill>
              <a:latin typeface="Arial" panose="020B0604020202020204" pitchFamily="34" charset="0"/>
            </a:endParaRPr>
          </a:p>
          <a:p>
            <a:pPr algn="just" fontAlgn="base">
              <a:lnSpc>
                <a:spcPct val="250000"/>
              </a:lnSpc>
              <a:buFont typeface="+mj-lt"/>
              <a:buAutoNum type="arabicPeriod"/>
            </a:pPr>
            <a:r>
              <a:rPr lang="en-US" dirty="0" smtClean="0">
                <a:solidFill>
                  <a:srgbClr val="FF0000"/>
                </a:solidFill>
                <a:latin typeface="Arial" panose="020B0604020202020204" pitchFamily="34" charset="0"/>
              </a:rPr>
              <a:t>Import </a:t>
            </a:r>
            <a:r>
              <a:rPr lang="en-US" dirty="0">
                <a:solidFill>
                  <a:srgbClr val="FF0000"/>
                </a:solidFill>
                <a:latin typeface="Arial" panose="020B0604020202020204" pitchFamily="34" charset="0"/>
              </a:rPr>
              <a:t>the signals into </a:t>
            </a:r>
            <a:r>
              <a:rPr lang="en-US" dirty="0" smtClean="0">
                <a:solidFill>
                  <a:srgbClr val="FF0000"/>
                </a:solidFill>
                <a:latin typeface="Arial" panose="020B0604020202020204" pitchFamily="34" charset="0"/>
              </a:rPr>
              <a:t>MATLAB.</a:t>
            </a:r>
          </a:p>
          <a:p>
            <a:pPr algn="just" fontAlgn="base">
              <a:lnSpc>
                <a:spcPct val="250000"/>
              </a:lnSpc>
              <a:buFont typeface="+mj-lt"/>
              <a:buAutoNum type="arabicPeriod"/>
            </a:pPr>
            <a:r>
              <a:rPr lang="en-US" dirty="0" smtClean="0">
                <a:solidFill>
                  <a:srgbClr val="212121"/>
                </a:solidFill>
                <a:latin typeface="Arial" panose="020B0604020202020204" pitchFamily="34" charset="0"/>
              </a:rPr>
              <a:t>Preprocess </a:t>
            </a:r>
            <a:r>
              <a:rPr lang="en-US" dirty="0">
                <a:solidFill>
                  <a:srgbClr val="212121"/>
                </a:solidFill>
                <a:latin typeface="Arial" panose="020B0604020202020204" pitchFamily="34" charset="0"/>
              </a:rPr>
              <a:t>the signals in the time domain to prepare them for analysis</a:t>
            </a:r>
          </a:p>
          <a:p>
            <a:pPr algn="just" fontAlgn="base">
              <a:lnSpc>
                <a:spcPct val="250000"/>
              </a:lnSpc>
              <a:buFont typeface="+mj-lt"/>
              <a:buAutoNum type="arabicPeriod"/>
            </a:pPr>
            <a:r>
              <a:rPr lang="en-US" dirty="0">
                <a:solidFill>
                  <a:srgbClr val="212121"/>
                </a:solidFill>
                <a:latin typeface="Arial" panose="020B0604020202020204" pitchFamily="34" charset="0"/>
              </a:rPr>
              <a:t>Look at the power spectrum in the frequency domain</a:t>
            </a:r>
          </a:p>
          <a:p>
            <a:pPr algn="just" fontAlgn="base">
              <a:lnSpc>
                <a:spcPct val="250000"/>
              </a:lnSpc>
              <a:buFont typeface="+mj-lt"/>
              <a:buAutoNum type="arabicPeriod"/>
            </a:pPr>
            <a:r>
              <a:rPr lang="en-US" dirty="0">
                <a:solidFill>
                  <a:srgbClr val="212121"/>
                </a:solidFill>
                <a:latin typeface="Arial" panose="020B0604020202020204" pitchFamily="34" charset="0"/>
              </a:rPr>
              <a:t>Filter the signals to keep only relevant frequency content</a:t>
            </a:r>
          </a:p>
          <a:p>
            <a:pPr algn="just" fontAlgn="base">
              <a:lnSpc>
                <a:spcPct val="250000"/>
              </a:lnSpc>
              <a:buFont typeface="+mj-lt"/>
              <a:buAutoNum type="arabicPeriod"/>
            </a:pPr>
            <a:r>
              <a:rPr lang="en-US" dirty="0">
                <a:solidFill>
                  <a:srgbClr val="212121"/>
                </a:solidFill>
                <a:latin typeface="Arial" panose="020B0604020202020204" pitchFamily="34" charset="0"/>
              </a:rPr>
              <a:t>Revisit earlier steps in the process to refine your algorithm</a:t>
            </a:r>
          </a:p>
          <a:p>
            <a:pPr algn="just" fontAlgn="base">
              <a:lnSpc>
                <a:spcPct val="250000"/>
              </a:lnSpc>
              <a:buFont typeface="+mj-lt"/>
              <a:buAutoNum type="arabicPeriod"/>
            </a:pPr>
            <a:r>
              <a:rPr lang="en-US" dirty="0">
                <a:solidFill>
                  <a:srgbClr val="212121"/>
                </a:solidFill>
                <a:latin typeface="Arial" panose="020B0604020202020204" pitchFamily="34" charset="0"/>
              </a:rPr>
              <a:t>Extract information from the signals or deploy your algorithm to hardware</a:t>
            </a:r>
            <a:endParaRPr lang="en-US" b="0" i="0" dirty="0">
              <a:solidFill>
                <a:srgbClr val="212121"/>
              </a:solidFill>
              <a:effectLst/>
              <a:latin typeface="Arial" panose="020B0604020202020204" pitchFamily="34" charset="0"/>
            </a:endParaRPr>
          </a:p>
        </p:txBody>
      </p:sp>
      <p:sp>
        <p:nvSpPr>
          <p:cNvPr id="5" name="Rounded Rectangle 4"/>
          <p:cNvSpPr/>
          <p:nvPr/>
        </p:nvSpPr>
        <p:spPr>
          <a:xfrm>
            <a:off x="9467276" y="1076039"/>
            <a:ext cx="1390993" cy="513002"/>
          </a:xfrm>
          <a:prstGeom prst="roundRect">
            <a:avLst/>
          </a:prstGeom>
          <a:solidFill>
            <a:schemeClr val="accent4">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t>Generate signals</a:t>
            </a:r>
            <a:endParaRPr lang="en-US" sz="1600" dirty="0"/>
          </a:p>
        </p:txBody>
      </p:sp>
      <p:cxnSp>
        <p:nvCxnSpPr>
          <p:cNvPr id="7" name="Straight Arrow Connector 6"/>
          <p:cNvCxnSpPr/>
          <p:nvPr/>
        </p:nvCxnSpPr>
        <p:spPr>
          <a:xfrm>
            <a:off x="10162770" y="1641489"/>
            <a:ext cx="2" cy="336385"/>
          </a:xfrm>
          <a:prstGeom prst="straightConnector1">
            <a:avLst/>
          </a:prstGeom>
          <a:ln w="38100" cap="flat" cmpd="sng" algn="ctr">
            <a:solidFill>
              <a:schemeClr val="accent3"/>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225363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57382" y="2112675"/>
            <a:ext cx="10972800" cy="1143000"/>
          </a:xfrm>
        </p:spPr>
        <p:txBody>
          <a:bodyPr>
            <a:normAutofit/>
          </a:bodyPr>
          <a:lstStyle/>
          <a:p>
            <a:pPr algn="ctr"/>
            <a:r>
              <a:rPr lang="en-US" sz="6600" dirty="0">
                <a:solidFill>
                  <a:srgbClr val="FF0000"/>
                </a:solidFill>
              </a:rPr>
              <a:t>Generate Signals</a:t>
            </a:r>
            <a:endParaRPr lang="en-US" sz="6000" dirty="0">
              <a:solidFill>
                <a:srgbClr val="FF0000"/>
              </a:solidFill>
            </a:endParaRPr>
          </a:p>
        </p:txBody>
      </p:sp>
    </p:spTree>
    <p:extLst>
      <p:ext uri="{BB962C8B-B14F-4D97-AF65-F5344CB8AC3E}">
        <p14:creationId xmlns:p14="http://schemas.microsoft.com/office/powerpoint/2010/main" val="21099648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r>
              <a:rPr lang="en-US" altLang="en-US" sz="40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489527" y="846138"/>
            <a:ext cx="11296073" cy="3329709"/>
          </a:xfrm>
        </p:spPr>
        <p:txBody>
          <a:bodyPr>
            <a:noAutofit/>
          </a:bodyPr>
          <a:lstStyle/>
          <a:p>
            <a:pPr marL="109728" indent="0">
              <a:buNone/>
            </a:pPr>
            <a:r>
              <a:rPr lang="en-US" altLang="en-US" sz="1800" dirty="0"/>
              <a:t>To generate a signal, you first choose the sample times for each point of the signal. You can choose sample times by specifying the following</a:t>
            </a:r>
            <a:r>
              <a:rPr lang="en-US" altLang="en-US" sz="1800" dirty="0" smtClean="0"/>
              <a:t>:</a:t>
            </a:r>
            <a:endParaRPr lang="en-US" altLang="en-US" sz="1800" dirty="0"/>
          </a:p>
          <a:p>
            <a:pPr marL="109728" indent="0">
              <a:buNone/>
            </a:pPr>
            <a:r>
              <a:rPr lang="en-US" altLang="en-US" sz="1800" b="1" dirty="0"/>
              <a:t>•	Sample rate fs in Hertz (Hz)</a:t>
            </a:r>
          </a:p>
          <a:p>
            <a:pPr marL="109728" indent="0">
              <a:buNone/>
            </a:pPr>
            <a:r>
              <a:rPr lang="en-US" altLang="en-US" sz="1800" b="1" dirty="0"/>
              <a:t>•	Start time in seconds</a:t>
            </a:r>
          </a:p>
          <a:p>
            <a:pPr marL="109728" indent="0">
              <a:buNone/>
            </a:pPr>
            <a:r>
              <a:rPr lang="en-US" altLang="en-US" sz="1800" b="1" dirty="0"/>
              <a:t>•	End time in </a:t>
            </a:r>
            <a:r>
              <a:rPr lang="en-US" altLang="en-US" sz="1800" b="1" dirty="0" smtClean="0"/>
              <a:t>seconds</a:t>
            </a:r>
          </a:p>
          <a:p>
            <a:pPr marL="109728" indent="0">
              <a:buNone/>
            </a:pPr>
            <a:endParaRPr lang="en-US" altLang="en-US" sz="1800" dirty="0"/>
          </a:p>
          <a:p>
            <a:pPr marL="0" indent="0">
              <a:spcBef>
                <a:spcPts val="0"/>
              </a:spcBef>
              <a:buNone/>
            </a:pPr>
            <a:r>
              <a:rPr lang="en-US" altLang="en-US" sz="1800" dirty="0"/>
              <a:t>You can create time steps from a to b with the colon operator:</a:t>
            </a:r>
          </a:p>
          <a:p>
            <a:pPr marL="0" indent="0">
              <a:spcBef>
                <a:spcPts val="0"/>
              </a:spcBef>
              <a:buNone/>
            </a:pPr>
            <a:endParaRPr lang="en-US" altLang="en-US" sz="1800" dirty="0"/>
          </a:p>
          <a:p>
            <a:pPr marL="0" indent="0">
              <a:spcBef>
                <a:spcPts val="0"/>
              </a:spcBef>
              <a:buNone/>
            </a:pPr>
            <a:r>
              <a:rPr lang="en-US" altLang="en-US" sz="1800" b="1" dirty="0" smtClean="0"/>
              <a:t>         a:1/fs:b</a:t>
            </a:r>
          </a:p>
          <a:p>
            <a:pPr marL="0" indent="0">
              <a:spcBef>
                <a:spcPts val="0"/>
              </a:spcBef>
              <a:buNone/>
            </a:pPr>
            <a:endParaRPr lang="en-US" altLang="en-US" sz="1800" dirty="0"/>
          </a:p>
          <a:p>
            <a:pPr marL="0" indent="0">
              <a:spcBef>
                <a:spcPts val="0"/>
              </a:spcBef>
              <a:buNone/>
            </a:pPr>
            <a:r>
              <a:rPr lang="en-US" altLang="en-US" sz="2000" b="1" dirty="0" smtClean="0"/>
              <a:t># TASK</a:t>
            </a:r>
            <a:endParaRPr lang="en-US" altLang="en-US" sz="2000" b="1" dirty="0"/>
          </a:p>
          <a:p>
            <a:pPr marL="109728" indent="0">
              <a:buNone/>
            </a:pPr>
            <a:r>
              <a:rPr lang="en-US" altLang="en-US" sz="1800" b="1" dirty="0"/>
              <a:t>Specify a sample rate of 100 Hz in a variable named </a:t>
            </a:r>
            <a:r>
              <a:rPr lang="en-US" altLang="en-US" sz="1800" b="1" dirty="0" smtClean="0"/>
              <a:t>fs. Then </a:t>
            </a:r>
            <a:r>
              <a:rPr lang="en-US" altLang="en-US" sz="1800" b="1" dirty="0"/>
              <a:t>create a signal named t that extends from 0 seconds to 1 second, with time steps that are 1/fs</a:t>
            </a:r>
            <a:r>
              <a:rPr lang="en-US" altLang="en-US" sz="1800" b="1" dirty="0" smtClean="0"/>
              <a:t>.</a:t>
            </a:r>
          </a:p>
          <a:p>
            <a:pPr marL="109728" indent="0">
              <a:buNone/>
            </a:pPr>
            <a:endParaRPr lang="en-US" altLang="en-US" sz="2400" dirty="0"/>
          </a:p>
          <a:p>
            <a:pPr marL="109728" indent="0">
              <a:lnSpc>
                <a:spcPts val="1350"/>
              </a:lnSpc>
              <a:buNone/>
            </a:pPr>
            <a:r>
              <a:rPr lang="en-US" sz="2400" b="1" dirty="0" smtClean="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fs=100;</a:t>
            </a:r>
          </a:p>
          <a:p>
            <a:pPr marL="109728" indent="0">
              <a:lnSpc>
                <a:spcPts val="1350"/>
              </a:lnSpc>
              <a:buNone/>
            </a:pPr>
            <a:endParaRPr lang="en-US" sz="2800" dirty="0">
              <a:latin typeface="Calibri" panose="020F0502020204030204" pitchFamily="34" charset="0"/>
              <a:ea typeface="Calibri" panose="020F0502020204030204" pitchFamily="34" charset="0"/>
              <a:cs typeface="Arial" panose="020B0604020202020204" pitchFamily="34" charset="0"/>
            </a:endParaRPr>
          </a:p>
          <a:p>
            <a:pPr marL="109728" indent="0">
              <a:lnSpc>
                <a:spcPts val="1350"/>
              </a:lnSpc>
              <a:buNone/>
            </a:pPr>
            <a:r>
              <a:rPr lang="en-US" sz="2400" b="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t=0:1/fs:1;</a:t>
            </a:r>
            <a:endParaRPr lang="en-US" sz="2800" dirty="0">
              <a:latin typeface="Calibri" panose="020F0502020204030204" pitchFamily="34" charset="0"/>
              <a:ea typeface="Calibri" panose="020F0502020204030204" pitchFamily="34" charset="0"/>
              <a:cs typeface="Arial" panose="020B0604020202020204" pitchFamily="34" charset="0"/>
            </a:endParaRPr>
          </a:p>
          <a:p>
            <a:pPr eaLnBrk="1" hangingPunct="1">
              <a:buFont typeface="Wingdings" panose="05000000000000000000" pitchFamily="2" charset="2"/>
              <a:buNone/>
            </a:pPr>
            <a:endParaRPr lang="en-US" altLang="en-US" sz="1400" dirty="0" smtClean="0"/>
          </a:p>
        </p:txBody>
      </p:sp>
    </p:spTree>
    <p:extLst>
      <p:ext uri="{BB962C8B-B14F-4D97-AF65-F5344CB8AC3E}">
        <p14:creationId xmlns:p14="http://schemas.microsoft.com/office/powerpoint/2010/main" val="3768524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12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2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2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2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r>
              <a:rPr lang="en-US" altLang="en-US" sz="40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40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489527" y="846138"/>
            <a:ext cx="11296073" cy="3329709"/>
          </a:xfrm>
        </p:spPr>
        <p:txBody>
          <a:bodyPr>
            <a:noAutofit/>
          </a:bodyPr>
          <a:lstStyle/>
          <a:p>
            <a:pPr marL="109728" indent="0" fontAlgn="base">
              <a:lnSpc>
                <a:spcPct val="107000"/>
              </a:lnSpc>
              <a:buNone/>
            </a:pPr>
            <a:r>
              <a:rPr lang="en-US" sz="1800" dirty="0">
                <a:solidFill>
                  <a:srgbClr val="212121"/>
                </a:solidFill>
                <a:latin typeface="Arial" panose="020B0604020202020204" pitchFamily="34" charset="0"/>
                <a:ea typeface="Times New Roman" panose="02020603050405020304" pitchFamily="18" charset="0"/>
                <a:cs typeface="Arial" panose="020B0604020202020204" pitchFamily="34" charset="0"/>
              </a:rPr>
              <a:t>A straightforward way to make a sine wave is using the </a:t>
            </a:r>
            <a:r>
              <a:rPr lang="en-US" sz="2400" b="1" dirty="0">
                <a:solidFill>
                  <a:srgbClr val="212121"/>
                </a:solidFill>
                <a:latin typeface="Consolas" panose="020B0609020204030204" pitchFamily="49" charset="0"/>
                <a:ea typeface="Times New Roman" panose="02020603050405020304" pitchFamily="18" charset="0"/>
                <a:cs typeface="Times New Roman" panose="02020603050405020304" pitchFamily="18" charset="0"/>
              </a:rPr>
              <a:t>sin</a:t>
            </a:r>
            <a:r>
              <a:rPr lang="en-US" sz="1800" dirty="0">
                <a:solidFill>
                  <a:srgbClr val="212121"/>
                </a:solidFill>
                <a:latin typeface="Arial" panose="020B0604020202020204" pitchFamily="34" charset="0"/>
                <a:ea typeface="Times New Roman" panose="02020603050405020304" pitchFamily="18" charset="0"/>
                <a:cs typeface="Arial" panose="020B0604020202020204" pitchFamily="34" charset="0"/>
              </a:rPr>
              <a:t> function</a:t>
            </a:r>
            <a:r>
              <a:rPr lang="en-US" sz="1800" dirty="0" smtClean="0">
                <a:solidFill>
                  <a:srgbClr val="212121"/>
                </a:solidFill>
                <a:latin typeface="Arial" panose="020B0604020202020204" pitchFamily="34" charset="0"/>
                <a:ea typeface="Times New Roman" panose="02020603050405020304" pitchFamily="18" charset="0"/>
                <a:cs typeface="Arial" panose="020B0604020202020204" pitchFamily="34" charset="0"/>
              </a:rPr>
              <a: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indent="0" fontAlgn="base">
              <a:lnSpc>
                <a:spcPct val="107000"/>
              </a:lnSpc>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smtClean="0">
                <a:solidFill>
                  <a:srgbClr val="212121"/>
                </a:solidFill>
                <a:latin typeface="Consolas" panose="020B0609020204030204" pitchFamily="49" charset="0"/>
                <a:ea typeface="Times New Roman" panose="02020603050405020304" pitchFamily="18" charset="0"/>
                <a:cs typeface="Courier New" panose="02070309020205020404" pitchFamily="49" charset="0"/>
              </a:rPr>
              <a:t>   </a:t>
            </a:r>
            <a:r>
              <a:rPr lang="en-US" sz="1800" b="1" dirty="0" smtClean="0">
                <a:solidFill>
                  <a:srgbClr val="212121"/>
                </a:solidFill>
                <a:latin typeface="Consolas" panose="020B0609020204030204" pitchFamily="49" charset="0"/>
                <a:ea typeface="Times New Roman" panose="02020603050405020304" pitchFamily="18" charset="0"/>
                <a:cs typeface="Courier New" panose="02070309020205020404" pitchFamily="49" charset="0"/>
              </a:rPr>
              <a:t>s </a:t>
            </a:r>
            <a:r>
              <a:rPr lang="en-US" sz="1800" b="1"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 sin(2*pi*f*t)</a:t>
            </a:r>
            <a:endParaRPr lang="en-US" sz="2400" b="1" dirty="0">
              <a:latin typeface="Calibri" panose="020F0502020204030204" pitchFamily="34" charset="0"/>
              <a:ea typeface="Calibri" panose="020F0502020204030204" pitchFamily="34" charset="0"/>
              <a:cs typeface="Arial" panose="020B0604020202020204" pitchFamily="34" charset="0"/>
            </a:endParaRPr>
          </a:p>
          <a:p>
            <a:pPr marL="109728" indent="0" fontAlgn="base">
              <a:lnSpc>
                <a:spcPct val="107000"/>
              </a:lnSpc>
              <a:buNone/>
            </a:pPr>
            <a:r>
              <a:rPr lang="en-US" sz="1800" dirty="0" smtClean="0">
                <a:solidFill>
                  <a:srgbClr val="212121"/>
                </a:solidFill>
                <a:latin typeface="Arial" panose="020B0604020202020204" pitchFamily="34" charset="0"/>
                <a:ea typeface="Times New Roman" panose="02020603050405020304" pitchFamily="18" charset="0"/>
                <a:cs typeface="Arial" panose="020B0604020202020204" pitchFamily="34" charset="0"/>
              </a:rPr>
              <a:t>where</a:t>
            </a:r>
            <a:r>
              <a:rPr lang="en-US" sz="1800" dirty="0">
                <a:solidFill>
                  <a:srgbClr val="212121"/>
                </a:solidFill>
                <a:latin typeface="Arial" panose="020B0604020202020204" pitchFamily="34" charset="0"/>
                <a:ea typeface="Times New Roman" panose="02020603050405020304" pitchFamily="18" charset="0"/>
                <a:cs typeface="Arial" panose="020B0604020202020204" pitchFamily="34" charset="0"/>
              </a:rPr>
              <a:t> </a:t>
            </a:r>
            <a:r>
              <a:rPr lang="en-US" sz="1800"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f</a:t>
            </a:r>
            <a:r>
              <a:rPr lang="en-US" sz="1800" dirty="0">
                <a:solidFill>
                  <a:srgbClr val="212121"/>
                </a:solidFill>
                <a:latin typeface="Arial" panose="020B0604020202020204" pitchFamily="34" charset="0"/>
                <a:ea typeface="Times New Roman" panose="02020603050405020304" pitchFamily="18" charset="0"/>
                <a:cs typeface="Arial" panose="020B0604020202020204" pitchFamily="34" charset="0"/>
              </a:rPr>
              <a:t> is the signal's frequency, and </a:t>
            </a:r>
            <a:r>
              <a:rPr lang="en-US" sz="1800"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t</a:t>
            </a:r>
            <a:r>
              <a:rPr lang="en-US" sz="1800" dirty="0">
                <a:solidFill>
                  <a:srgbClr val="212121"/>
                </a:solidFill>
                <a:latin typeface="Arial" panose="020B0604020202020204" pitchFamily="34" charset="0"/>
                <a:ea typeface="Times New Roman" panose="02020603050405020304" pitchFamily="18" charset="0"/>
                <a:cs typeface="Arial" panose="020B0604020202020204" pitchFamily="34" charset="0"/>
              </a:rPr>
              <a:t> are the time steps</a:t>
            </a:r>
            <a:r>
              <a:rPr lang="en-US" sz="1800" dirty="0" smtClean="0">
                <a:solidFill>
                  <a:srgbClr val="212121"/>
                </a:solidFill>
                <a:latin typeface="Arial" panose="020B0604020202020204" pitchFamily="34" charset="0"/>
                <a:ea typeface="Times New Roman" panose="02020603050405020304" pitchFamily="18" charset="0"/>
                <a:cs typeface="Arial" panose="020B0604020202020204" pitchFamily="34" charset="0"/>
              </a:rPr>
              <a:t>.</a:t>
            </a:r>
          </a:p>
          <a:p>
            <a:pPr marL="109728" indent="0" fontAlgn="base">
              <a:lnSpc>
                <a:spcPct val="107000"/>
              </a:lnSpc>
              <a:buNone/>
            </a:pPr>
            <a:endParaRPr lang="en-US" sz="2400" dirty="0">
              <a:latin typeface="Calibri" panose="020F0502020204030204" pitchFamily="34" charset="0"/>
              <a:ea typeface="Calibri" panose="020F0502020204030204" pitchFamily="34" charset="0"/>
              <a:cs typeface="Arial" panose="020B0604020202020204" pitchFamily="34" charset="0"/>
            </a:endParaRPr>
          </a:p>
          <a:p>
            <a:pPr marL="109728" indent="0" fontAlgn="base">
              <a:lnSpc>
                <a:spcPct val="107000"/>
              </a:lnSpc>
              <a:buNone/>
            </a:pPr>
            <a:r>
              <a:rPr lang="en-US" sz="1800" b="1" cap="all" dirty="0" smtClean="0">
                <a:solidFill>
                  <a:srgbClr val="212121"/>
                </a:solidFill>
                <a:latin typeface="Arial" panose="020B0604020202020204" pitchFamily="34" charset="0"/>
                <a:ea typeface="Times New Roman" panose="02020603050405020304" pitchFamily="18" charset="0"/>
                <a:cs typeface="Arial" panose="020B0604020202020204" pitchFamily="34" charset="0"/>
              </a:rPr>
              <a:t># TASK</a:t>
            </a:r>
            <a:endParaRPr lang="en-US" sz="2400" dirty="0">
              <a:latin typeface="Calibri" panose="020F0502020204030204" pitchFamily="34" charset="0"/>
              <a:ea typeface="Calibri" panose="020F0502020204030204" pitchFamily="34" charset="0"/>
              <a:cs typeface="Arial" panose="020B0604020202020204" pitchFamily="34" charset="0"/>
            </a:endParaRPr>
          </a:p>
          <a:p>
            <a:pPr marL="109728" indent="0" fontAlgn="base">
              <a:lnSpc>
                <a:spcPct val="107000"/>
              </a:lnSpc>
              <a:spcAft>
                <a:spcPts val="600"/>
              </a:spcAft>
              <a:buNone/>
            </a:pPr>
            <a:r>
              <a:rPr lang="en-US" sz="1800" dirty="0">
                <a:solidFill>
                  <a:srgbClr val="212121"/>
                </a:solidFill>
                <a:latin typeface="Arial" panose="020B0604020202020204" pitchFamily="34" charset="0"/>
                <a:ea typeface="Times New Roman" panose="02020603050405020304" pitchFamily="18" charset="0"/>
                <a:cs typeface="Arial" panose="020B0604020202020204" pitchFamily="34" charset="0"/>
              </a:rPr>
              <a:t>Create a </a:t>
            </a:r>
            <a:r>
              <a:rPr lang="en-US" sz="1800"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5</a:t>
            </a:r>
            <a:r>
              <a:rPr lang="en-US" sz="1800" dirty="0">
                <a:solidFill>
                  <a:srgbClr val="212121"/>
                </a:solidFill>
                <a:latin typeface="Arial" panose="020B0604020202020204" pitchFamily="34" charset="0"/>
                <a:ea typeface="Times New Roman" panose="02020603050405020304" pitchFamily="18" charset="0"/>
                <a:cs typeface="Arial" panose="020B0604020202020204" pitchFamily="34" charset="0"/>
              </a:rPr>
              <a:t> Hz sine signal named </a:t>
            </a:r>
            <a:r>
              <a:rPr lang="en-US" sz="1800"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sig</a:t>
            </a:r>
            <a:r>
              <a:rPr lang="en-US" sz="1800" dirty="0">
                <a:solidFill>
                  <a:srgbClr val="212121"/>
                </a:solidFill>
                <a:latin typeface="Arial" panose="020B0604020202020204" pitchFamily="34" charset="0"/>
                <a:ea typeface="Times New Roman" panose="02020603050405020304" pitchFamily="18" charset="0"/>
                <a:cs typeface="Arial" panose="020B0604020202020204" pitchFamily="34" charset="0"/>
              </a:rPr>
              <a:t> at the sample times in </a:t>
            </a:r>
            <a:r>
              <a:rPr lang="en-US" sz="1800"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t</a:t>
            </a:r>
            <a:r>
              <a:rPr lang="en-US" sz="1800" dirty="0">
                <a:solidFill>
                  <a:srgbClr val="212121"/>
                </a:solidFill>
                <a:latin typeface="Arial" panose="020B0604020202020204" pitchFamily="34" charset="0"/>
                <a:ea typeface="Times New Roman" panose="02020603050405020304" pitchFamily="18" charset="0"/>
                <a:cs typeface="Arial" panose="020B0604020202020204" pitchFamily="34" charset="0"/>
              </a:rPr>
              <a:t>.</a:t>
            </a:r>
            <a:br>
              <a:rPr lang="en-US" sz="1800" dirty="0">
                <a:solidFill>
                  <a:srgbClr val="212121"/>
                </a:solidFill>
                <a:latin typeface="Arial" panose="020B0604020202020204" pitchFamily="34" charset="0"/>
                <a:ea typeface="Times New Roman" panose="02020603050405020304" pitchFamily="18" charset="0"/>
                <a:cs typeface="Arial" panose="020B0604020202020204" pitchFamily="34" charset="0"/>
              </a:rPr>
            </a:br>
            <a:r>
              <a:rPr lang="en-US" sz="1800" dirty="0">
                <a:solidFill>
                  <a:srgbClr val="212121"/>
                </a:solidFill>
                <a:latin typeface="Arial" panose="020B0604020202020204" pitchFamily="34" charset="0"/>
                <a:ea typeface="Times New Roman" panose="02020603050405020304" pitchFamily="18" charset="0"/>
                <a:cs typeface="Arial" panose="020B0604020202020204" pitchFamily="34" charset="0"/>
              </a:rPr>
              <a:t/>
            </a:r>
            <a:br>
              <a:rPr lang="en-US" sz="1800" dirty="0">
                <a:solidFill>
                  <a:srgbClr val="212121"/>
                </a:solidFill>
                <a:latin typeface="Arial" panose="020B0604020202020204" pitchFamily="34" charset="0"/>
                <a:ea typeface="Times New Roman" panose="02020603050405020304" pitchFamily="18" charset="0"/>
                <a:cs typeface="Arial" panose="020B0604020202020204" pitchFamily="34" charset="0"/>
              </a:rPr>
            </a:br>
            <a:r>
              <a:rPr lang="en-US" sz="1800" dirty="0">
                <a:solidFill>
                  <a:srgbClr val="212121"/>
                </a:solidFill>
                <a:latin typeface="Arial" panose="020B0604020202020204" pitchFamily="34" charset="0"/>
                <a:ea typeface="Times New Roman" panose="02020603050405020304" pitchFamily="18" charset="0"/>
                <a:cs typeface="Arial" panose="020B0604020202020204" pitchFamily="34" charset="0"/>
              </a:rPr>
              <a:t>Then create a plot of </a:t>
            </a:r>
            <a:r>
              <a:rPr lang="en-US" sz="1800"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sig</a:t>
            </a:r>
            <a:r>
              <a:rPr lang="en-US" sz="1800" dirty="0">
                <a:solidFill>
                  <a:srgbClr val="212121"/>
                </a:solidFill>
                <a:latin typeface="Arial" panose="020B0604020202020204" pitchFamily="34" charset="0"/>
                <a:ea typeface="Times New Roman" panose="02020603050405020304" pitchFamily="18" charset="0"/>
                <a:cs typeface="Arial" panose="020B0604020202020204" pitchFamily="34" charset="0"/>
              </a:rPr>
              <a:t> versus </a:t>
            </a:r>
            <a:r>
              <a:rPr lang="en-US" sz="1800"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t</a:t>
            </a:r>
            <a:r>
              <a:rPr lang="en-US" sz="1800" dirty="0">
                <a:solidFill>
                  <a:srgbClr val="212121"/>
                </a:solidFill>
                <a:latin typeface="Arial" panose="020B0604020202020204" pitchFamily="34" charset="0"/>
                <a:ea typeface="Times New Roman" panose="02020603050405020304" pitchFamily="18" charset="0"/>
                <a:cs typeface="Arial" panose="020B0604020202020204" pitchFamily="34" charset="0"/>
              </a:rPr>
              <a: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109728" indent="0">
              <a:lnSpc>
                <a:spcPts val="1500"/>
              </a:lnSpc>
              <a:spcBef>
                <a:spcPts val="225"/>
              </a:spcBef>
              <a:spcAft>
                <a:spcPts val="375"/>
              </a:spcAft>
              <a:buNone/>
            </a:pPr>
            <a:r>
              <a:rPr lang="en-US" sz="3600" b="1" dirty="0">
                <a:solidFill>
                  <a:srgbClr val="212121"/>
                </a:solidFill>
                <a:latin typeface="Helvetica" panose="020B0604020202020204" pitchFamily="34" charset="0"/>
                <a:ea typeface="Times New Roman" panose="02020603050405020304" pitchFamily="18" charset="0"/>
                <a:cs typeface="Arial" panose="020B0604020202020204" pitchFamily="34" charset="0"/>
              </a:rPr>
              <a:t> </a:t>
            </a:r>
            <a:endParaRPr lang="en-US" sz="2400" dirty="0">
              <a:latin typeface="Calibri" panose="020F0502020204030204" pitchFamily="34" charset="0"/>
              <a:ea typeface="Calibri" panose="020F0502020204030204" pitchFamily="34" charset="0"/>
              <a:cs typeface="Arial" panose="020B0604020202020204" pitchFamily="34" charset="0"/>
            </a:endParaRPr>
          </a:p>
          <a:p>
            <a:pPr marL="109728" indent="0">
              <a:lnSpc>
                <a:spcPts val="1350"/>
              </a:lnSpc>
              <a:buNone/>
            </a:pPr>
            <a:r>
              <a:rPr lang="en-US" sz="2000" b="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sig = sin(2*pi*5*t);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109728" indent="0">
              <a:lnSpc>
                <a:spcPts val="1350"/>
              </a:lnSpc>
              <a:spcAft>
                <a:spcPts val="750"/>
              </a:spcAft>
              <a:buNone/>
            </a:pPr>
            <a:r>
              <a:rPr lang="en-US" sz="2000" b="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plot(</a:t>
            </a:r>
            <a:r>
              <a:rPr lang="en-US" sz="2000" b="1" dirty="0" err="1">
                <a:solidFill>
                  <a:srgbClr val="00B0F0"/>
                </a:solidFill>
                <a:latin typeface="Consolas" panose="020B0609020204030204" pitchFamily="49" charset="0"/>
                <a:ea typeface="Times New Roman" panose="02020603050405020304" pitchFamily="18" charset="0"/>
                <a:cs typeface="Times New Roman" panose="02020603050405020304" pitchFamily="18" charset="0"/>
              </a:rPr>
              <a:t>t,sig</a:t>
            </a:r>
            <a:r>
              <a:rPr lang="en-US" sz="2000" b="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a:t>
            </a:r>
            <a:endParaRPr lang="en-US" sz="2400" dirty="0">
              <a:latin typeface="Calibri" panose="020F0502020204030204" pitchFamily="34" charset="0"/>
              <a:ea typeface="Calibri" panose="020F0502020204030204" pitchFamily="34" charset="0"/>
              <a:cs typeface="Arial" panose="020B0604020202020204" pitchFamily="34" charset="0"/>
            </a:endParaRPr>
          </a:p>
          <a:p>
            <a:pPr eaLnBrk="1" hangingPunct="1">
              <a:buFont typeface="Wingdings" panose="05000000000000000000" pitchFamily="2" charset="2"/>
              <a:buNone/>
            </a:pPr>
            <a:endParaRPr lang="en-US" altLang="en-US" sz="1400" dirty="0" smtClean="0"/>
          </a:p>
        </p:txBody>
      </p:sp>
      <p:pic>
        <p:nvPicPr>
          <p:cNvPr id="3" name="Picture 2"/>
          <p:cNvPicPr>
            <a:picLocks noChangeAspect="1"/>
          </p:cNvPicPr>
          <p:nvPr/>
        </p:nvPicPr>
        <p:blipFill>
          <a:blip r:embed="rId3"/>
          <a:stretch>
            <a:fillRect/>
          </a:stretch>
        </p:blipFill>
        <p:spPr>
          <a:xfrm>
            <a:off x="7529512" y="2789959"/>
            <a:ext cx="3838575" cy="3162300"/>
          </a:xfrm>
          <a:prstGeom prst="rect">
            <a:avLst/>
          </a:prstGeom>
        </p:spPr>
      </p:pic>
    </p:spTree>
    <p:extLst>
      <p:ext uri="{BB962C8B-B14F-4D97-AF65-F5344CB8AC3E}">
        <p14:creationId xmlns:p14="http://schemas.microsoft.com/office/powerpoint/2010/main" val="2833226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12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2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2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r>
              <a:rPr lang="en-US" altLang="en-US" sz="40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40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489527" y="846138"/>
            <a:ext cx="11296073" cy="3329709"/>
          </a:xfrm>
        </p:spPr>
        <p:txBody>
          <a:bodyPr>
            <a:noAutofit/>
          </a:bodyPr>
          <a:lstStyle/>
          <a:p>
            <a:pPr marL="109728" indent="0" fontAlgn="base">
              <a:lnSpc>
                <a:spcPct val="107000"/>
              </a:lnSpc>
              <a:buNone/>
            </a:pP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It is common to add noise to generated signals. Noise makes the signals more realistic and helps you to test if your signal processing techniques are robust to noisy data.</a:t>
            </a:r>
            <a:b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b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
            </a:r>
            <a:b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b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To add noise, you can create a vector of random numbers that is the same size as your signal </a:t>
            </a:r>
            <a:r>
              <a:rPr lang="en-US" sz="3200" dirty="0" smtClean="0">
                <a:solidFill>
                  <a:srgbClr val="212121"/>
                </a:solidFill>
                <a:latin typeface="Consolas" panose="020B0609020204030204" pitchFamily="49" charset="0"/>
                <a:ea typeface="Times New Roman" panose="02020603050405020304" pitchFamily="18" charset="0"/>
                <a:cs typeface="Times New Roman" panose="02020603050405020304" pitchFamily="18" charset="0"/>
              </a:rPr>
              <a:t>s</a:t>
            </a: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a:t>
            </a:r>
            <a:b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br>
            <a:endParaRPr lang="en-US" sz="2800" dirty="0">
              <a:latin typeface="Calibri" panose="020F0502020204030204" pitchFamily="34" charset="0"/>
              <a:ea typeface="Calibri" panose="020F0502020204030204" pitchFamily="34" charset="0"/>
              <a:cs typeface="Arial" panose="020B0604020202020204" pitchFamily="34" charset="0"/>
            </a:endParaRPr>
          </a:p>
          <a:p>
            <a:pPr marL="0" indent="0" fontAlgn="base">
              <a:lnSpc>
                <a:spcPct val="107000"/>
              </a:lnSpc>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err="1">
                <a:latin typeface="Consolas" panose="020B0609020204030204" pitchFamily="49" charset="0"/>
                <a:ea typeface="Times New Roman" panose="02020603050405020304" pitchFamily="18" charset="0"/>
                <a:cs typeface="Courier New" panose="02070309020205020404" pitchFamily="49" charset="0"/>
              </a:rPr>
              <a:t>randn</a:t>
            </a:r>
            <a:r>
              <a:rPr lang="en-US" sz="2000" b="1" dirty="0">
                <a:latin typeface="Consolas" panose="020B0609020204030204" pitchFamily="49" charset="0"/>
                <a:ea typeface="Times New Roman" panose="02020603050405020304" pitchFamily="18" charset="0"/>
                <a:cs typeface="Courier New" panose="02070309020205020404" pitchFamily="49" charset="0"/>
              </a:rPr>
              <a:t>(size(</a:t>
            </a:r>
            <a:r>
              <a:rPr lang="en-US" sz="2000" b="1" i="1" dirty="0">
                <a:latin typeface="Consolas" panose="020B0609020204030204" pitchFamily="49" charset="0"/>
                <a:ea typeface="Times New Roman" panose="02020603050405020304" pitchFamily="18" charset="0"/>
                <a:cs typeface="Courier New" panose="02070309020205020404" pitchFamily="49" charset="0"/>
              </a:rPr>
              <a:t>s</a:t>
            </a:r>
            <a:r>
              <a:rPr lang="en-US" sz="2000" b="1" dirty="0">
                <a:latin typeface="Consolas" panose="020B0609020204030204" pitchFamily="49" charset="0"/>
                <a:ea typeface="Times New Roman" panose="02020603050405020304" pitchFamily="18" charset="0"/>
                <a:cs typeface="Courier New" panose="02070309020205020404" pitchFamily="49" charset="0"/>
              </a:rPr>
              <a:t>))</a:t>
            </a:r>
            <a:endParaRPr lang="en-US" sz="2800" b="1" dirty="0">
              <a:latin typeface="Calibri" panose="020F0502020204030204" pitchFamily="34" charset="0"/>
              <a:ea typeface="Calibri" panose="020F0502020204030204" pitchFamily="34" charset="0"/>
              <a:cs typeface="Arial" panose="020B0604020202020204" pitchFamily="34" charset="0"/>
            </a:endParaRPr>
          </a:p>
          <a:p>
            <a:pPr marL="0" indent="0" fontAlgn="base">
              <a:lnSpc>
                <a:spcPct val="107000"/>
              </a:lnSpc>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 </a:t>
            </a:r>
            <a:endParaRPr lang="en-US" sz="2800" dirty="0">
              <a:latin typeface="Calibri" panose="020F0502020204030204" pitchFamily="34" charset="0"/>
              <a:ea typeface="Calibri" panose="020F0502020204030204" pitchFamily="34" charset="0"/>
              <a:cs typeface="Arial" panose="020B0604020202020204" pitchFamily="34" charset="0"/>
            </a:endParaRPr>
          </a:p>
          <a:p>
            <a:pPr marL="109728" indent="0" fontAlgn="base">
              <a:lnSpc>
                <a:spcPct val="107000"/>
              </a:lnSpc>
              <a:buNone/>
            </a:pPr>
            <a:r>
              <a:rPr lang="en-US" sz="2000" b="1" cap="all" dirty="0" smtClean="0">
                <a:solidFill>
                  <a:srgbClr val="212121"/>
                </a:solidFill>
                <a:latin typeface="Arial" panose="020B0604020202020204" pitchFamily="34" charset="0"/>
                <a:ea typeface="Times New Roman" panose="02020603050405020304" pitchFamily="18" charset="0"/>
                <a:cs typeface="Arial" panose="020B0604020202020204" pitchFamily="34" charset="0"/>
              </a:rPr>
              <a:t>#TASK</a:t>
            </a:r>
            <a:endParaRPr lang="en-US" sz="2800" dirty="0">
              <a:latin typeface="Calibri" panose="020F0502020204030204" pitchFamily="34" charset="0"/>
              <a:ea typeface="Calibri" panose="020F0502020204030204" pitchFamily="34" charset="0"/>
              <a:cs typeface="Arial" panose="020B0604020202020204" pitchFamily="34" charset="0"/>
            </a:endParaRPr>
          </a:p>
          <a:p>
            <a:pPr marL="109728" indent="0" fontAlgn="base">
              <a:lnSpc>
                <a:spcPct val="107000"/>
              </a:lnSpc>
              <a:spcAft>
                <a:spcPts val="600"/>
              </a:spcAft>
              <a:buNone/>
            </a:pP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Create a vector of normally distributed random numbers named </a:t>
            </a:r>
            <a:r>
              <a:rPr lang="en-US" sz="2400" b="1" dirty="0">
                <a:solidFill>
                  <a:srgbClr val="212121"/>
                </a:solidFill>
                <a:latin typeface="Consolas" panose="020B0609020204030204" pitchFamily="49" charset="0"/>
                <a:ea typeface="Times New Roman" panose="02020603050405020304" pitchFamily="18" charset="0"/>
                <a:cs typeface="Times New Roman" panose="02020603050405020304" pitchFamily="18" charset="0"/>
              </a:rPr>
              <a:t>noise</a:t>
            </a:r>
            <a:r>
              <a:rPr lang="en-US" sz="1600" dirty="0">
                <a:solidFill>
                  <a:srgbClr val="212121"/>
                </a:solidFill>
                <a:latin typeface="Arial" panose="020B0604020202020204" pitchFamily="34" charset="0"/>
                <a:ea typeface="Times New Roman" panose="02020603050405020304" pitchFamily="18" charset="0"/>
                <a:cs typeface="Arial" panose="020B0604020202020204" pitchFamily="34" charset="0"/>
              </a:rPr>
              <a:t> </a:t>
            </a: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that is the same size as </a:t>
            </a:r>
            <a:r>
              <a:rPr lang="en-US" sz="2400" b="1" dirty="0">
                <a:solidFill>
                  <a:srgbClr val="212121"/>
                </a:solidFill>
                <a:latin typeface="Consolas" panose="020B0609020204030204" pitchFamily="49" charset="0"/>
                <a:ea typeface="Times New Roman" panose="02020603050405020304" pitchFamily="18" charset="0"/>
                <a:cs typeface="Times New Roman" panose="02020603050405020304" pitchFamily="18" charset="0"/>
              </a:rPr>
              <a:t>sig</a:t>
            </a: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 Multiply the vector by </a:t>
            </a:r>
            <a:r>
              <a:rPr lang="en-US" sz="2000"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0.1</a:t>
            </a: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 to scale the vector.</a:t>
            </a:r>
            <a:endParaRPr lang="en-US" sz="2800" dirty="0">
              <a:latin typeface="Calibri" panose="020F0502020204030204" pitchFamily="34" charset="0"/>
              <a:ea typeface="Calibri" panose="020F0502020204030204" pitchFamily="34" charset="0"/>
              <a:cs typeface="Arial" panose="020B0604020202020204" pitchFamily="34" charset="0"/>
            </a:endParaRPr>
          </a:p>
          <a:p>
            <a:pPr marL="109728" indent="0">
              <a:lnSpc>
                <a:spcPts val="1500"/>
              </a:lnSpc>
              <a:spcBef>
                <a:spcPts val="225"/>
              </a:spcBef>
              <a:spcAft>
                <a:spcPts val="375"/>
              </a:spcAft>
              <a:buNone/>
            </a:pPr>
            <a:r>
              <a:rPr lang="en-US" sz="4000" b="1" dirty="0">
                <a:solidFill>
                  <a:srgbClr val="FF0000"/>
                </a:solidFill>
                <a:latin typeface="Helvetica" panose="020B0604020202020204" pitchFamily="34" charset="0"/>
                <a:ea typeface="Times New Roman" panose="02020603050405020304" pitchFamily="18" charset="0"/>
                <a:cs typeface="Arial" panose="020B0604020202020204" pitchFamily="34" charset="0"/>
              </a:rPr>
              <a:t> </a:t>
            </a:r>
            <a:endParaRPr lang="en-US" sz="2800" dirty="0">
              <a:latin typeface="Calibri" panose="020F0502020204030204" pitchFamily="34" charset="0"/>
              <a:ea typeface="Calibri" panose="020F0502020204030204" pitchFamily="34" charset="0"/>
              <a:cs typeface="Arial" panose="020B0604020202020204" pitchFamily="34" charset="0"/>
            </a:endParaRPr>
          </a:p>
          <a:p>
            <a:pPr marL="109728" indent="0">
              <a:lnSpc>
                <a:spcPts val="1350"/>
              </a:lnSpc>
              <a:buNone/>
            </a:pPr>
            <a:r>
              <a:rPr lang="en-US" sz="2400" b="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noise=0.1*</a:t>
            </a:r>
            <a:r>
              <a:rPr lang="en-US" sz="2400" b="1" dirty="0" err="1">
                <a:solidFill>
                  <a:srgbClr val="00B0F0"/>
                </a:solidFill>
                <a:latin typeface="Consolas" panose="020B0609020204030204" pitchFamily="49" charset="0"/>
                <a:ea typeface="Times New Roman" panose="02020603050405020304" pitchFamily="18" charset="0"/>
                <a:cs typeface="Times New Roman" panose="02020603050405020304" pitchFamily="18" charset="0"/>
              </a:rPr>
              <a:t>randn</a:t>
            </a:r>
            <a:r>
              <a:rPr lang="en-US" sz="2400" b="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(size(sig));</a:t>
            </a:r>
            <a:endParaRPr lang="en-US" sz="2800" dirty="0">
              <a:latin typeface="Calibri" panose="020F0502020204030204" pitchFamily="34" charset="0"/>
              <a:ea typeface="Calibri" panose="020F0502020204030204" pitchFamily="34" charset="0"/>
              <a:cs typeface="Arial" panose="020B0604020202020204" pitchFamily="34" charset="0"/>
            </a:endParaRPr>
          </a:p>
          <a:p>
            <a:pPr eaLnBrk="1" hangingPunct="1">
              <a:buFont typeface="Wingdings" panose="05000000000000000000" pitchFamily="2" charset="2"/>
              <a:buNone/>
            </a:pPr>
            <a:endParaRPr lang="en-US" altLang="en-US" sz="1400" dirty="0" smtClean="0"/>
          </a:p>
        </p:txBody>
      </p:sp>
    </p:spTree>
    <p:extLst>
      <p:ext uri="{BB962C8B-B14F-4D97-AF65-F5344CB8AC3E}">
        <p14:creationId xmlns:p14="http://schemas.microsoft.com/office/powerpoint/2010/main" val="2696354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r>
              <a:rPr lang="en-US" altLang="en-US" sz="40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40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447963" y="1197120"/>
            <a:ext cx="11296073" cy="3329709"/>
          </a:xfrm>
        </p:spPr>
        <p:txBody>
          <a:bodyPr>
            <a:noAutofit/>
          </a:bodyPr>
          <a:lstStyle/>
          <a:p>
            <a:pPr marL="109728" indent="0">
              <a:spcBef>
                <a:spcPts val="225"/>
              </a:spcBef>
              <a:spcAft>
                <a:spcPts val="375"/>
              </a:spcAft>
              <a:buNone/>
            </a:pPr>
            <a:r>
              <a:rPr lang="en-US" sz="2000" b="1" dirty="0" smtClean="0">
                <a:solidFill>
                  <a:srgbClr val="212121"/>
                </a:solidFill>
                <a:latin typeface="Arial" panose="020B0604020202020204" pitchFamily="34" charset="0"/>
                <a:ea typeface="Calibri" panose="020F0502020204030204" pitchFamily="34" charset="0"/>
                <a:cs typeface="Arial" panose="020B0604020202020204" pitchFamily="34" charset="0"/>
              </a:rPr>
              <a:t>#Task:</a:t>
            </a:r>
          </a:p>
          <a:p>
            <a:pPr marL="109728" indent="0">
              <a:spcBef>
                <a:spcPts val="225"/>
              </a:spcBef>
              <a:spcAft>
                <a:spcPts val="375"/>
              </a:spcAft>
              <a:buNone/>
            </a:pPr>
            <a:r>
              <a:rPr lang="en-US" sz="2000" dirty="0" smtClean="0">
                <a:solidFill>
                  <a:srgbClr val="212121"/>
                </a:solidFill>
                <a:latin typeface="Arial" panose="020B0604020202020204" pitchFamily="34" charset="0"/>
                <a:ea typeface="Calibri" panose="020F0502020204030204" pitchFamily="34" charset="0"/>
                <a:cs typeface="Arial" panose="020B0604020202020204" pitchFamily="34" charset="0"/>
              </a:rPr>
              <a:t>Add </a:t>
            </a:r>
            <a:r>
              <a:rPr lang="en-US" sz="2000" dirty="0">
                <a:solidFill>
                  <a:srgbClr val="212121"/>
                </a:solidFill>
                <a:latin typeface="Arial" panose="020B0604020202020204" pitchFamily="34" charset="0"/>
                <a:ea typeface="Calibri" panose="020F0502020204030204" pitchFamily="34" charset="0"/>
                <a:cs typeface="Arial" panose="020B0604020202020204" pitchFamily="34" charset="0"/>
              </a:rPr>
              <a:t>the signal vector with the noise vector. Name the output </a:t>
            </a:r>
            <a:r>
              <a:rPr lang="en-US" sz="2000" b="1" dirty="0" err="1">
                <a:solidFill>
                  <a:srgbClr val="212121"/>
                </a:solidFill>
                <a:latin typeface="Consolas" panose="020B0609020204030204" pitchFamily="49" charset="0"/>
                <a:ea typeface="Calibri" panose="020F0502020204030204" pitchFamily="34" charset="0"/>
                <a:cs typeface="Courier New" panose="02070309020205020404" pitchFamily="49" charset="0"/>
              </a:rPr>
              <a:t>sigNoisy</a:t>
            </a:r>
            <a:r>
              <a:rPr lang="en-US" sz="2000" dirty="0">
                <a:solidFill>
                  <a:srgbClr val="212121"/>
                </a:solidFill>
                <a:latin typeface="Arial" panose="020B0604020202020204" pitchFamily="34" charset="0"/>
                <a:ea typeface="Calibri" panose="020F0502020204030204" pitchFamily="34" charset="0"/>
                <a:cs typeface="Arial" panose="020B0604020202020204" pitchFamily="34" charset="0"/>
              </a:rPr>
              <a:t>. Then create a plot of </a:t>
            </a:r>
            <a:r>
              <a:rPr lang="en-US" sz="2000" b="1" dirty="0" err="1">
                <a:solidFill>
                  <a:srgbClr val="212121"/>
                </a:solidFill>
                <a:latin typeface="Consolas" panose="020B0609020204030204" pitchFamily="49" charset="0"/>
                <a:ea typeface="Calibri" panose="020F0502020204030204" pitchFamily="34" charset="0"/>
                <a:cs typeface="Courier New" panose="02070309020205020404" pitchFamily="49" charset="0"/>
              </a:rPr>
              <a:t>sigNoisy</a:t>
            </a:r>
            <a:r>
              <a:rPr lang="en-US" sz="2000" dirty="0">
                <a:solidFill>
                  <a:srgbClr val="212121"/>
                </a:solidFill>
                <a:latin typeface="Arial" panose="020B0604020202020204" pitchFamily="34" charset="0"/>
                <a:ea typeface="Calibri" panose="020F0502020204030204" pitchFamily="34" charset="0"/>
                <a:cs typeface="Arial" panose="020B0604020202020204" pitchFamily="34" charset="0"/>
              </a:rPr>
              <a:t> versus </a:t>
            </a:r>
            <a:r>
              <a:rPr lang="en-US" sz="2000" b="1" dirty="0">
                <a:solidFill>
                  <a:srgbClr val="212121"/>
                </a:solidFill>
                <a:latin typeface="Consolas" panose="020B0609020204030204" pitchFamily="49" charset="0"/>
                <a:ea typeface="Calibri" panose="020F0502020204030204" pitchFamily="34" charset="0"/>
                <a:cs typeface="Courier New" panose="02070309020205020404" pitchFamily="49" charset="0"/>
              </a:rPr>
              <a:t>t</a:t>
            </a:r>
            <a:r>
              <a:rPr lang="en-US" sz="2000" dirty="0">
                <a:solidFill>
                  <a:srgbClr val="212121"/>
                </a:solidFill>
                <a:latin typeface="Arial" panose="020B0604020202020204" pitchFamily="34" charset="0"/>
                <a:ea typeface="Calibri" panose="020F0502020204030204" pitchFamily="34" charset="0"/>
                <a:cs typeface="Arial" panose="020B0604020202020204" pitchFamily="34" charset="0"/>
              </a:rPr>
              <a:t>.</a:t>
            </a:r>
            <a:endParaRPr lang="en-US" sz="2800" dirty="0">
              <a:latin typeface="Calibri" panose="020F0502020204030204" pitchFamily="34" charset="0"/>
              <a:ea typeface="Calibri" panose="020F0502020204030204" pitchFamily="34" charset="0"/>
              <a:cs typeface="Arial" panose="020B0604020202020204" pitchFamily="34" charset="0"/>
            </a:endParaRPr>
          </a:p>
          <a:p>
            <a:pPr marL="109728" indent="0">
              <a:lnSpc>
                <a:spcPts val="1500"/>
              </a:lnSpc>
              <a:spcBef>
                <a:spcPts val="225"/>
              </a:spcBef>
              <a:spcAft>
                <a:spcPts val="375"/>
              </a:spcAft>
              <a:buNone/>
            </a:pPr>
            <a:r>
              <a:rPr lang="en-US" sz="4000" b="1" dirty="0">
                <a:solidFill>
                  <a:srgbClr val="FF0000"/>
                </a:solidFill>
                <a:latin typeface="Helvetica" panose="020B0604020202020204" pitchFamily="34" charset="0"/>
                <a:ea typeface="Times New Roman" panose="02020603050405020304" pitchFamily="18" charset="0"/>
                <a:cs typeface="Arial" panose="020B0604020202020204" pitchFamily="34" charset="0"/>
              </a:rPr>
              <a:t> </a:t>
            </a:r>
            <a:endParaRPr lang="en-US" sz="4000" b="1" dirty="0" smtClean="0">
              <a:solidFill>
                <a:srgbClr val="FF0000"/>
              </a:solidFill>
              <a:latin typeface="Helvetica" panose="020B0604020202020204" pitchFamily="34" charset="0"/>
              <a:ea typeface="Times New Roman" panose="02020603050405020304" pitchFamily="18" charset="0"/>
              <a:cs typeface="Arial" panose="020B0604020202020204" pitchFamily="34" charset="0"/>
            </a:endParaRPr>
          </a:p>
          <a:p>
            <a:pPr marL="109728" indent="0">
              <a:lnSpc>
                <a:spcPts val="1500"/>
              </a:lnSpc>
              <a:spcBef>
                <a:spcPts val="225"/>
              </a:spcBef>
              <a:spcAft>
                <a:spcPts val="375"/>
              </a:spcAft>
              <a:buNone/>
            </a:pPr>
            <a:endParaRPr lang="en-US" sz="2800" dirty="0">
              <a:latin typeface="Calibri" panose="020F0502020204030204" pitchFamily="34" charset="0"/>
              <a:ea typeface="Calibri" panose="020F0502020204030204" pitchFamily="34" charset="0"/>
              <a:cs typeface="Arial" panose="020B0604020202020204" pitchFamily="34" charset="0"/>
            </a:endParaRPr>
          </a:p>
          <a:p>
            <a:pPr marL="109728" indent="0">
              <a:buNone/>
            </a:pPr>
            <a:r>
              <a:rPr lang="en-US" sz="2400" b="1" dirty="0" err="1">
                <a:solidFill>
                  <a:srgbClr val="00B0F0"/>
                </a:solidFill>
                <a:latin typeface="Consolas" panose="020B0609020204030204" pitchFamily="49" charset="0"/>
                <a:ea typeface="Times New Roman" panose="02020603050405020304" pitchFamily="18" charset="0"/>
                <a:cs typeface="Times New Roman" panose="02020603050405020304" pitchFamily="18" charset="0"/>
              </a:rPr>
              <a:t>sigNoisy</a:t>
            </a:r>
            <a:r>
              <a:rPr lang="en-US" sz="2400" b="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 = sig + noise;</a:t>
            </a:r>
            <a:endParaRPr lang="en-US" sz="2800" dirty="0">
              <a:latin typeface="Calibri" panose="020F0502020204030204" pitchFamily="34" charset="0"/>
              <a:ea typeface="Calibri" panose="020F0502020204030204" pitchFamily="34" charset="0"/>
              <a:cs typeface="Arial" panose="020B0604020202020204" pitchFamily="34" charset="0"/>
            </a:endParaRPr>
          </a:p>
          <a:p>
            <a:pPr marL="109728" indent="0">
              <a:buNone/>
            </a:pPr>
            <a:r>
              <a:rPr lang="en-US" sz="2400" b="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plot(</a:t>
            </a:r>
            <a:r>
              <a:rPr lang="en-US" sz="2400" b="1" dirty="0" err="1">
                <a:solidFill>
                  <a:srgbClr val="00B0F0"/>
                </a:solidFill>
                <a:latin typeface="Consolas" panose="020B0609020204030204" pitchFamily="49" charset="0"/>
                <a:ea typeface="Times New Roman" panose="02020603050405020304" pitchFamily="18" charset="0"/>
                <a:cs typeface="Times New Roman" panose="02020603050405020304" pitchFamily="18" charset="0"/>
              </a:rPr>
              <a:t>t,sigNoisy</a:t>
            </a:r>
            <a:r>
              <a:rPr lang="en-US" sz="2400" b="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a:t>
            </a:r>
            <a:endParaRPr lang="en-US" sz="2800" dirty="0">
              <a:latin typeface="Calibri" panose="020F0502020204030204" pitchFamily="34" charset="0"/>
              <a:ea typeface="Calibri" panose="020F0502020204030204" pitchFamily="34" charset="0"/>
              <a:cs typeface="Arial" panose="020B0604020202020204" pitchFamily="34" charset="0"/>
            </a:endParaRPr>
          </a:p>
          <a:p>
            <a:pPr eaLnBrk="1" hangingPunct="1">
              <a:buFont typeface="Wingdings" panose="05000000000000000000" pitchFamily="2" charset="2"/>
              <a:buNone/>
            </a:pPr>
            <a:endParaRPr lang="en-US" altLang="en-US" sz="1400" dirty="0" smtClean="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72424" t="43502" r="6061" b="25656"/>
          <a:stretch/>
        </p:blipFill>
        <p:spPr>
          <a:xfrm>
            <a:off x="6936509" y="2437100"/>
            <a:ext cx="3842328" cy="3098217"/>
          </a:xfrm>
          <a:prstGeom prst="rect">
            <a:avLst/>
          </a:prstGeom>
        </p:spPr>
      </p:pic>
    </p:spTree>
    <p:extLst>
      <p:ext uri="{BB962C8B-B14F-4D97-AF65-F5344CB8AC3E}">
        <p14:creationId xmlns:p14="http://schemas.microsoft.com/office/powerpoint/2010/main" val="1165883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2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r>
              <a:rPr lang="en-US" altLang="en-US" sz="40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40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286327" y="939799"/>
            <a:ext cx="11296073" cy="3329709"/>
          </a:xfrm>
        </p:spPr>
        <p:txBody>
          <a:bodyPr>
            <a:noAutofit/>
          </a:bodyPr>
          <a:lstStyle/>
          <a:p>
            <a:pPr marL="109728" indent="0" fontAlgn="base">
              <a:lnSpc>
                <a:spcPct val="107000"/>
              </a:lnSpc>
              <a:buNone/>
            </a:pP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Signal Processing Toolbox contains functions for common waveforms, like the </a:t>
            </a:r>
            <a:r>
              <a:rPr lang="en-US" sz="2000"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square</a:t>
            </a: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 and </a:t>
            </a:r>
            <a:r>
              <a:rPr lang="en-US" sz="2000" b="1" dirty="0" err="1">
                <a:solidFill>
                  <a:srgbClr val="212121"/>
                </a:solidFill>
                <a:latin typeface="Consolas" panose="020B0609020204030204" pitchFamily="49" charset="0"/>
                <a:ea typeface="Times New Roman" panose="02020603050405020304" pitchFamily="18" charset="0"/>
                <a:cs typeface="Courier New" panose="02070309020205020404" pitchFamily="49" charset="0"/>
              </a:rPr>
              <a:t>sawtooth</a:t>
            </a: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 functions. The inputs are similar to the </a:t>
            </a:r>
            <a:r>
              <a:rPr lang="en-US" sz="2400" b="1" dirty="0">
                <a:solidFill>
                  <a:srgbClr val="212121"/>
                </a:solidFill>
                <a:latin typeface="Consolas" panose="020B0609020204030204" pitchFamily="49" charset="0"/>
                <a:ea typeface="Times New Roman" panose="02020603050405020304" pitchFamily="18" charset="0"/>
                <a:cs typeface="Times New Roman" panose="02020603050405020304" pitchFamily="18" charset="0"/>
              </a:rPr>
              <a:t>sin</a:t>
            </a: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 function</a:t>
            </a:r>
            <a:r>
              <a:rPr lang="en-US" sz="2000" dirty="0" smtClean="0">
                <a:solidFill>
                  <a:srgbClr val="212121"/>
                </a:solidFill>
                <a:latin typeface="Arial" panose="020B0604020202020204" pitchFamily="34" charset="0"/>
                <a:ea typeface="Times New Roman" panose="02020603050405020304" pitchFamily="18" charset="0"/>
                <a:cs typeface="Arial" panose="020B0604020202020204" pitchFamily="34" charset="0"/>
              </a:rPr>
              <a:t>:</a:t>
            </a:r>
            <a:endParaRPr lang="en-US" sz="2800" dirty="0">
              <a:latin typeface="Calibri" panose="020F0502020204030204" pitchFamily="34" charset="0"/>
              <a:ea typeface="Calibri" panose="020F0502020204030204" pitchFamily="34" charset="0"/>
              <a:cs typeface="Arial" panose="020B0604020202020204" pitchFamily="34" charset="0"/>
            </a:endParaRPr>
          </a:p>
          <a:p>
            <a:pPr marL="0" indent="0" fontAlgn="base">
              <a:lnSpc>
                <a:spcPct val="107000"/>
              </a:lnSpc>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s = square(2*pi*f*t</a:t>
            </a:r>
            <a:r>
              <a:rPr lang="en-US" sz="2000" b="1" dirty="0" smtClean="0">
                <a:solidFill>
                  <a:srgbClr val="212121"/>
                </a:solidFill>
                <a:latin typeface="Consolas" panose="020B0609020204030204" pitchFamily="49" charset="0"/>
                <a:ea typeface="Times New Roman" panose="02020603050405020304" pitchFamily="18" charset="0"/>
                <a:cs typeface="Courier New" panose="02070309020205020404" pitchFamily="49" charset="0"/>
              </a:rPr>
              <a:t>)</a:t>
            </a: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
            </a:r>
            <a:b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br>
            <a:r>
              <a:rPr lang="en-US" sz="2000"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f</a:t>
            </a: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 is the frequency and </a:t>
            </a:r>
            <a:r>
              <a:rPr lang="en-US" sz="2000"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t</a:t>
            </a: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 is a vector of time steps</a:t>
            </a:r>
            <a:r>
              <a:rPr lang="en-US" sz="2000" dirty="0" smtClean="0">
                <a:solidFill>
                  <a:srgbClr val="212121"/>
                </a:solidFill>
                <a:latin typeface="Arial" panose="020B0604020202020204" pitchFamily="34" charset="0"/>
                <a:ea typeface="Times New Roman" panose="02020603050405020304" pitchFamily="18" charset="0"/>
                <a:cs typeface="Arial" panose="020B0604020202020204" pitchFamily="34" charset="0"/>
              </a:rPr>
              <a:t>.</a:t>
            </a:r>
          </a:p>
          <a:p>
            <a:pPr marL="0" indent="0" fontAlgn="base">
              <a:lnSpc>
                <a:spcPct val="107000"/>
              </a:lnSpc>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2800" dirty="0">
              <a:latin typeface="Calibri" panose="020F0502020204030204" pitchFamily="34" charset="0"/>
              <a:ea typeface="Calibri" panose="020F0502020204030204" pitchFamily="34" charset="0"/>
              <a:cs typeface="Arial" panose="020B0604020202020204" pitchFamily="34" charset="0"/>
            </a:endParaRPr>
          </a:p>
          <a:p>
            <a:pPr marL="109728" indent="0" fontAlgn="base">
              <a:lnSpc>
                <a:spcPct val="107000"/>
              </a:lnSpc>
              <a:buNone/>
            </a:pPr>
            <a:r>
              <a:rPr lang="en-US" sz="2000" b="1" cap="all" dirty="0" smtClean="0">
                <a:solidFill>
                  <a:srgbClr val="212121"/>
                </a:solidFill>
                <a:latin typeface="Arial" panose="020B0604020202020204" pitchFamily="34" charset="0"/>
                <a:ea typeface="Times New Roman" panose="02020603050405020304" pitchFamily="18" charset="0"/>
                <a:cs typeface="Arial" panose="020B0604020202020204" pitchFamily="34" charset="0"/>
              </a:rPr>
              <a:t>#TASK</a:t>
            </a:r>
            <a:endParaRPr lang="en-US" sz="2800" dirty="0">
              <a:latin typeface="Calibri" panose="020F0502020204030204" pitchFamily="34" charset="0"/>
              <a:ea typeface="Calibri" panose="020F0502020204030204" pitchFamily="34" charset="0"/>
              <a:cs typeface="Arial" panose="020B0604020202020204" pitchFamily="34" charset="0"/>
            </a:endParaRPr>
          </a:p>
          <a:p>
            <a:pPr marL="109728" indent="0" fontAlgn="base">
              <a:lnSpc>
                <a:spcPct val="107000"/>
              </a:lnSpc>
              <a:spcAft>
                <a:spcPts val="600"/>
              </a:spcAft>
              <a:buNone/>
            </a:pP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Create a square signal named </a:t>
            </a:r>
            <a:r>
              <a:rPr lang="en-US" sz="2000" dirty="0" err="1">
                <a:solidFill>
                  <a:srgbClr val="212121"/>
                </a:solidFill>
                <a:latin typeface="Consolas" panose="020B0609020204030204" pitchFamily="49" charset="0"/>
                <a:ea typeface="Times New Roman" panose="02020603050405020304" pitchFamily="18" charset="0"/>
                <a:cs typeface="Courier New" panose="02070309020205020404" pitchFamily="49" charset="0"/>
              </a:rPr>
              <a:t>sq</a:t>
            </a: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 at the sample times in </a:t>
            </a:r>
            <a:r>
              <a:rPr lang="en-US" sz="2000"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t</a:t>
            </a: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 Use a frequency of </a:t>
            </a:r>
            <a:r>
              <a:rPr lang="en-US" sz="2000"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5</a:t>
            </a:r>
            <a:r>
              <a:rPr lang="en-US" sz="2000" dirty="0" smtClean="0">
                <a:solidFill>
                  <a:srgbClr val="212121"/>
                </a:solidFill>
                <a:latin typeface="Arial" panose="020B0604020202020204" pitchFamily="34" charset="0"/>
                <a:ea typeface="Times New Roman" panose="02020603050405020304" pitchFamily="18" charset="0"/>
                <a:cs typeface="Arial" panose="020B0604020202020204" pitchFamily="34" charset="0"/>
              </a:rPr>
              <a:t>.</a:t>
            </a: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
            </a:r>
            <a:b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b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Then create a plot of </a:t>
            </a:r>
            <a:r>
              <a:rPr lang="en-US" sz="2000" dirty="0" err="1">
                <a:solidFill>
                  <a:srgbClr val="212121"/>
                </a:solidFill>
                <a:latin typeface="Consolas" panose="020B0609020204030204" pitchFamily="49" charset="0"/>
                <a:ea typeface="Times New Roman" panose="02020603050405020304" pitchFamily="18" charset="0"/>
                <a:cs typeface="Courier New" panose="02070309020205020404" pitchFamily="49" charset="0"/>
              </a:rPr>
              <a:t>sq</a:t>
            </a:r>
            <a:r>
              <a:rPr lang="en-US" sz="2000" dirty="0">
                <a:solidFill>
                  <a:srgbClr val="212121"/>
                </a:solidFill>
                <a:latin typeface="Arial" panose="020B0604020202020204" pitchFamily="34" charset="0"/>
                <a:ea typeface="Times New Roman" panose="02020603050405020304" pitchFamily="18" charset="0"/>
                <a:cs typeface="Arial" panose="020B0604020202020204" pitchFamily="34" charset="0"/>
              </a:rPr>
              <a:t> versus </a:t>
            </a:r>
            <a:r>
              <a:rPr lang="en-US" sz="2000" dirty="0">
                <a:solidFill>
                  <a:srgbClr val="212121"/>
                </a:solidFill>
                <a:latin typeface="Consolas" panose="020B0609020204030204" pitchFamily="49" charset="0"/>
                <a:ea typeface="Times New Roman" panose="02020603050405020304" pitchFamily="18" charset="0"/>
                <a:cs typeface="Courier New" panose="02070309020205020404" pitchFamily="49" charset="0"/>
              </a:rPr>
              <a:t>t</a:t>
            </a:r>
            <a:r>
              <a:rPr lang="en-US" sz="2000" dirty="0" smtClean="0">
                <a:solidFill>
                  <a:srgbClr val="212121"/>
                </a:solidFill>
                <a:latin typeface="Arial" panose="020B0604020202020204" pitchFamily="34" charset="0"/>
                <a:ea typeface="Times New Roman" panose="02020603050405020304" pitchFamily="18" charset="0"/>
                <a:cs typeface="Arial" panose="020B0604020202020204" pitchFamily="34" charset="0"/>
              </a:rPr>
              <a:t>.</a:t>
            </a:r>
          </a:p>
          <a:p>
            <a:pPr marL="109728" indent="0">
              <a:buNone/>
            </a:pPr>
            <a:r>
              <a:rPr lang="en-US" sz="2800" b="1" dirty="0" smtClean="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 </a:t>
            </a:r>
            <a:r>
              <a:rPr lang="en-US" sz="2800" b="1" dirty="0" err="1" smtClean="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sq</a:t>
            </a:r>
            <a:r>
              <a:rPr lang="en-US" sz="2800" b="1" dirty="0" smtClean="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 </a:t>
            </a:r>
            <a:r>
              <a:rPr lang="en-US" sz="2800" b="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 square(2*pi*5*t);</a:t>
            </a:r>
            <a:endParaRPr lang="en-US" sz="3200" dirty="0">
              <a:latin typeface="Calibri" panose="020F0502020204030204" pitchFamily="34" charset="0"/>
              <a:ea typeface="Calibri" panose="020F0502020204030204" pitchFamily="34" charset="0"/>
              <a:cs typeface="Arial" panose="020B0604020202020204" pitchFamily="34" charset="0"/>
            </a:endParaRPr>
          </a:p>
          <a:p>
            <a:pPr marL="109728" indent="0">
              <a:buNone/>
            </a:pPr>
            <a:r>
              <a:rPr lang="en-US" sz="2800" b="1" dirty="0" smtClean="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 plot(</a:t>
            </a:r>
            <a:r>
              <a:rPr lang="en-US" sz="2800" b="1" dirty="0" err="1" smtClean="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t,sq</a:t>
            </a:r>
            <a:r>
              <a:rPr lang="en-US" sz="2800" b="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a:t>
            </a:r>
            <a:endParaRPr lang="en-US" sz="3200" dirty="0">
              <a:latin typeface="Calibri" panose="020F0502020204030204" pitchFamily="34" charset="0"/>
              <a:ea typeface="Calibri" panose="020F0502020204030204" pitchFamily="34" charset="0"/>
              <a:cs typeface="Arial" panose="020B0604020202020204" pitchFamily="34" charset="0"/>
            </a:endParaRPr>
          </a:p>
          <a:p>
            <a:pPr marL="109728" indent="0" fontAlgn="base">
              <a:lnSpc>
                <a:spcPct val="107000"/>
              </a:lnSpc>
              <a:spcAft>
                <a:spcPts val="600"/>
              </a:spcAft>
              <a:buNone/>
            </a:pPr>
            <a:endParaRPr lang="en-US" sz="2800" dirty="0">
              <a:latin typeface="Calibri" panose="020F0502020204030204" pitchFamily="34" charset="0"/>
              <a:ea typeface="Calibri" panose="020F0502020204030204" pitchFamily="34" charset="0"/>
              <a:cs typeface="Arial" panose="020B0604020202020204" pitchFamily="34" charset="0"/>
            </a:endParaRPr>
          </a:p>
          <a:p>
            <a:pPr eaLnBrk="1" hangingPunct="1">
              <a:buFont typeface="Wingdings" panose="05000000000000000000" pitchFamily="2" charset="2"/>
              <a:buNone/>
            </a:pPr>
            <a:endParaRPr lang="en-US" altLang="en-US" sz="1400" dirty="0" smtClean="0"/>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32954" t="34478" r="32803" b="18788"/>
          <a:stretch/>
        </p:blipFill>
        <p:spPr>
          <a:xfrm>
            <a:off x="7966363" y="4035280"/>
            <a:ext cx="3514437" cy="2698030"/>
          </a:xfrm>
          <a:prstGeom prst="rect">
            <a:avLst/>
          </a:prstGeom>
        </p:spPr>
      </p:pic>
    </p:spTree>
    <p:extLst>
      <p:ext uri="{BB962C8B-B14F-4D97-AF65-F5344CB8AC3E}">
        <p14:creationId xmlns:p14="http://schemas.microsoft.com/office/powerpoint/2010/main" val="2171082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2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57382" y="2112675"/>
            <a:ext cx="10972800" cy="1143000"/>
          </a:xfrm>
        </p:spPr>
        <p:txBody>
          <a:bodyPr>
            <a:normAutofit/>
          </a:bodyPr>
          <a:lstStyle/>
          <a:p>
            <a:pPr algn="ctr"/>
            <a:r>
              <a:rPr lang="en-US" sz="6600" dirty="0" smtClean="0">
                <a:solidFill>
                  <a:srgbClr val="FF0000"/>
                </a:solidFill>
              </a:rPr>
              <a:t>Import </a:t>
            </a:r>
            <a:r>
              <a:rPr lang="en-US" sz="6600" dirty="0">
                <a:solidFill>
                  <a:srgbClr val="FF0000"/>
                </a:solidFill>
              </a:rPr>
              <a:t>Signals</a:t>
            </a:r>
            <a:endParaRPr lang="en-US" sz="6000" dirty="0">
              <a:solidFill>
                <a:srgbClr val="FF0000"/>
              </a:solidFill>
            </a:endParaRPr>
          </a:p>
        </p:txBody>
      </p:sp>
    </p:spTree>
    <p:extLst>
      <p:ext uri="{BB962C8B-B14F-4D97-AF65-F5344CB8AC3E}">
        <p14:creationId xmlns:p14="http://schemas.microsoft.com/office/powerpoint/2010/main" val="1957919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145781"/>
            <a:ext cx="10972800" cy="1143000"/>
          </a:xfrm>
        </p:spPr>
        <p:txBody>
          <a:bodyPr>
            <a:noAutofit/>
          </a:bodyPr>
          <a:lstStyle/>
          <a:p>
            <a:r>
              <a:rPr lang="en-US" altLang="en-US" sz="40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443345" y="717281"/>
            <a:ext cx="11296073" cy="3329709"/>
          </a:xfrm>
        </p:spPr>
        <p:txBody>
          <a:bodyPr>
            <a:noAutofit/>
          </a:bodyPr>
          <a:lstStyle/>
          <a:p>
            <a:pPr marL="109728" indent="0">
              <a:buNone/>
            </a:pPr>
            <a:r>
              <a:rPr lang="en-US" altLang="en-US" sz="1800" dirty="0"/>
              <a:t>In this </a:t>
            </a:r>
            <a:r>
              <a:rPr lang="en-US" altLang="en-US" sz="1800" dirty="0" smtClean="0"/>
              <a:t>task, </a:t>
            </a:r>
            <a:r>
              <a:rPr lang="en-US" altLang="en-US" sz="1800" dirty="0"/>
              <a:t>you will process the seismic signals in the Signal Analyzer app. The seismic stations record the vertical displacement caused by vibrations in the Earth's crust. First, you need to import the signals into the Workspace. The </a:t>
            </a:r>
            <a:r>
              <a:rPr lang="en-US" altLang="en-US" sz="1800" dirty="0" err="1"/>
              <a:t>readmatrix</a:t>
            </a:r>
            <a:r>
              <a:rPr lang="en-US" altLang="en-US" sz="1800" dirty="0"/>
              <a:t> function imports a numeric matrix from a file.</a:t>
            </a:r>
          </a:p>
          <a:p>
            <a:pPr marL="109728" indent="0">
              <a:buNone/>
            </a:pPr>
            <a:r>
              <a:rPr lang="en-US" altLang="en-US" sz="1800" dirty="0"/>
              <a:t>M = </a:t>
            </a:r>
            <a:r>
              <a:rPr lang="en-US" altLang="en-US" sz="1800" dirty="0" err="1"/>
              <a:t>readmatrix</a:t>
            </a:r>
            <a:r>
              <a:rPr lang="en-US" altLang="en-US" sz="1800" dirty="0"/>
              <a:t>(</a:t>
            </a:r>
            <a:r>
              <a:rPr lang="en-US" altLang="en-US" sz="1800" dirty="0">
                <a:solidFill>
                  <a:schemeClr val="accent6">
                    <a:lumMod val="60000"/>
                    <a:lumOff val="40000"/>
                  </a:schemeClr>
                </a:solidFill>
              </a:rPr>
              <a:t>"mynum.txt</a:t>
            </a:r>
            <a:r>
              <a:rPr lang="en-US" altLang="en-US" sz="1800" dirty="0" smtClean="0">
                <a:solidFill>
                  <a:schemeClr val="accent6">
                    <a:lumMod val="60000"/>
                    <a:lumOff val="40000"/>
                  </a:schemeClr>
                </a:solidFill>
              </a:rPr>
              <a:t>"</a:t>
            </a:r>
            <a:r>
              <a:rPr lang="en-US" altLang="en-US" sz="1800" dirty="0" smtClean="0"/>
              <a:t>)</a:t>
            </a:r>
            <a:endParaRPr lang="en-US" altLang="en-US" sz="1800" dirty="0"/>
          </a:p>
          <a:p>
            <a:pPr marL="109728" indent="0">
              <a:buNone/>
            </a:pPr>
            <a:r>
              <a:rPr lang="en-US" altLang="en-US" sz="1800" dirty="0"/>
              <a:t>In this activity, you import the signal recorded at the HARP seismic station. The signal is stored in the file </a:t>
            </a:r>
            <a:r>
              <a:rPr lang="en-US" altLang="en-US" sz="1800" dirty="0">
                <a:solidFill>
                  <a:schemeClr val="accent6">
                    <a:lumMod val="60000"/>
                    <a:lumOff val="40000"/>
                  </a:schemeClr>
                </a:solidFill>
              </a:rPr>
              <a:t>"harp.csv</a:t>
            </a:r>
            <a:r>
              <a:rPr lang="en-US" altLang="en-US" sz="1800" dirty="0" smtClean="0">
                <a:solidFill>
                  <a:schemeClr val="accent6">
                    <a:lumMod val="60000"/>
                    <a:lumOff val="40000"/>
                  </a:schemeClr>
                </a:solidFill>
              </a:rPr>
              <a:t>"</a:t>
            </a:r>
            <a:r>
              <a:rPr lang="en-US" altLang="en-US" sz="1800" dirty="0" smtClean="0"/>
              <a:t>.</a:t>
            </a:r>
          </a:p>
          <a:p>
            <a:pPr marL="109728" indent="0">
              <a:buNone/>
            </a:pPr>
            <a:endParaRPr lang="en-US" altLang="en-US" sz="1800" dirty="0"/>
          </a:p>
          <a:p>
            <a:pPr marL="0" indent="0">
              <a:spcBef>
                <a:spcPts val="0"/>
              </a:spcBef>
              <a:buNone/>
            </a:pPr>
            <a:r>
              <a:rPr lang="en-US" altLang="en-US" sz="2000" b="1" dirty="0" smtClean="0"/>
              <a:t># TASK</a:t>
            </a:r>
            <a:endParaRPr lang="en-US" altLang="en-US" sz="2000" b="1" dirty="0"/>
          </a:p>
          <a:p>
            <a:pPr marL="109728" indent="0">
              <a:buNone/>
            </a:pPr>
            <a:r>
              <a:rPr lang="en-US" altLang="en-US" sz="1800" b="1" dirty="0" smtClean="0"/>
              <a:t>Import </a:t>
            </a:r>
            <a:r>
              <a:rPr lang="en-US" altLang="en-US" sz="1800" b="1" dirty="0"/>
              <a:t>the seismic signal stored in </a:t>
            </a:r>
            <a:r>
              <a:rPr lang="en-US" altLang="en-US" sz="1800" b="1" dirty="0">
                <a:solidFill>
                  <a:srgbClr val="7030A0"/>
                </a:solidFill>
              </a:rPr>
              <a:t>"harp.csv" </a:t>
            </a:r>
            <a:r>
              <a:rPr lang="en-US" altLang="en-US" sz="1800" b="1" dirty="0"/>
              <a:t>to a vector named harp. Then plot the harp signal.</a:t>
            </a:r>
            <a:endParaRPr lang="en-US" altLang="en-US" sz="2400" dirty="0"/>
          </a:p>
          <a:p>
            <a:pPr eaLnBrk="1" hangingPunct="1">
              <a:buFont typeface="Wingdings" panose="05000000000000000000" pitchFamily="2" charset="2"/>
              <a:buNone/>
            </a:pPr>
            <a:endParaRPr lang="en-US" altLang="en-US" sz="1400" dirty="0" smtClean="0"/>
          </a:p>
        </p:txBody>
      </p:sp>
      <p:sp>
        <p:nvSpPr>
          <p:cNvPr id="3" name="Rectangle 2"/>
          <p:cNvSpPr>
            <a:spLocks noChangeArrowheads="1"/>
          </p:cNvSpPr>
          <p:nvPr/>
        </p:nvSpPr>
        <p:spPr bwMode="auto">
          <a:xfrm>
            <a:off x="443345" y="4627526"/>
            <a:ext cx="351629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5870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00B0F0"/>
                </a:solidFill>
                <a:effectLst/>
                <a:latin typeface="Arial" panose="020B0604020202020204" pitchFamily="34" charset="0"/>
              </a:rPr>
              <a:t>harp = </a:t>
            </a:r>
            <a:r>
              <a:rPr kumimoji="0" lang="en-US" altLang="en-US" sz="1800" b="1" i="0" u="none" strike="noStrike" cap="none" normalizeH="0" baseline="0" dirty="0" err="1" smtClean="0">
                <a:ln>
                  <a:noFill/>
                </a:ln>
                <a:solidFill>
                  <a:srgbClr val="00B0F0"/>
                </a:solidFill>
                <a:effectLst/>
                <a:latin typeface="Arial" panose="020B0604020202020204" pitchFamily="34" charset="0"/>
              </a:rPr>
              <a:t>readmatrix</a:t>
            </a:r>
            <a:r>
              <a:rPr kumimoji="0" lang="en-US" altLang="en-US" sz="1800" b="1" i="0" u="none" strike="noStrike" cap="none" normalizeH="0" baseline="0" dirty="0" smtClean="0">
                <a:ln>
                  <a:noFill/>
                </a:ln>
                <a:solidFill>
                  <a:srgbClr val="00B0F0"/>
                </a:solidFill>
                <a:effectLst/>
                <a:latin typeface="Arial" panose="020B0604020202020204" pitchFamily="34" charset="0"/>
              </a:rPr>
              <a:t>("harp.csv")</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00B0F0"/>
                </a:solidFill>
                <a:effectLst/>
                <a:latin typeface="Arial" panose="020B0604020202020204" pitchFamily="34" charset="0"/>
              </a:rPr>
              <a:t>plot(harp)</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4108" y="3670192"/>
            <a:ext cx="4276438" cy="3207329"/>
          </a:xfrm>
          <a:prstGeom prst="rect">
            <a:avLst/>
          </a:prstGeom>
        </p:spPr>
      </p:pic>
    </p:spTree>
    <p:extLst>
      <p:ext uri="{BB962C8B-B14F-4D97-AF65-F5344CB8AC3E}">
        <p14:creationId xmlns:p14="http://schemas.microsoft.com/office/powerpoint/2010/main" val="1197962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57382" y="2112675"/>
            <a:ext cx="10972800" cy="1143000"/>
          </a:xfrm>
        </p:spPr>
        <p:txBody>
          <a:bodyPr>
            <a:normAutofit/>
          </a:bodyPr>
          <a:lstStyle/>
          <a:p>
            <a:pPr algn="ctr"/>
            <a:r>
              <a:rPr lang="en-US" sz="6600" dirty="0">
                <a:solidFill>
                  <a:srgbClr val="FF0000"/>
                </a:solidFill>
              </a:rPr>
              <a:t>View Power Spectrum</a:t>
            </a:r>
            <a:endParaRPr lang="en-US" sz="6000" dirty="0">
              <a:solidFill>
                <a:srgbClr val="FF0000"/>
              </a:solidFill>
            </a:endParaRPr>
          </a:p>
        </p:txBody>
      </p:sp>
    </p:spTree>
    <p:extLst>
      <p:ext uri="{BB962C8B-B14F-4D97-AF65-F5344CB8AC3E}">
        <p14:creationId xmlns:p14="http://schemas.microsoft.com/office/powerpoint/2010/main" val="16924555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75825" y="0"/>
            <a:ext cx="11904982" cy="6858000"/>
          </a:xfrm>
          <a:prstGeom prst="rect">
            <a:avLst/>
          </a:prstGeom>
        </p:spPr>
      </p:pic>
      <p:cxnSp>
        <p:nvCxnSpPr>
          <p:cNvPr id="6" name="Straight Arrow Connector 5"/>
          <p:cNvCxnSpPr/>
          <p:nvPr/>
        </p:nvCxnSpPr>
        <p:spPr>
          <a:xfrm flipH="1" flipV="1">
            <a:off x="1911928" y="498765"/>
            <a:ext cx="212436" cy="150552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8" name="Straight Arrow Connector 7"/>
          <p:cNvCxnSpPr/>
          <p:nvPr/>
        </p:nvCxnSpPr>
        <p:spPr>
          <a:xfrm flipH="1" flipV="1">
            <a:off x="6174510" y="1131456"/>
            <a:ext cx="212436" cy="150552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6017916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443345" y="595026"/>
            <a:ext cx="11296073" cy="3329709"/>
          </a:xfrm>
        </p:spPr>
        <p:txBody>
          <a:bodyPr>
            <a:noAutofit/>
          </a:bodyPr>
          <a:lstStyle/>
          <a:p>
            <a:pPr marL="109728" indent="0">
              <a:buNone/>
            </a:pPr>
            <a:r>
              <a:rPr lang="en-US" altLang="en-US" sz="1600" dirty="0"/>
              <a:t>The </a:t>
            </a:r>
            <a:r>
              <a:rPr lang="en-US" altLang="en-US" sz="1600" b="1" dirty="0">
                <a:solidFill>
                  <a:srgbClr val="FF0000"/>
                </a:solidFill>
              </a:rPr>
              <a:t>Workspace Browser </a:t>
            </a:r>
            <a:r>
              <a:rPr lang="en-US" altLang="en-US" sz="1600" dirty="0"/>
              <a:t>within Signal Analyzer contains any signals stored as numeric arrays or variables with inherent time information like timetables</a:t>
            </a:r>
            <a:r>
              <a:rPr lang="en-US" altLang="en-US" sz="1600" dirty="0" smtClean="0"/>
              <a:t>.</a:t>
            </a:r>
            <a:endParaRPr lang="en-US" altLang="en-US" sz="1600" dirty="0"/>
          </a:p>
          <a:p>
            <a:pPr marL="109728" indent="0">
              <a:buNone/>
            </a:pPr>
            <a:r>
              <a:rPr lang="en-US" altLang="en-US" sz="1600" dirty="0"/>
              <a:t>You can visualize signals by dragging them from the </a:t>
            </a:r>
            <a:r>
              <a:rPr lang="en-US" altLang="en-US" sz="1600" b="1" dirty="0">
                <a:solidFill>
                  <a:srgbClr val="FF0000"/>
                </a:solidFill>
              </a:rPr>
              <a:t>Workspace Browser </a:t>
            </a:r>
            <a:r>
              <a:rPr lang="en-US" altLang="en-US" sz="1600" dirty="0"/>
              <a:t>to the axes</a:t>
            </a:r>
            <a:r>
              <a:rPr lang="en-US" altLang="en-US" sz="1600" dirty="0" smtClean="0"/>
              <a:t>.</a:t>
            </a:r>
            <a:endParaRPr lang="en-US" altLang="en-US" sz="1600" dirty="0"/>
          </a:p>
          <a:p>
            <a:pPr marL="109728" indent="0">
              <a:buNone/>
            </a:pPr>
            <a:r>
              <a:rPr lang="en-US" altLang="en-US" sz="1600" b="1" dirty="0" smtClean="0"/>
              <a:t>#TASK</a:t>
            </a:r>
            <a:endParaRPr lang="en-US" altLang="en-US" sz="1600" b="1" dirty="0"/>
          </a:p>
          <a:p>
            <a:pPr marL="109728" indent="0">
              <a:buNone/>
            </a:pPr>
            <a:r>
              <a:rPr lang="en-US" altLang="en-US" sz="1600" dirty="0"/>
              <a:t>Drag the </a:t>
            </a:r>
            <a:r>
              <a:rPr lang="en-US" altLang="en-US" sz="1600" b="1" dirty="0">
                <a:solidFill>
                  <a:srgbClr val="7030A0"/>
                </a:solidFill>
              </a:rPr>
              <a:t>harp</a:t>
            </a:r>
            <a:r>
              <a:rPr lang="en-US" altLang="en-US" sz="1600" dirty="0"/>
              <a:t> signal from the Workspace Browser to the axes to display it.</a:t>
            </a:r>
            <a:endParaRPr lang="en-US" altLang="en-US" sz="1200" dirty="0" smtClean="0"/>
          </a:p>
        </p:txBody>
      </p:sp>
      <p:pic>
        <p:nvPicPr>
          <p:cNvPr id="5" name="Picture 4"/>
          <p:cNvPicPr>
            <a:picLocks noChangeAspect="1"/>
          </p:cNvPicPr>
          <p:nvPr/>
        </p:nvPicPr>
        <p:blipFill rotWithShape="1">
          <a:blip r:embed="rId3"/>
          <a:srcRect l="516" t="8022" r="-943" b="-703"/>
          <a:stretch/>
        </p:blipFill>
        <p:spPr>
          <a:xfrm>
            <a:off x="1711014" y="2145032"/>
            <a:ext cx="8328532" cy="4712968"/>
          </a:xfrm>
          <a:prstGeom prst="rect">
            <a:avLst/>
          </a:prstGeom>
        </p:spPr>
      </p:pic>
      <p:cxnSp>
        <p:nvCxnSpPr>
          <p:cNvPr id="8" name="Straight Arrow Connector 7"/>
          <p:cNvCxnSpPr/>
          <p:nvPr/>
        </p:nvCxnSpPr>
        <p:spPr>
          <a:xfrm flipH="1" flipV="1">
            <a:off x="2156692" y="5306292"/>
            <a:ext cx="1260763" cy="105756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388051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145781"/>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443345" y="739978"/>
            <a:ext cx="11296073" cy="3329709"/>
          </a:xfrm>
        </p:spPr>
        <p:txBody>
          <a:bodyPr>
            <a:noAutofit/>
          </a:bodyPr>
          <a:lstStyle/>
          <a:p>
            <a:pPr marL="109728" indent="0">
              <a:buNone/>
            </a:pPr>
            <a:r>
              <a:rPr lang="en-US" altLang="en-US" sz="1600" dirty="0"/>
              <a:t>To set the time information, select  </a:t>
            </a:r>
            <a:r>
              <a:rPr lang="en-US" altLang="en-US" sz="1600" b="1" dirty="0">
                <a:solidFill>
                  <a:srgbClr val="FF0000"/>
                </a:solidFill>
              </a:rPr>
              <a:t>Time Values</a:t>
            </a:r>
            <a:r>
              <a:rPr lang="en-US" altLang="en-US" sz="1600" dirty="0"/>
              <a:t> in the </a:t>
            </a:r>
            <a:r>
              <a:rPr lang="en-US" altLang="en-US" sz="1600" b="1" dirty="0">
                <a:solidFill>
                  <a:srgbClr val="FF0000"/>
                </a:solidFill>
              </a:rPr>
              <a:t>Analyzer</a:t>
            </a:r>
            <a:r>
              <a:rPr lang="en-US" altLang="en-US" sz="1600" dirty="0"/>
              <a:t> tab. You can specify the sample rate (fs), the time between each sample </a:t>
            </a:r>
            <a:r>
              <a:rPr lang="en-US" altLang="en-US" sz="1600" dirty="0" smtClean="0"/>
              <a:t>(1/fs), </a:t>
            </a:r>
            <a:r>
              <a:rPr lang="en-US" altLang="en-US" sz="1600" dirty="0"/>
              <a:t>or a vector of time values.</a:t>
            </a:r>
          </a:p>
          <a:p>
            <a:pPr marL="109728" indent="0">
              <a:buNone/>
            </a:pPr>
            <a:r>
              <a:rPr lang="en-US" altLang="en-US" sz="1600" b="1" dirty="0" smtClean="0"/>
              <a:t>#TASK</a:t>
            </a:r>
            <a:endParaRPr lang="en-US" altLang="en-US" sz="1600" b="1" dirty="0"/>
          </a:p>
          <a:p>
            <a:pPr marL="109728" indent="0">
              <a:buNone/>
            </a:pPr>
            <a:r>
              <a:rPr lang="en-US" altLang="en-US" sz="1600" dirty="0"/>
              <a:t>Set sample rate to </a:t>
            </a:r>
            <a:r>
              <a:rPr lang="en-US" altLang="en-US" sz="1600" b="1" dirty="0"/>
              <a:t>50 Hz</a:t>
            </a:r>
            <a:r>
              <a:rPr lang="en-US" altLang="en-US" sz="1600" dirty="0"/>
              <a:t>. (In the Time Specification drop down, select Sample Rate and Start </a:t>
            </a:r>
            <a:r>
              <a:rPr lang="en-US" altLang="en-US" sz="1600" dirty="0" smtClean="0"/>
              <a:t>Time). </a:t>
            </a:r>
            <a:endParaRPr lang="en-US" altLang="en-US" sz="1200" dirty="0" smtClean="0"/>
          </a:p>
        </p:txBody>
      </p:sp>
      <p:pic>
        <p:nvPicPr>
          <p:cNvPr id="2" name="Picture 1"/>
          <p:cNvPicPr>
            <a:picLocks noChangeAspect="1"/>
          </p:cNvPicPr>
          <p:nvPr/>
        </p:nvPicPr>
        <p:blipFill rotWithShape="1">
          <a:blip r:embed="rId3"/>
          <a:srcRect l="-1" r="30071"/>
          <a:stretch/>
        </p:blipFill>
        <p:spPr>
          <a:xfrm>
            <a:off x="1289948" y="2034306"/>
            <a:ext cx="8879288" cy="4823694"/>
          </a:xfrm>
          <a:prstGeom prst="rect">
            <a:avLst/>
          </a:prstGeom>
        </p:spPr>
      </p:pic>
      <p:cxnSp>
        <p:nvCxnSpPr>
          <p:cNvPr id="6" name="Straight Arrow Connector 5"/>
          <p:cNvCxnSpPr/>
          <p:nvPr/>
        </p:nvCxnSpPr>
        <p:spPr>
          <a:xfrm flipH="1" flipV="1">
            <a:off x="4382655" y="2757056"/>
            <a:ext cx="212436" cy="150552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 name="Straight Arrow Connector 6"/>
          <p:cNvCxnSpPr/>
          <p:nvPr/>
        </p:nvCxnSpPr>
        <p:spPr>
          <a:xfrm flipH="1" flipV="1">
            <a:off x="9000837" y="4446153"/>
            <a:ext cx="909781" cy="116955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 name="Straight Arrow Connector 8"/>
          <p:cNvCxnSpPr/>
          <p:nvPr/>
        </p:nvCxnSpPr>
        <p:spPr>
          <a:xfrm flipH="1" flipV="1">
            <a:off x="7116619" y="4815212"/>
            <a:ext cx="212436" cy="150552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778463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145781"/>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92364" y="739977"/>
            <a:ext cx="12071927" cy="3329709"/>
          </a:xfrm>
        </p:spPr>
        <p:txBody>
          <a:bodyPr>
            <a:noAutofit/>
          </a:bodyPr>
          <a:lstStyle/>
          <a:p>
            <a:pPr marL="109728" indent="0">
              <a:buNone/>
            </a:pPr>
            <a:r>
              <a:rPr lang="en-US" altLang="en-US" sz="1600" dirty="0"/>
              <a:t>To view the frequency content of a signal, you can display its power spectrum by clicking </a:t>
            </a:r>
            <a:r>
              <a:rPr lang="en-US" altLang="en-US" sz="1600" b="1" dirty="0">
                <a:solidFill>
                  <a:srgbClr val="FF0000"/>
                </a:solidFill>
              </a:rPr>
              <a:t>Spectrum</a:t>
            </a:r>
            <a:r>
              <a:rPr lang="en-US" altLang="en-US" sz="1600" dirty="0"/>
              <a:t> on the </a:t>
            </a:r>
            <a:r>
              <a:rPr lang="en-US" altLang="en-US" sz="1600" b="1" dirty="0">
                <a:solidFill>
                  <a:srgbClr val="FF0000"/>
                </a:solidFill>
              </a:rPr>
              <a:t>Display</a:t>
            </a:r>
            <a:r>
              <a:rPr lang="en-US" altLang="en-US" sz="1600" dirty="0"/>
              <a:t> tab.</a:t>
            </a:r>
          </a:p>
          <a:p>
            <a:pPr marL="109728" indent="0">
              <a:buNone/>
            </a:pPr>
            <a:r>
              <a:rPr lang="en-US" altLang="en-US" sz="1600" b="1" dirty="0" smtClean="0"/>
              <a:t>#TASK</a:t>
            </a:r>
            <a:endParaRPr lang="en-US" altLang="en-US" sz="1600" b="1" dirty="0"/>
          </a:p>
          <a:p>
            <a:pPr marL="109728" indent="0">
              <a:buNone/>
            </a:pPr>
            <a:r>
              <a:rPr lang="en-US" altLang="en-US" sz="1600" dirty="0"/>
              <a:t>Display the power spectrum of the harp signal.</a:t>
            </a:r>
            <a:endParaRPr lang="en-US" altLang="en-US" sz="1200" dirty="0" smtClean="0"/>
          </a:p>
        </p:txBody>
      </p:sp>
      <p:pic>
        <p:nvPicPr>
          <p:cNvPr id="10" name="Picture 9"/>
          <p:cNvPicPr>
            <a:picLocks noChangeAspect="1"/>
          </p:cNvPicPr>
          <p:nvPr/>
        </p:nvPicPr>
        <p:blipFill>
          <a:blip r:embed="rId3"/>
          <a:stretch>
            <a:fillRect/>
          </a:stretch>
        </p:blipFill>
        <p:spPr>
          <a:xfrm>
            <a:off x="443345" y="1711005"/>
            <a:ext cx="11323781" cy="5146995"/>
          </a:xfrm>
          <a:prstGeom prst="rect">
            <a:avLst/>
          </a:prstGeom>
        </p:spPr>
      </p:pic>
      <p:cxnSp>
        <p:nvCxnSpPr>
          <p:cNvPr id="14" name="Straight Arrow Connector 13"/>
          <p:cNvCxnSpPr/>
          <p:nvPr/>
        </p:nvCxnSpPr>
        <p:spPr>
          <a:xfrm flipV="1">
            <a:off x="4341091" y="2404831"/>
            <a:ext cx="743528" cy="105707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496553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145781"/>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92364" y="739977"/>
            <a:ext cx="12071927" cy="3329709"/>
          </a:xfrm>
        </p:spPr>
        <p:txBody>
          <a:bodyPr>
            <a:noAutofit/>
          </a:bodyPr>
          <a:lstStyle/>
          <a:p>
            <a:pPr marL="109728" indent="0">
              <a:buNone/>
            </a:pPr>
            <a:r>
              <a:rPr lang="en-US" altLang="en-US" sz="1600" dirty="0"/>
              <a:t>While you display the power spectrum, a </a:t>
            </a:r>
            <a:r>
              <a:rPr lang="en-US" altLang="en-US" sz="1600" b="1" dirty="0">
                <a:solidFill>
                  <a:srgbClr val="FF0000"/>
                </a:solidFill>
              </a:rPr>
              <a:t>Spectrum</a:t>
            </a:r>
            <a:r>
              <a:rPr lang="en-US" altLang="en-US" sz="1600" dirty="0"/>
              <a:t> tab contains options to customize the visualization</a:t>
            </a:r>
            <a:r>
              <a:rPr lang="en-US" altLang="en-US" sz="1600" dirty="0" smtClean="0"/>
              <a:t>.</a:t>
            </a:r>
            <a:endParaRPr lang="en-US" altLang="en-US" sz="1600" dirty="0"/>
          </a:p>
          <a:p>
            <a:pPr marL="109728" indent="0">
              <a:buNone/>
            </a:pPr>
            <a:r>
              <a:rPr lang="en-US" altLang="en-US" sz="1600" dirty="0"/>
              <a:t>The frequency range of these seismic surface waves is small, so to focus on the meaningful seismic activity, you can set the frequency limits of the power spectrum.</a:t>
            </a:r>
          </a:p>
          <a:p>
            <a:pPr marL="109728" indent="0">
              <a:buNone/>
            </a:pPr>
            <a:r>
              <a:rPr lang="en-US" altLang="en-US" sz="1600" b="1" dirty="0" smtClean="0"/>
              <a:t>#TASK</a:t>
            </a:r>
            <a:endParaRPr lang="en-US" altLang="en-US" sz="1600" b="1" dirty="0"/>
          </a:p>
          <a:p>
            <a:pPr marL="109728" indent="0">
              <a:buNone/>
            </a:pPr>
            <a:r>
              <a:rPr lang="en-US" altLang="en-US" sz="1600" dirty="0"/>
              <a:t>Set the frequency limits from 0 Hz to 1 Hz.</a:t>
            </a:r>
            <a:endParaRPr lang="en-US" altLang="en-US" sz="1200" dirty="0" smtClean="0"/>
          </a:p>
        </p:txBody>
      </p:sp>
      <p:pic>
        <p:nvPicPr>
          <p:cNvPr id="2" name="Picture 1"/>
          <p:cNvPicPr>
            <a:picLocks noChangeAspect="1"/>
          </p:cNvPicPr>
          <p:nvPr/>
        </p:nvPicPr>
        <p:blipFill>
          <a:blip r:embed="rId3"/>
          <a:stretch>
            <a:fillRect/>
          </a:stretch>
        </p:blipFill>
        <p:spPr>
          <a:xfrm>
            <a:off x="1596042" y="2327082"/>
            <a:ext cx="8757922" cy="4431886"/>
          </a:xfrm>
          <a:prstGeom prst="rect">
            <a:avLst/>
          </a:prstGeom>
        </p:spPr>
      </p:pic>
      <p:cxnSp>
        <p:nvCxnSpPr>
          <p:cNvPr id="7" name="Straight Arrow Connector 6"/>
          <p:cNvCxnSpPr/>
          <p:nvPr/>
        </p:nvCxnSpPr>
        <p:spPr>
          <a:xfrm flipH="1" flipV="1">
            <a:off x="3745347" y="2404831"/>
            <a:ext cx="697344" cy="108651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 name="Straight Arrow Connector 8"/>
          <p:cNvCxnSpPr/>
          <p:nvPr/>
        </p:nvCxnSpPr>
        <p:spPr>
          <a:xfrm flipH="1" flipV="1">
            <a:off x="2530763" y="2948088"/>
            <a:ext cx="1293091" cy="80356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6281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145781"/>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92364" y="739977"/>
            <a:ext cx="12071927" cy="3329709"/>
          </a:xfrm>
        </p:spPr>
        <p:txBody>
          <a:bodyPr>
            <a:noAutofit/>
          </a:bodyPr>
          <a:lstStyle/>
          <a:p>
            <a:pPr marL="109728" indent="0">
              <a:buNone/>
            </a:pPr>
            <a:r>
              <a:rPr lang="en-US" altLang="en-US" sz="1600" dirty="0"/>
              <a:t>Try adding a data cursor to look at the frequency location of the peak. You can add a data cursor in the Cursors section of the Display tab.</a:t>
            </a:r>
          </a:p>
          <a:p>
            <a:pPr marL="109728" indent="0">
              <a:buNone/>
            </a:pPr>
            <a:endParaRPr lang="en-US" altLang="en-US" sz="1600" dirty="0"/>
          </a:p>
        </p:txBody>
      </p:sp>
      <p:pic>
        <p:nvPicPr>
          <p:cNvPr id="4" name="Picture 3"/>
          <p:cNvPicPr>
            <a:picLocks noChangeAspect="1"/>
          </p:cNvPicPr>
          <p:nvPr/>
        </p:nvPicPr>
        <p:blipFill>
          <a:blip r:embed="rId3"/>
          <a:stretch>
            <a:fillRect/>
          </a:stretch>
        </p:blipFill>
        <p:spPr>
          <a:xfrm>
            <a:off x="1212219" y="1415266"/>
            <a:ext cx="9832216" cy="5308840"/>
          </a:xfrm>
          <a:prstGeom prst="rect">
            <a:avLst/>
          </a:prstGeom>
        </p:spPr>
      </p:pic>
      <p:cxnSp>
        <p:nvCxnSpPr>
          <p:cNvPr id="10" name="Straight Arrow Connector 9"/>
          <p:cNvCxnSpPr/>
          <p:nvPr/>
        </p:nvCxnSpPr>
        <p:spPr>
          <a:xfrm flipH="1" flipV="1">
            <a:off x="2309091" y="1812427"/>
            <a:ext cx="1293091" cy="80356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769582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57382" y="2112675"/>
            <a:ext cx="10972800" cy="1143000"/>
          </a:xfrm>
        </p:spPr>
        <p:txBody>
          <a:bodyPr>
            <a:normAutofit/>
          </a:bodyPr>
          <a:lstStyle/>
          <a:p>
            <a:pPr algn="ctr"/>
            <a:r>
              <a:rPr lang="en-US" sz="6600" dirty="0">
                <a:solidFill>
                  <a:srgbClr val="FF0000"/>
                </a:solidFill>
              </a:rPr>
              <a:t>Compare Signals</a:t>
            </a:r>
          </a:p>
        </p:txBody>
      </p:sp>
    </p:spTree>
    <p:extLst>
      <p:ext uri="{BB962C8B-B14F-4D97-AF65-F5344CB8AC3E}">
        <p14:creationId xmlns:p14="http://schemas.microsoft.com/office/powerpoint/2010/main" val="216221280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184727" y="595026"/>
            <a:ext cx="5273965" cy="3329709"/>
          </a:xfrm>
        </p:spPr>
        <p:txBody>
          <a:bodyPr>
            <a:noAutofit/>
          </a:bodyPr>
          <a:lstStyle/>
          <a:p>
            <a:pPr marL="109728" indent="0" algn="just">
              <a:buNone/>
            </a:pPr>
            <a:r>
              <a:rPr lang="en-US" altLang="en-US" sz="1600" dirty="0" smtClean="0"/>
              <a:t>1-The </a:t>
            </a:r>
            <a:r>
              <a:rPr lang="en-US" altLang="en-US" sz="1600" dirty="0"/>
              <a:t>three seismic stations </a:t>
            </a:r>
            <a:r>
              <a:rPr lang="en-US" altLang="en-US" sz="1600" dirty="0">
                <a:solidFill>
                  <a:srgbClr val="FF0000"/>
                </a:solidFill>
              </a:rPr>
              <a:t>HARP</a:t>
            </a:r>
            <a:r>
              <a:rPr lang="en-US" altLang="en-US" sz="1600" dirty="0"/>
              <a:t>, </a:t>
            </a:r>
            <a:r>
              <a:rPr lang="en-US" altLang="en-US" sz="1600" dirty="0">
                <a:solidFill>
                  <a:srgbClr val="FF0000"/>
                </a:solidFill>
              </a:rPr>
              <a:t>PAX</a:t>
            </a:r>
            <a:r>
              <a:rPr lang="en-US" altLang="en-US" sz="1600" dirty="0"/>
              <a:t>, and </a:t>
            </a:r>
            <a:r>
              <a:rPr lang="en-US" altLang="en-US" sz="1600" dirty="0">
                <a:solidFill>
                  <a:srgbClr val="FF0000"/>
                </a:solidFill>
              </a:rPr>
              <a:t>WANC</a:t>
            </a:r>
            <a:r>
              <a:rPr lang="en-US" altLang="en-US" sz="1600" dirty="0"/>
              <a:t> collected the seismic signals using different hardware. As you've seen, the data from the </a:t>
            </a:r>
            <a:r>
              <a:rPr lang="en-US" altLang="en-US" sz="1600" dirty="0">
                <a:solidFill>
                  <a:srgbClr val="FF0000"/>
                </a:solidFill>
              </a:rPr>
              <a:t>HARP</a:t>
            </a:r>
            <a:r>
              <a:rPr lang="en-US" altLang="en-US" sz="1600" dirty="0"/>
              <a:t> station was sampled at </a:t>
            </a:r>
            <a:r>
              <a:rPr lang="en-US" altLang="en-US" sz="1600" dirty="0">
                <a:solidFill>
                  <a:srgbClr val="FF0000"/>
                </a:solidFill>
              </a:rPr>
              <a:t>50 Hz</a:t>
            </a:r>
            <a:r>
              <a:rPr lang="en-US" altLang="en-US" sz="1600" dirty="0" smtClean="0"/>
              <a:t>.</a:t>
            </a:r>
            <a:endParaRPr lang="en-US" altLang="en-US" sz="1600" dirty="0"/>
          </a:p>
          <a:p>
            <a:pPr marL="109728" indent="0" algn="just">
              <a:buNone/>
            </a:pPr>
            <a:r>
              <a:rPr lang="en-US" altLang="en-US" sz="1600" dirty="0" smtClean="0"/>
              <a:t>2-The </a:t>
            </a:r>
            <a:r>
              <a:rPr lang="en-US" altLang="en-US" sz="1600" dirty="0"/>
              <a:t>data from the </a:t>
            </a:r>
            <a:r>
              <a:rPr lang="en-US" altLang="en-US" sz="1600" dirty="0">
                <a:solidFill>
                  <a:srgbClr val="FF0000"/>
                </a:solidFill>
              </a:rPr>
              <a:t>PAX</a:t>
            </a:r>
            <a:r>
              <a:rPr lang="en-US" altLang="en-US" sz="1600" dirty="0"/>
              <a:t> station was also sampled at </a:t>
            </a:r>
            <a:r>
              <a:rPr lang="en-US" altLang="en-US" sz="1600" dirty="0">
                <a:solidFill>
                  <a:srgbClr val="FF0000"/>
                </a:solidFill>
              </a:rPr>
              <a:t>50 Hz</a:t>
            </a:r>
            <a:r>
              <a:rPr lang="en-US" altLang="en-US" sz="1600" dirty="0"/>
              <a:t>, </a:t>
            </a:r>
            <a:r>
              <a:rPr lang="en-US" altLang="en-US" sz="1600" b="1" dirty="0"/>
              <a:t>but the hardware was imperfect</a:t>
            </a:r>
            <a:r>
              <a:rPr lang="en-US" altLang="en-US" sz="1600" dirty="0"/>
              <a:t>, so the spacing between each sample wasn't exactly </a:t>
            </a:r>
            <a:r>
              <a:rPr lang="en-US" altLang="en-US" sz="1600" dirty="0">
                <a:solidFill>
                  <a:srgbClr val="FF0000"/>
                </a:solidFill>
              </a:rPr>
              <a:t>0.02 seconds</a:t>
            </a:r>
            <a:r>
              <a:rPr lang="en-US" altLang="en-US" sz="1600" dirty="0"/>
              <a:t>. Since the time information of the signal isn't evenly spaced, the time information at every sample needs to be specified</a:t>
            </a:r>
            <a:r>
              <a:rPr lang="en-US" altLang="en-US" sz="1600" dirty="0" smtClean="0"/>
              <a:t>.</a:t>
            </a:r>
            <a:endParaRPr lang="en-US" altLang="en-US" sz="1600" dirty="0"/>
          </a:p>
          <a:p>
            <a:pPr marL="109728" indent="0" algn="just">
              <a:buNone/>
            </a:pPr>
            <a:r>
              <a:rPr lang="en-US" altLang="en-US" sz="1600" dirty="0" smtClean="0"/>
              <a:t>3- You </a:t>
            </a:r>
            <a:r>
              <a:rPr lang="en-US" altLang="en-US" sz="1600" dirty="0"/>
              <a:t>can specify a vector instead of a sample rate using the Time Values time specification</a:t>
            </a:r>
            <a:r>
              <a:rPr lang="en-US" altLang="en-US" sz="1600" dirty="0" smtClean="0"/>
              <a:t>.</a:t>
            </a:r>
          </a:p>
          <a:p>
            <a:pPr marL="109728" indent="0" algn="just">
              <a:buNone/>
            </a:pPr>
            <a:endParaRPr lang="en-US" altLang="en-US" sz="1600" dirty="0"/>
          </a:p>
          <a:p>
            <a:pPr marL="109728" indent="0" algn="just">
              <a:buNone/>
            </a:pPr>
            <a:r>
              <a:rPr lang="en-US" altLang="en-US" sz="1600" b="1" dirty="0" smtClean="0"/>
              <a:t>#TASK</a:t>
            </a:r>
            <a:endParaRPr lang="en-US" altLang="en-US" sz="1600" b="1" dirty="0"/>
          </a:p>
          <a:p>
            <a:pPr marL="109728" indent="0" algn="just">
              <a:buNone/>
            </a:pPr>
            <a:r>
              <a:rPr lang="en-US" altLang="en-US" sz="1600" dirty="0"/>
              <a:t>Select the </a:t>
            </a:r>
            <a:r>
              <a:rPr lang="en-US" altLang="en-US" sz="1600" b="1" dirty="0" err="1"/>
              <a:t>pax</a:t>
            </a:r>
            <a:r>
              <a:rPr lang="en-US" altLang="en-US" sz="1600" dirty="0"/>
              <a:t> signal in the Signal table. Use the Time Values button to add time information using the vector </a:t>
            </a:r>
            <a:r>
              <a:rPr lang="en-US" altLang="en-US" sz="1600" b="1" dirty="0" err="1"/>
              <a:t>paxT</a:t>
            </a:r>
            <a:r>
              <a:rPr lang="en-US" altLang="en-US" sz="1600" dirty="0"/>
              <a:t>. Then display the signal.</a:t>
            </a:r>
            <a:endParaRPr lang="en-US" altLang="en-US" sz="1200" dirty="0" smtClean="0"/>
          </a:p>
        </p:txBody>
      </p:sp>
      <p:pic>
        <p:nvPicPr>
          <p:cNvPr id="2" name="Picture 1"/>
          <p:cNvPicPr>
            <a:picLocks noChangeAspect="1"/>
          </p:cNvPicPr>
          <p:nvPr/>
        </p:nvPicPr>
        <p:blipFill>
          <a:blip r:embed="rId3"/>
          <a:stretch>
            <a:fillRect/>
          </a:stretch>
        </p:blipFill>
        <p:spPr>
          <a:xfrm>
            <a:off x="5802746" y="369558"/>
            <a:ext cx="6345382" cy="6225206"/>
          </a:xfrm>
          <a:prstGeom prst="rect">
            <a:avLst/>
          </a:prstGeom>
        </p:spPr>
      </p:pic>
      <p:cxnSp>
        <p:nvCxnSpPr>
          <p:cNvPr id="7" name="Straight Arrow Connector 6"/>
          <p:cNvCxnSpPr/>
          <p:nvPr/>
        </p:nvCxnSpPr>
        <p:spPr>
          <a:xfrm flipV="1">
            <a:off x="7832435" y="1459717"/>
            <a:ext cx="290948" cy="115295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 name="Straight Arrow Connector 8"/>
          <p:cNvCxnSpPr/>
          <p:nvPr/>
        </p:nvCxnSpPr>
        <p:spPr>
          <a:xfrm flipV="1">
            <a:off x="8655628" y="3217000"/>
            <a:ext cx="905163" cy="75348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 name="Straight Arrow Connector 10"/>
          <p:cNvCxnSpPr/>
          <p:nvPr/>
        </p:nvCxnSpPr>
        <p:spPr>
          <a:xfrm flipH="1" flipV="1">
            <a:off x="6338456" y="2587773"/>
            <a:ext cx="634999" cy="121760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82443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2</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0" y="659681"/>
            <a:ext cx="11157528" cy="3329709"/>
          </a:xfrm>
        </p:spPr>
        <p:txBody>
          <a:bodyPr>
            <a:noAutofit/>
          </a:bodyPr>
          <a:lstStyle/>
          <a:p>
            <a:pPr marL="109728" indent="0" algn="just">
              <a:buNone/>
            </a:pPr>
            <a:r>
              <a:rPr lang="en-US" altLang="en-US" sz="1600" dirty="0"/>
              <a:t>The signal from the </a:t>
            </a:r>
            <a:r>
              <a:rPr lang="en-US" altLang="en-US" sz="1600" b="1" dirty="0">
                <a:solidFill>
                  <a:srgbClr val="FF0000"/>
                </a:solidFill>
              </a:rPr>
              <a:t>WANC</a:t>
            </a:r>
            <a:r>
              <a:rPr lang="en-US" altLang="en-US" sz="1600" dirty="0"/>
              <a:t> station is uniformly spaced, but it was sampled at a faster sample rate of </a:t>
            </a:r>
            <a:r>
              <a:rPr lang="en-US" altLang="en-US" sz="1600" b="1" dirty="0">
                <a:solidFill>
                  <a:srgbClr val="FF0000"/>
                </a:solidFill>
              </a:rPr>
              <a:t>100 Hz</a:t>
            </a:r>
            <a:r>
              <a:rPr lang="en-US" altLang="en-US" sz="1600" dirty="0" smtClean="0"/>
              <a:t>.</a:t>
            </a:r>
          </a:p>
          <a:p>
            <a:pPr marL="109728" indent="0" algn="just">
              <a:buNone/>
            </a:pPr>
            <a:endParaRPr lang="en-US" altLang="en-US" sz="1600" dirty="0"/>
          </a:p>
          <a:p>
            <a:pPr marL="109728" indent="0" algn="just">
              <a:buNone/>
            </a:pPr>
            <a:r>
              <a:rPr lang="en-US" altLang="en-US" sz="1600" b="1" dirty="0" smtClean="0"/>
              <a:t>#TASK</a:t>
            </a:r>
            <a:endParaRPr lang="en-US" altLang="en-US" sz="1600" b="1" dirty="0"/>
          </a:p>
          <a:p>
            <a:pPr marL="109728" indent="0" algn="just">
              <a:buNone/>
            </a:pPr>
            <a:r>
              <a:rPr lang="en-US" altLang="en-US" sz="1600" dirty="0"/>
              <a:t>Set the sample rate of the </a:t>
            </a:r>
            <a:r>
              <a:rPr lang="en-US" altLang="en-US" sz="1600" b="1" dirty="0" err="1">
                <a:solidFill>
                  <a:srgbClr val="FF0000"/>
                </a:solidFill>
              </a:rPr>
              <a:t>wanc</a:t>
            </a:r>
            <a:r>
              <a:rPr lang="en-US" altLang="en-US" sz="1600" dirty="0"/>
              <a:t> signal to </a:t>
            </a:r>
            <a:r>
              <a:rPr lang="en-US" altLang="en-US" sz="1600" dirty="0">
                <a:solidFill>
                  <a:srgbClr val="FF0000"/>
                </a:solidFill>
              </a:rPr>
              <a:t>100 Hz </a:t>
            </a:r>
            <a:r>
              <a:rPr lang="en-US" altLang="en-US" sz="1600" dirty="0"/>
              <a:t>and display the signal.</a:t>
            </a:r>
            <a:endParaRPr lang="en-US" altLang="en-US" sz="1600" dirty="0" smtClean="0"/>
          </a:p>
        </p:txBody>
      </p:sp>
      <p:pic>
        <p:nvPicPr>
          <p:cNvPr id="3" name="Picture 2"/>
          <p:cNvPicPr>
            <a:picLocks noChangeAspect="1"/>
          </p:cNvPicPr>
          <p:nvPr/>
        </p:nvPicPr>
        <p:blipFill>
          <a:blip r:embed="rId3"/>
          <a:stretch>
            <a:fillRect/>
          </a:stretch>
        </p:blipFill>
        <p:spPr>
          <a:xfrm>
            <a:off x="230908" y="2189019"/>
            <a:ext cx="10640291" cy="4580358"/>
          </a:xfrm>
          <a:prstGeom prst="rect">
            <a:avLst/>
          </a:prstGeom>
        </p:spPr>
      </p:pic>
      <p:cxnSp>
        <p:nvCxnSpPr>
          <p:cNvPr id="10" name="Straight Arrow Connector 9"/>
          <p:cNvCxnSpPr/>
          <p:nvPr/>
        </p:nvCxnSpPr>
        <p:spPr>
          <a:xfrm flipV="1">
            <a:off x="3371271" y="2836435"/>
            <a:ext cx="290948" cy="115295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2" name="Straight Arrow Connector 11"/>
          <p:cNvCxnSpPr/>
          <p:nvPr/>
        </p:nvCxnSpPr>
        <p:spPr>
          <a:xfrm flipV="1">
            <a:off x="5855863" y="3917771"/>
            <a:ext cx="798946" cy="76661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3" name="Straight Arrow Connector 12"/>
          <p:cNvCxnSpPr/>
          <p:nvPr/>
        </p:nvCxnSpPr>
        <p:spPr>
          <a:xfrm flipV="1">
            <a:off x="5821223" y="4425012"/>
            <a:ext cx="690421" cy="95437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018651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0" y="659681"/>
            <a:ext cx="11157528" cy="3329709"/>
          </a:xfrm>
        </p:spPr>
        <p:txBody>
          <a:bodyPr>
            <a:noAutofit/>
          </a:bodyPr>
          <a:lstStyle/>
          <a:p>
            <a:pPr marL="109728" indent="0" algn="just">
              <a:buNone/>
            </a:pPr>
            <a:r>
              <a:rPr lang="en-US" altLang="en-US" sz="1600" dirty="0"/>
              <a:t>The different signal amplitudes make it difficult to compare the signals in the </a:t>
            </a:r>
            <a:r>
              <a:rPr lang="en-US" altLang="en-US" sz="1600" b="1" dirty="0">
                <a:solidFill>
                  <a:srgbClr val="FF0000"/>
                </a:solidFill>
              </a:rPr>
              <a:t>time domain</a:t>
            </a:r>
            <a:r>
              <a:rPr lang="en-US" altLang="en-US" sz="1600" dirty="0"/>
              <a:t>, but you can still compare them in the </a:t>
            </a:r>
            <a:r>
              <a:rPr lang="en-US" altLang="en-US" sz="1600" b="1" dirty="0">
                <a:solidFill>
                  <a:srgbClr val="FF0000"/>
                </a:solidFill>
              </a:rPr>
              <a:t>frequency domain</a:t>
            </a:r>
            <a:r>
              <a:rPr lang="en-US" altLang="en-US" sz="1600" dirty="0"/>
              <a:t>.</a:t>
            </a:r>
          </a:p>
          <a:p>
            <a:pPr marL="109728" indent="0" algn="just">
              <a:buNone/>
            </a:pPr>
            <a:r>
              <a:rPr lang="en-US" altLang="en-US" sz="1600" b="1" dirty="0" smtClean="0"/>
              <a:t>#TASK</a:t>
            </a:r>
            <a:endParaRPr lang="en-US" altLang="en-US" sz="1600" b="1" dirty="0"/>
          </a:p>
          <a:p>
            <a:pPr marL="109728" indent="0" algn="just">
              <a:buNone/>
            </a:pPr>
            <a:r>
              <a:rPr lang="en-US" altLang="en-US" sz="1600" dirty="0"/>
              <a:t>Display </a:t>
            </a:r>
            <a:r>
              <a:rPr lang="en-US" altLang="en-US" sz="1600" b="1" dirty="0">
                <a:solidFill>
                  <a:srgbClr val="FF0000"/>
                </a:solidFill>
              </a:rPr>
              <a:t>all three signals</a:t>
            </a:r>
            <a:r>
              <a:rPr lang="en-US" altLang="en-US" sz="1600" dirty="0"/>
              <a:t>, then display the </a:t>
            </a:r>
            <a:r>
              <a:rPr lang="en-US" altLang="en-US" sz="1600" b="1" dirty="0">
                <a:solidFill>
                  <a:srgbClr val="FF0000"/>
                </a:solidFill>
              </a:rPr>
              <a:t>power spectra</a:t>
            </a:r>
            <a:r>
              <a:rPr lang="en-US" altLang="en-US" sz="1600" dirty="0"/>
              <a:t>. Set the </a:t>
            </a:r>
            <a:r>
              <a:rPr lang="en-US" altLang="en-US" sz="1600" b="1" dirty="0">
                <a:solidFill>
                  <a:srgbClr val="FF0000"/>
                </a:solidFill>
              </a:rPr>
              <a:t>frequency limits from 0 to 1 Hz</a:t>
            </a:r>
            <a:r>
              <a:rPr lang="en-US" altLang="en-US" sz="1600" dirty="0"/>
              <a:t>.</a:t>
            </a:r>
            <a:endParaRPr lang="en-US" altLang="en-US" sz="1600" dirty="0" smtClean="0"/>
          </a:p>
        </p:txBody>
      </p:sp>
      <p:pic>
        <p:nvPicPr>
          <p:cNvPr id="2" name="Picture 1"/>
          <p:cNvPicPr>
            <a:picLocks noChangeAspect="1"/>
          </p:cNvPicPr>
          <p:nvPr/>
        </p:nvPicPr>
        <p:blipFill>
          <a:blip r:embed="rId3"/>
          <a:stretch>
            <a:fillRect/>
          </a:stretch>
        </p:blipFill>
        <p:spPr>
          <a:xfrm>
            <a:off x="0" y="2590195"/>
            <a:ext cx="8229601" cy="4315451"/>
          </a:xfrm>
          <a:prstGeom prst="rect">
            <a:avLst/>
          </a:prstGeom>
        </p:spPr>
      </p:pic>
      <p:cxnSp>
        <p:nvCxnSpPr>
          <p:cNvPr id="9" name="Straight Arrow Connector 8"/>
          <p:cNvCxnSpPr/>
          <p:nvPr/>
        </p:nvCxnSpPr>
        <p:spPr>
          <a:xfrm flipV="1">
            <a:off x="2503054" y="2824981"/>
            <a:ext cx="212444" cy="100222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 name="Straight Arrow Connector 10"/>
          <p:cNvCxnSpPr/>
          <p:nvPr/>
        </p:nvCxnSpPr>
        <p:spPr>
          <a:xfrm flipH="1" flipV="1">
            <a:off x="704467" y="4083416"/>
            <a:ext cx="1228429" cy="66450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p:nvPr/>
        </p:nvCxnSpPr>
        <p:spPr>
          <a:xfrm flipH="1" flipV="1">
            <a:off x="1068971" y="3392680"/>
            <a:ext cx="667974" cy="59033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pic>
        <p:nvPicPr>
          <p:cNvPr id="15" name="Picture 14"/>
          <p:cNvPicPr>
            <a:picLocks noChangeAspect="1"/>
          </p:cNvPicPr>
          <p:nvPr/>
        </p:nvPicPr>
        <p:blipFill>
          <a:blip r:embed="rId4"/>
          <a:stretch>
            <a:fillRect/>
          </a:stretch>
        </p:blipFill>
        <p:spPr>
          <a:xfrm>
            <a:off x="6729342" y="2087620"/>
            <a:ext cx="5423726" cy="1098925"/>
          </a:xfrm>
          <a:prstGeom prst="rect">
            <a:avLst/>
          </a:prstGeom>
        </p:spPr>
      </p:pic>
      <p:cxnSp>
        <p:nvCxnSpPr>
          <p:cNvPr id="18" name="Straight Arrow Connector 17"/>
          <p:cNvCxnSpPr/>
          <p:nvPr/>
        </p:nvCxnSpPr>
        <p:spPr>
          <a:xfrm flipV="1">
            <a:off x="10658789" y="2915276"/>
            <a:ext cx="866232" cy="82163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091472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Berlin">
  <a:themeElements>
    <a:clrScheme name="Custom 8">
      <a:dk1>
        <a:srgbClr val="6DAA2D"/>
      </a:dk1>
      <a:lt1>
        <a:sysClr val="window" lastClr="FFFFFF"/>
      </a:lt1>
      <a:dk2>
        <a:srgbClr val="17606F"/>
      </a:dk2>
      <a:lt2>
        <a:srgbClr val="E7E6E6"/>
      </a:lt2>
      <a:accent1>
        <a:srgbClr val="FFFFFF"/>
      </a:accent1>
      <a:accent2>
        <a:srgbClr val="60DE72"/>
      </a:accent2>
      <a:accent3>
        <a:srgbClr val="DDCC64"/>
      </a:accent3>
      <a:accent4>
        <a:srgbClr val="F49D50"/>
      </a:accent4>
      <a:accent5>
        <a:srgbClr val="E44951"/>
      </a:accent5>
      <a:accent6>
        <a:srgbClr val="D666F9"/>
      </a:accent6>
      <a:hlink>
        <a:srgbClr val="4BF7ED"/>
      </a:hlink>
      <a:folHlink>
        <a:srgbClr val="C41D25"/>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ppt/theme/theme2.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Berlin</Template>
  <TotalTime>2688</TotalTime>
  <Words>820</Words>
  <Application>Microsoft Office PowerPoint</Application>
  <PresentationFormat>Widescreen</PresentationFormat>
  <Paragraphs>132</Paragraphs>
  <Slides>22</Slides>
  <Notes>15</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22</vt:i4>
      </vt:variant>
    </vt:vector>
  </HeadingPairs>
  <TitlesOfParts>
    <vt:vector size="36" baseType="lpstr">
      <vt:lpstr>Arial</vt:lpstr>
      <vt:lpstr>Calibri</vt:lpstr>
      <vt:lpstr>Consolas</vt:lpstr>
      <vt:lpstr>Courier New</vt:lpstr>
      <vt:lpstr>Helvetica</vt:lpstr>
      <vt:lpstr>Lucida Sans Unicode</vt:lpstr>
      <vt:lpstr>Times New Roman</vt:lpstr>
      <vt:lpstr>Trebuchet MS</vt:lpstr>
      <vt:lpstr>Verdana</vt:lpstr>
      <vt:lpstr>Wingdings</vt:lpstr>
      <vt:lpstr>Wingdings 2</vt:lpstr>
      <vt:lpstr>Wingdings 3</vt:lpstr>
      <vt:lpstr>Berlin</vt:lpstr>
      <vt:lpstr>Concourse</vt:lpstr>
      <vt:lpstr>Communication Design </vt:lpstr>
      <vt:lpstr>Outline:</vt:lpstr>
      <vt:lpstr>Signal Processing Overview </vt:lpstr>
      <vt:lpstr>Generate Signals</vt:lpstr>
      <vt:lpstr>Task 1 </vt:lpstr>
      <vt:lpstr>Task 2 </vt:lpstr>
      <vt:lpstr>Task 3 </vt:lpstr>
      <vt:lpstr>Task 4 </vt:lpstr>
      <vt:lpstr>Task 5 </vt:lpstr>
      <vt:lpstr>Import Signals</vt:lpstr>
      <vt:lpstr>Task 1 </vt:lpstr>
      <vt:lpstr>View Power Spectrum</vt:lpstr>
      <vt:lpstr>PowerPoint Presentation</vt:lpstr>
      <vt:lpstr>Task 1 </vt:lpstr>
      <vt:lpstr>Task 2 </vt:lpstr>
      <vt:lpstr>Task 3 </vt:lpstr>
      <vt:lpstr>Task 4 </vt:lpstr>
      <vt:lpstr>Task 4 </vt:lpstr>
      <vt:lpstr>Compare Signals</vt:lpstr>
      <vt:lpstr>Task 1 </vt:lpstr>
      <vt:lpstr>Task 2 </vt:lpstr>
      <vt:lpstr>Task 3 </vt:lpstr>
    </vt:vector>
  </TitlesOfParts>
  <Company>Al-Qaisar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Ammar</dc:creator>
  <cp:lastModifiedBy>Ammar</cp:lastModifiedBy>
  <cp:revision>75</cp:revision>
  <dcterms:created xsi:type="dcterms:W3CDTF">2023-10-02T10:05:27Z</dcterms:created>
  <dcterms:modified xsi:type="dcterms:W3CDTF">2024-02-08T05:07:44Z</dcterms:modified>
</cp:coreProperties>
</file>