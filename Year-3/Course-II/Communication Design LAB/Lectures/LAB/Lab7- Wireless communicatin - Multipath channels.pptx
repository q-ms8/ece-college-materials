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8" r:id="rId1"/>
    <p:sldMasterId id="2147484206" r:id="rId2"/>
  </p:sldMasterIdLst>
  <p:notesMasterIdLst>
    <p:notesMasterId r:id="rId12"/>
  </p:notesMasterIdLst>
  <p:sldIdLst>
    <p:sldId id="271" r:id="rId3"/>
    <p:sldId id="272" r:id="rId4"/>
    <p:sldId id="369" r:id="rId5"/>
    <p:sldId id="320" r:id="rId6"/>
    <p:sldId id="314" r:id="rId7"/>
    <p:sldId id="394" r:id="rId8"/>
    <p:sldId id="370" r:id="rId9"/>
    <p:sldId id="371" r:id="rId10"/>
    <p:sldId id="3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1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C1E05-4EA0-4B40-A596-1CFBDA5523D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75833-B9DE-4319-A13D-F99B8F81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5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80245-7872-4A6F-B54D-234D3FB352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19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5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603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6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075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7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425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8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97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9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08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1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0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7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0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16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9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4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95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9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41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811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9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91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86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91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01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sz="180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944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36356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526434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58215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82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2254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2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44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272677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77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021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BF96EA4-2D53-4203-954D-CFC94D62B5A8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5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208" r:id="rId2"/>
    <p:sldLayoutId id="2147484209" r:id="rId3"/>
    <p:sldLayoutId id="2147484210" r:id="rId4"/>
    <p:sldLayoutId id="2147484211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ndAc>
          <p:endSnd/>
        </p:sndAc>
      </p:transition>
    </mc:Choice>
    <mc:Fallback xmlns="">
      <p:transition spd="slow">
        <p:sndAc>
          <p:endSnd/>
        </p:sndAc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Communication Design 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1" y="4624948"/>
            <a:ext cx="9581279" cy="139716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3300" b="1" dirty="0" smtClean="0">
                <a:solidFill>
                  <a:srgbClr val="FFFF00"/>
                </a:solidFill>
              </a:rPr>
              <a:t># LAB.7                  Wireless Communications</a:t>
            </a:r>
          </a:p>
          <a:p>
            <a:pPr algn="ctr"/>
            <a:r>
              <a:rPr lang="en-US" sz="2900" b="1" dirty="0">
                <a:solidFill>
                  <a:srgbClr val="FFFF00"/>
                </a:solidFill>
              </a:rPr>
              <a:t>Multipath Channels</a:t>
            </a:r>
          </a:p>
          <a:p>
            <a:pPr algn="l"/>
            <a:endParaRPr lang="en-US" sz="2800" b="1" dirty="0" smtClean="0">
              <a:solidFill>
                <a:srgbClr val="FFFF00"/>
              </a:solidFill>
            </a:endParaRPr>
          </a:p>
          <a:p>
            <a:r>
              <a:rPr lang="en-US" sz="2800" b="1" dirty="0" smtClean="0">
                <a:solidFill>
                  <a:srgbClr val="FFFF00"/>
                </a:solidFill>
              </a:rPr>
              <a:t>Ass.Lec.Ammar Alabbassi</a:t>
            </a:r>
            <a:endParaRPr lang="en-US" sz="2800" b="1" dirty="0">
              <a:solidFill>
                <a:srgbClr val="FFFF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2" y="287033"/>
            <a:ext cx="2257425" cy="20288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44" y="393832"/>
            <a:ext cx="1434354" cy="143435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37392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Outline:</a:t>
            </a:r>
            <a:endParaRPr lang="tr-TR" alt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6073" y="1371600"/>
            <a:ext cx="9217891" cy="4659746"/>
          </a:xfrm>
        </p:spPr>
        <p:txBody>
          <a:bodyPr>
            <a:normAutofit fontScale="92500" lnSpcReduction="20000"/>
          </a:bodyPr>
          <a:lstStyle/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1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1- Simulate </a:t>
            </a:r>
            <a:r>
              <a:rPr lang="en-US" sz="3100" b="1" dirty="0">
                <a:solidFill>
                  <a:srgbClr val="0070C0"/>
                </a:solidFill>
                <a:latin typeface="Arial" panose="020B0604020202020204" pitchFamily="34" charset="0"/>
              </a:rPr>
              <a:t>a Basic Digital Communications </a:t>
            </a:r>
            <a:r>
              <a:rPr lang="en-US" sz="31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Link</a:t>
            </a:r>
          </a:p>
          <a:p>
            <a:pPr fontAlgn="base"/>
            <a:r>
              <a:rPr lang="en-US" sz="2300" dirty="0" smtClean="0">
                <a:solidFill>
                  <a:srgbClr val="212121"/>
                </a:solidFill>
                <a:latin typeface="Arial" panose="020B0604020202020204" pitchFamily="34" charset="0"/>
              </a:rPr>
              <a:t>Implement </a:t>
            </a:r>
            <a:r>
              <a:rPr lang="en-US" sz="2300" dirty="0">
                <a:solidFill>
                  <a:srgbClr val="212121"/>
                </a:solidFill>
                <a:latin typeface="Arial" panose="020B0604020202020204" pitchFamily="34" charset="0"/>
              </a:rPr>
              <a:t>the essential components of a single-carrier digital </a:t>
            </a:r>
            <a:r>
              <a:rPr lang="en-US" sz="2300" dirty="0" smtClean="0">
                <a:solidFill>
                  <a:srgbClr val="212121"/>
                </a:solidFill>
                <a:latin typeface="Arial" panose="020B0604020202020204" pitchFamily="34" charset="0"/>
              </a:rPr>
              <a:t>  communications </a:t>
            </a:r>
            <a:r>
              <a:rPr lang="en-US" sz="2300" dirty="0">
                <a:solidFill>
                  <a:srgbClr val="212121"/>
                </a:solidFill>
                <a:latin typeface="Arial" panose="020B0604020202020204" pitchFamily="34" charset="0"/>
              </a:rPr>
              <a:t>system, including additive white Gaussian noise</a:t>
            </a:r>
            <a:r>
              <a:rPr lang="en-US" sz="2300" dirty="0" smtClean="0">
                <a:solidFill>
                  <a:srgbClr val="212121"/>
                </a:solidFill>
                <a:latin typeface="Arial" panose="020B0604020202020204" pitchFamily="34" charset="0"/>
              </a:rPr>
              <a:t>.</a:t>
            </a:r>
          </a:p>
          <a:p>
            <a:pPr marL="109728" indent="0" fontAlgn="base">
              <a:buNone/>
            </a:pPr>
            <a:endParaRPr lang="en-US" sz="230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2- Pulse-Shaping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Filters</a:t>
            </a:r>
          </a:p>
          <a:p>
            <a:pPr fontAlgn="base"/>
            <a:r>
              <a:rPr lang="en-US" sz="2400" dirty="0" smtClean="0">
                <a:solidFill>
                  <a:srgbClr val="212121"/>
                </a:solidFill>
                <a:latin typeface="Arial" panose="020B0604020202020204" pitchFamily="34" charset="0"/>
              </a:rPr>
              <a:t>Incorporate </a:t>
            </a:r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transmit and receive filters into your simulation</a:t>
            </a:r>
            <a:r>
              <a:rPr lang="en-US" sz="2400" dirty="0" smtClean="0">
                <a:solidFill>
                  <a:srgbClr val="212121"/>
                </a:solidFill>
                <a:latin typeface="Arial" panose="020B0604020202020204" pitchFamily="34" charset="0"/>
              </a:rPr>
              <a:t>.</a:t>
            </a:r>
          </a:p>
          <a:p>
            <a:pPr marL="109728" indent="0" fontAlgn="base">
              <a:buNone/>
            </a:pPr>
            <a:endParaRPr lang="en-US" sz="2200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</a:t>
            </a:r>
            <a:r>
              <a:rPr lang="en-US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Multipath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Channels</a:t>
            </a:r>
          </a:p>
          <a:p>
            <a:pPr fontAlgn="base"/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Model a multipath channel and evaluate the impact on link quality</a:t>
            </a:r>
            <a:r>
              <a:rPr lang="en-US" sz="2400" dirty="0" smtClean="0">
                <a:solidFill>
                  <a:srgbClr val="212121"/>
                </a:solidFill>
                <a:latin typeface="Arial" panose="020B0604020202020204" pitchFamily="34" charset="0"/>
              </a:rPr>
              <a:t>.</a:t>
            </a:r>
          </a:p>
          <a:p>
            <a:pPr fontAlgn="base"/>
            <a:endParaRPr lang="en-US" sz="240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pPr marL="109728" indent="0" fontAlgn="base"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4- OFDM</a:t>
            </a:r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fontAlgn="base"/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Implement orthogonal frequency-division multiplexing (OFDM), </a:t>
            </a:r>
            <a:r>
              <a:rPr lang="en-US" sz="2400" dirty="0" smtClean="0">
                <a:solidFill>
                  <a:srgbClr val="212121"/>
                </a:solidFill>
                <a:latin typeface="Arial" panose="020B0604020202020204" pitchFamily="34" charset="0"/>
              </a:rPr>
              <a:t>             a </a:t>
            </a:r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multicarrier modulation scheme.</a:t>
            </a:r>
            <a:endParaRPr lang="en-US" sz="2400" b="0" i="0" dirty="0">
              <a:solidFill>
                <a:srgbClr val="21212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9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0146" y="609600"/>
            <a:ext cx="10972800" cy="56789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/>
            </a:r>
            <a:br>
              <a:rPr lang="en-US" sz="5400" dirty="0">
                <a:solidFill>
                  <a:srgbClr val="FF0000"/>
                </a:solidFill>
              </a:rPr>
            </a:br>
            <a:endParaRPr lang="en-US" sz="31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0146" y="293697"/>
            <a:ext cx="40321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728" indent="0" fontAlgn="base">
              <a:buNone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3- Multipath Channels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2" t="26801" r="28236" b="12188"/>
          <a:stretch/>
        </p:blipFill>
        <p:spPr>
          <a:xfrm>
            <a:off x="738906" y="997527"/>
            <a:ext cx="9624293" cy="586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3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37" y="2001838"/>
            <a:ext cx="12182763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Multipath Channels</a:t>
            </a:r>
            <a:br>
              <a:rPr lang="en-US" sz="4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dirty="0" smtClean="0">
                <a:solidFill>
                  <a:srgbClr val="FF0000"/>
                </a:solidFill>
              </a:rPr>
              <a:t/>
            </a:r>
            <a:br>
              <a:rPr lang="en-US" sz="5400" dirty="0" smtClean="0">
                <a:solidFill>
                  <a:srgbClr val="FF0000"/>
                </a:solidFill>
              </a:rPr>
            </a:br>
            <a:r>
              <a:rPr lang="en-US" sz="5400" dirty="0" smtClean="0">
                <a:solidFill>
                  <a:srgbClr val="FF0000"/>
                </a:solidFill>
              </a:rPr>
              <a:t/>
            </a:r>
            <a:br>
              <a:rPr lang="en-US" sz="5400" dirty="0" smtClean="0">
                <a:solidFill>
                  <a:srgbClr val="FF0000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Model a Multipath Channel</a:t>
            </a:r>
          </a:p>
        </p:txBody>
      </p:sp>
    </p:spTree>
    <p:extLst>
      <p:ext uri="{BB962C8B-B14F-4D97-AF65-F5344CB8AC3E}">
        <p14:creationId xmlns:p14="http://schemas.microsoft.com/office/powerpoint/2010/main" val="14422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20437" y="752384"/>
            <a:ext cx="9072542" cy="367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12696" rIns="91440" bIns="57132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b="1" dirty="0">
                <a:solidFill>
                  <a:srgbClr val="FF0000"/>
                </a:solidFill>
                <a:latin typeface="Helvetica" panose="020B0604020202020204" pitchFamily="34" charset="0"/>
              </a:rPr>
              <a:t>This code sets up a 16-QAM link with filtering</a:t>
            </a:r>
            <a:r>
              <a:rPr lang="en-US" altLang="en-US" b="1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prstClr val="black"/>
                </a:solidFill>
                <a:latin typeface="Arial" panose="020B0604020202020204" pitchFamily="34" charset="0"/>
              </a:rPr>
              <a:t>numBits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 = 20000;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prstClr val="black"/>
                </a:solidFill>
                <a:latin typeface="Arial" panose="020B0604020202020204" pitchFamily="34" charset="0"/>
              </a:rPr>
              <a:t>modOrder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 = 16; </a:t>
            </a:r>
            <a:r>
              <a:rPr lang="en-US" altLang="en-US" dirty="0">
                <a:solidFill>
                  <a:srgbClr val="008013"/>
                </a:solidFill>
                <a:latin typeface="Arial" panose="020B0604020202020204" pitchFamily="34" charset="0"/>
              </a:rPr>
              <a:t>% for 16-QAM</a:t>
            </a:r>
            <a:endParaRPr lang="en-US" altLang="en-US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prstClr val="black"/>
                </a:solidFill>
                <a:latin typeface="Arial" panose="020B0604020202020204" pitchFamily="34" charset="0"/>
              </a:rPr>
              <a:t>bitsPerSymbol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 = log2(</a:t>
            </a:r>
            <a:r>
              <a:rPr lang="en-US" altLang="en-US" dirty="0" err="1">
                <a:solidFill>
                  <a:prstClr val="black"/>
                </a:solidFill>
                <a:latin typeface="Arial" panose="020B0604020202020204" pitchFamily="34" charset="0"/>
              </a:rPr>
              <a:t>modOrder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); </a:t>
            </a:r>
            <a:r>
              <a:rPr lang="en-US" altLang="en-US" dirty="0">
                <a:solidFill>
                  <a:srgbClr val="008013"/>
                </a:solidFill>
                <a:latin typeface="Arial" panose="020B0604020202020204" pitchFamily="34" charset="0"/>
              </a:rPr>
              <a:t>% </a:t>
            </a:r>
            <a:r>
              <a:rPr lang="en-US" altLang="en-US" dirty="0" err="1">
                <a:solidFill>
                  <a:srgbClr val="008013"/>
                </a:solidFill>
                <a:latin typeface="Arial" panose="020B0604020202020204" pitchFamily="34" charset="0"/>
              </a:rPr>
              <a:t>modOrder</a:t>
            </a:r>
            <a:r>
              <a:rPr lang="en-US" altLang="en-US" dirty="0">
                <a:solidFill>
                  <a:srgbClr val="008013"/>
                </a:solidFill>
                <a:latin typeface="Arial" panose="020B0604020202020204" pitchFamily="34" charset="0"/>
              </a:rPr>
              <a:t> = 2^bitsPerSymbol</a:t>
            </a:r>
            <a:endParaRPr lang="en-US" altLang="en-US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prstClr val="black"/>
                </a:solidFill>
                <a:latin typeface="Arial" panose="020B0604020202020204" pitchFamily="34" charset="0"/>
              </a:rPr>
              <a:t>txFilt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 = </a:t>
            </a:r>
            <a:r>
              <a:rPr lang="en-US" altLang="en-US" dirty="0" err="1">
                <a:solidFill>
                  <a:prstClr val="black"/>
                </a:solidFill>
                <a:latin typeface="Arial" panose="020B0604020202020204" pitchFamily="34" charset="0"/>
              </a:rPr>
              <a:t>comm.RaisedCosineTransmitFilter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prstClr val="black"/>
                </a:solidFill>
                <a:latin typeface="Arial" panose="020B0604020202020204" pitchFamily="34" charset="0"/>
              </a:rPr>
              <a:t>rxFilt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 = </a:t>
            </a:r>
            <a:r>
              <a:rPr lang="en-US" altLang="en-US" dirty="0" err="1">
                <a:solidFill>
                  <a:prstClr val="black"/>
                </a:solidFill>
                <a:latin typeface="Arial" panose="020B0604020202020204" pitchFamily="34" charset="0"/>
              </a:rPr>
              <a:t>comm.RaisedCosineReceiveFilter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srcBits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([0,1],numBits,1);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qammod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(srcBits,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InputType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"bit"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UnitAveragePower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txFiltOut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txFilt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7791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296073" cy="3329709"/>
          </a:xfrm>
        </p:spPr>
        <p:txBody>
          <a:bodyPr>
            <a:noAutofit/>
          </a:bodyPr>
          <a:lstStyle/>
          <a:p>
            <a:pPr marL="109728" indent="0">
              <a:buClrTx/>
              <a:buNone/>
            </a:pPr>
            <a:r>
              <a:rPr lang="en-US" altLang="en-US" sz="1600" b="1" dirty="0"/>
              <a:t>Background</a:t>
            </a:r>
          </a:p>
          <a:p>
            <a:pPr>
              <a:buClrTx/>
            </a:pPr>
            <a:r>
              <a:rPr lang="en-US" altLang="en-US" sz="1600" dirty="0"/>
              <a:t>You can represent a multipath channel as a finite impulse response (FIR) filter. In MATLAB, an FIR filter can be defined by a vector of coefficients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 b </a:t>
            </a:r>
            <a:r>
              <a:rPr lang="en-US" altLang="en-US" sz="1600" b="1" dirty="0"/>
              <a:t>= [b0 </a:t>
            </a:r>
            <a:r>
              <a:rPr lang="en-US" altLang="en-US" sz="1600" b="1" dirty="0" smtClean="0"/>
              <a:t>b1 </a:t>
            </a:r>
            <a:r>
              <a:rPr lang="en-US" altLang="en-US" sz="1600" b="1" dirty="0"/>
              <a:t>... </a:t>
            </a:r>
            <a:r>
              <a:rPr lang="en-US" altLang="en-US" sz="1600" b="1" dirty="0" err="1"/>
              <a:t>bN</a:t>
            </a:r>
            <a:r>
              <a:rPr lang="en-US" altLang="en-US" sz="1600" b="1" dirty="0"/>
              <a:t>]</a:t>
            </a:r>
          </a:p>
          <a:p>
            <a:pPr>
              <a:buClrTx/>
            </a:pPr>
            <a:r>
              <a:rPr lang="en-US" altLang="en-US" sz="1600" dirty="0" smtClean="0"/>
              <a:t>For </a:t>
            </a:r>
            <a:r>
              <a:rPr lang="en-US" altLang="en-US" sz="1600" dirty="0"/>
              <a:t>a multipath channel, you can think of each nonzero coefficient as representing one path and each vector element (after the first) as a delay of one sample.</a:t>
            </a:r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</a:t>
            </a:r>
            <a:r>
              <a:rPr lang="en-US" altLang="en-US" sz="1600" b="1" dirty="0" err="1" smtClean="0"/>
              <a:t>mp</a:t>
            </a:r>
            <a:r>
              <a:rPr lang="en-US" altLang="en-US" sz="1600" b="1" dirty="0" smtClean="0"/>
              <a:t> </a:t>
            </a:r>
            <a:r>
              <a:rPr lang="en-US" altLang="en-US" sz="1600" b="1" dirty="0"/>
              <a:t>= [p1 0 0 p2 0 0 p3]</a:t>
            </a:r>
          </a:p>
          <a:p>
            <a:pPr>
              <a:buClrTx/>
            </a:pPr>
            <a:r>
              <a:rPr lang="en-US" altLang="en-US" sz="1600" dirty="0" smtClean="0"/>
              <a:t>Since </a:t>
            </a:r>
            <a:r>
              <a:rPr lang="en-US" altLang="en-US" sz="1600" dirty="0"/>
              <a:t>your signals are column vectors, it's good practice to be consistent and make the coefficient vector also a column vector. Transpose a row vector to make it a column vector.</a:t>
            </a:r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</a:t>
            </a:r>
            <a:r>
              <a:rPr lang="en-US" altLang="en-US" sz="1600" b="1" dirty="0" err="1" smtClean="0"/>
              <a:t>mp</a:t>
            </a:r>
            <a:r>
              <a:rPr lang="en-US" altLang="en-US" sz="1600" b="1" dirty="0" smtClean="0"/>
              <a:t> </a:t>
            </a:r>
            <a:r>
              <a:rPr lang="en-US" altLang="en-US" sz="1600" b="1" dirty="0"/>
              <a:t>= [p1 0 0 p2 0 0 p3</a:t>
            </a:r>
            <a:r>
              <a:rPr lang="en-US" altLang="en-US" sz="1600" b="1" dirty="0" smtClean="0"/>
              <a:t>].‘</a:t>
            </a:r>
          </a:p>
          <a:p>
            <a:pPr marL="109728" indent="0">
              <a:buClrTx/>
              <a:buNone/>
            </a:pP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TASK</a:t>
            </a:r>
          </a:p>
          <a:p>
            <a:pPr marL="109728" indent="0">
              <a:buClrTx/>
              <a:buNone/>
            </a:pPr>
            <a:r>
              <a:rPr lang="en-US" altLang="en-US" sz="1600" dirty="0"/>
              <a:t>Create a column vector named </a:t>
            </a:r>
            <a:r>
              <a:rPr lang="en-US" altLang="en-US" sz="1600" b="1" dirty="0" err="1"/>
              <a:t>mpChan</a:t>
            </a:r>
            <a:r>
              <a:rPr lang="en-US" altLang="en-US" sz="1600" dirty="0"/>
              <a:t> with 17 elements. Set the values of the </a:t>
            </a:r>
            <a:r>
              <a:rPr lang="en-US" altLang="en-US" sz="1600" b="1" dirty="0"/>
              <a:t>1st, 9th</a:t>
            </a:r>
            <a:r>
              <a:rPr lang="en-US" altLang="en-US" sz="1600" dirty="0"/>
              <a:t>, and </a:t>
            </a:r>
            <a:r>
              <a:rPr lang="en-US" altLang="en-US" sz="1600" b="1" dirty="0"/>
              <a:t>17th</a:t>
            </a:r>
            <a:r>
              <a:rPr lang="en-US" altLang="en-US" sz="1600" dirty="0"/>
              <a:t> elements to </a:t>
            </a:r>
            <a:r>
              <a:rPr lang="en-US" altLang="en-US" sz="1600" b="1" dirty="0"/>
              <a:t>0.8, -0.5, and 0.34</a:t>
            </a:r>
            <a:r>
              <a:rPr lang="en-US" altLang="en-US" sz="1600" dirty="0"/>
              <a:t>, respectively. All other elements should be 0</a:t>
            </a:r>
            <a:r>
              <a:rPr lang="en-US" altLang="en-US" sz="1600" dirty="0" smtClean="0"/>
              <a:t>.</a:t>
            </a:r>
          </a:p>
          <a:p>
            <a:pPr marL="109728" indent="0">
              <a:buClrTx/>
              <a:buNone/>
            </a:pP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>
                <a:solidFill>
                  <a:srgbClr val="0070C0"/>
                </a:solidFill>
              </a:rPr>
              <a:t>spacing = 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zeros(7,1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);</a:t>
            </a:r>
          </a:p>
          <a:p>
            <a:pPr marL="109728" indent="0">
              <a:buClrTx/>
              <a:buNone/>
            </a:pPr>
            <a:r>
              <a:rPr lang="en-US" altLang="en-US" sz="1600" b="1" dirty="0" err="1" smtClean="0">
                <a:solidFill>
                  <a:srgbClr val="0070C0"/>
                </a:solidFill>
              </a:rPr>
              <a:t>mpChan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</a:rPr>
              <a:t>= [0.8; spacing; -0.5; spacing; 0.34]</a:t>
            </a:r>
            <a:endParaRPr lang="en-US" altLang="en-US" sz="1600" b="1" dirty="0" smtClean="0">
              <a:solidFill>
                <a:srgbClr val="0070C0"/>
              </a:solidFill>
            </a:endParaRPr>
          </a:p>
          <a:p>
            <a:pPr marL="109728" indent="0">
              <a:buClrTx/>
              <a:buNone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632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526982" cy="3329709"/>
          </a:xfrm>
        </p:spPr>
        <p:txBody>
          <a:bodyPr>
            <a:noAutofit/>
          </a:bodyPr>
          <a:lstStyle/>
          <a:p>
            <a:pPr algn="just">
              <a:buClrTx/>
            </a:pPr>
            <a:r>
              <a:rPr lang="en-US" altLang="en-US" sz="1600" dirty="0" smtClean="0"/>
              <a:t>You </a:t>
            </a:r>
            <a:r>
              <a:rPr lang="en-US" altLang="en-US" sz="1600" dirty="0"/>
              <a:t>can visualize the impulse response of your multipath channel as a stem plot using the stem function.</a:t>
            </a:r>
          </a:p>
          <a:p>
            <a:pPr marL="109728" indent="0" algn="just">
              <a:buClrTx/>
              <a:buNone/>
            </a:pPr>
            <a:endParaRPr lang="en-US" altLang="en-US" sz="1600" dirty="0"/>
          </a:p>
          <a:p>
            <a:pPr marL="109728" indent="0" algn="just">
              <a:buClrTx/>
              <a:buNone/>
            </a:pPr>
            <a:r>
              <a:rPr lang="en-US" altLang="en-US" sz="1600" b="1" dirty="0"/>
              <a:t>stem(</a:t>
            </a:r>
            <a:r>
              <a:rPr lang="en-US" altLang="en-US" sz="1600" b="1" dirty="0" err="1"/>
              <a:t>mp</a:t>
            </a:r>
            <a:r>
              <a:rPr lang="en-US" altLang="en-US" sz="1600" b="1" dirty="0" smtClean="0"/>
              <a:t>)</a:t>
            </a:r>
          </a:p>
          <a:p>
            <a:pPr marL="109728" indent="0" algn="just">
              <a:buClrTx/>
              <a:buNone/>
            </a:pPr>
            <a:endParaRPr lang="en-US" altLang="en-US" sz="1600" b="1" dirty="0"/>
          </a:p>
          <a:p>
            <a:pPr marL="109728" indent="0" algn="just">
              <a:buClrTx/>
              <a:buNone/>
            </a:pPr>
            <a:r>
              <a:rPr lang="en-US" altLang="en-US" sz="1600" dirty="0"/>
              <a:t>TASK</a:t>
            </a:r>
          </a:p>
          <a:p>
            <a:pPr algn="just">
              <a:buClrTx/>
            </a:pPr>
            <a:r>
              <a:rPr lang="en-US" altLang="en-US" sz="1600" dirty="0"/>
              <a:t>Create a stem plot of the impulse response of the multipath channel </a:t>
            </a:r>
            <a:r>
              <a:rPr lang="en-US" altLang="en-US" sz="1600" b="1" dirty="0" err="1"/>
              <a:t>mpChan</a:t>
            </a:r>
            <a:r>
              <a:rPr lang="en-US" altLang="en-US" sz="1600" dirty="0" smtClean="0"/>
              <a:t>.</a:t>
            </a:r>
          </a:p>
          <a:p>
            <a:pPr marL="109728" indent="0" algn="just">
              <a:buClrTx/>
              <a:buNone/>
            </a:pPr>
            <a:r>
              <a:rPr lang="en-US" altLang="en-US" sz="1600" b="1" dirty="0" smtClean="0">
                <a:solidFill>
                  <a:srgbClr val="0070C0"/>
                </a:solidFill>
              </a:rPr>
              <a:t>     stem(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mpChan</a:t>
            </a:r>
            <a:r>
              <a:rPr lang="en-US" altLang="en-US" sz="1600" b="1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85" t="24108" r="31288" b="17575"/>
          <a:stretch/>
        </p:blipFill>
        <p:spPr>
          <a:xfrm>
            <a:off x="3555998" y="2858653"/>
            <a:ext cx="4599709" cy="399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6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526982" cy="3329709"/>
          </a:xfrm>
        </p:spPr>
        <p:txBody>
          <a:bodyPr>
            <a:noAutofit/>
          </a:bodyPr>
          <a:lstStyle/>
          <a:p>
            <a:pPr algn="just">
              <a:buClrTx/>
            </a:pPr>
            <a:endParaRPr lang="en-US" altLang="en-US" sz="1600" dirty="0"/>
          </a:p>
          <a:p>
            <a:pPr algn="just">
              <a:buClrTx/>
            </a:pPr>
            <a:r>
              <a:rPr lang="en-US" altLang="en-US" sz="1600" dirty="0"/>
              <a:t>To apply the </a:t>
            </a:r>
            <a:r>
              <a:rPr lang="en-US" altLang="en-US" sz="1600" b="1" dirty="0"/>
              <a:t>FIR</a:t>
            </a:r>
            <a:r>
              <a:rPr lang="en-US" altLang="en-US" sz="1600" dirty="0"/>
              <a:t> filter to a signal, use the filter function. </a:t>
            </a:r>
            <a:r>
              <a:rPr lang="en-US" altLang="en-US" sz="1600" b="1" dirty="0">
                <a:solidFill>
                  <a:srgbClr val="FF0000"/>
                </a:solidFill>
              </a:rPr>
              <a:t>The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FF0000"/>
                </a:solidFill>
              </a:rPr>
              <a:t>first input </a:t>
            </a:r>
            <a:r>
              <a:rPr lang="en-US" altLang="en-US" sz="1600" dirty="0"/>
              <a:t>is the </a:t>
            </a:r>
            <a:r>
              <a:rPr lang="en-US" altLang="en-US" sz="1600" b="1" dirty="0">
                <a:solidFill>
                  <a:srgbClr val="FF0000"/>
                </a:solidFill>
              </a:rPr>
              <a:t>impulse response</a:t>
            </a:r>
            <a:r>
              <a:rPr lang="en-US" altLang="en-US" sz="1600" dirty="0"/>
              <a:t>, or the </a:t>
            </a:r>
            <a:r>
              <a:rPr lang="en-US" altLang="en-US" sz="1600" b="1" dirty="0">
                <a:solidFill>
                  <a:srgbClr val="FF0000"/>
                </a:solidFill>
              </a:rPr>
              <a:t>numerator coefficients </a:t>
            </a:r>
            <a:r>
              <a:rPr lang="en-US" altLang="en-US" sz="1600" dirty="0"/>
              <a:t>of the filter. </a:t>
            </a:r>
            <a:r>
              <a:rPr lang="en-US" altLang="en-US" sz="1600" b="1" dirty="0">
                <a:solidFill>
                  <a:srgbClr val="0070C0"/>
                </a:solidFill>
              </a:rPr>
              <a:t>The second input </a:t>
            </a:r>
            <a:r>
              <a:rPr lang="en-US" altLang="en-US" sz="1600" dirty="0"/>
              <a:t>is the </a:t>
            </a:r>
            <a:r>
              <a:rPr lang="en-US" altLang="en-US" sz="1600" b="1" dirty="0">
                <a:solidFill>
                  <a:srgbClr val="0070C0"/>
                </a:solidFill>
              </a:rPr>
              <a:t>denominator coefficients</a:t>
            </a:r>
            <a:r>
              <a:rPr lang="en-US" altLang="en-US" sz="1600" dirty="0"/>
              <a:t>—for an FIR filter, this is </a:t>
            </a:r>
            <a:r>
              <a:rPr lang="en-US" altLang="en-US" sz="1600" b="1" dirty="0"/>
              <a:t>always 1</a:t>
            </a:r>
            <a:r>
              <a:rPr lang="en-US" altLang="en-US" sz="1600" dirty="0"/>
              <a:t>. </a:t>
            </a:r>
            <a:r>
              <a:rPr lang="en-US" altLang="en-US" sz="1600" b="1" dirty="0"/>
              <a:t>The third input </a:t>
            </a:r>
            <a:r>
              <a:rPr lang="en-US" altLang="en-US" sz="1600" dirty="0"/>
              <a:t>is the signal that you want to filter.</a:t>
            </a:r>
          </a:p>
          <a:p>
            <a:pPr algn="just">
              <a:buClrTx/>
            </a:pPr>
            <a:endParaRPr lang="en-US" altLang="en-US" sz="1600" dirty="0"/>
          </a:p>
          <a:p>
            <a:pPr marL="109728" indent="0" algn="just">
              <a:buClrTx/>
              <a:buNone/>
            </a:pPr>
            <a:r>
              <a:rPr lang="en-US" altLang="en-US" sz="1600" b="1" dirty="0" smtClean="0"/>
              <a:t>    </a:t>
            </a:r>
            <a:r>
              <a:rPr lang="en-US" altLang="en-US" sz="1600" b="1" dirty="0" err="1" smtClean="0"/>
              <a:t>sigOut</a:t>
            </a:r>
            <a:r>
              <a:rPr lang="en-US" altLang="en-US" sz="1600" b="1" dirty="0" smtClean="0"/>
              <a:t> </a:t>
            </a:r>
            <a:r>
              <a:rPr lang="en-US" altLang="en-US" sz="1600" b="1" dirty="0"/>
              <a:t>= filter(mp,1,sig</a:t>
            </a:r>
            <a:r>
              <a:rPr lang="en-US" altLang="en-US" sz="1600" b="1" dirty="0" smtClean="0"/>
              <a:t>)</a:t>
            </a:r>
          </a:p>
          <a:p>
            <a:pPr marL="109728" indent="0" algn="just">
              <a:buClrTx/>
              <a:buNone/>
            </a:pPr>
            <a:endParaRPr lang="en-US" altLang="en-US" sz="1600" b="1" dirty="0"/>
          </a:p>
          <a:p>
            <a:pPr marL="109728" indent="0" algn="just">
              <a:buClrTx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TASK</a:t>
            </a:r>
          </a:p>
          <a:p>
            <a:pPr algn="just">
              <a:buClrTx/>
            </a:pPr>
            <a:r>
              <a:rPr lang="en-US" altLang="en-US" sz="1600" dirty="0"/>
              <a:t>Apply the </a:t>
            </a:r>
            <a:r>
              <a:rPr lang="en-US" altLang="en-US" sz="1600" dirty="0" smtClean="0"/>
              <a:t>multipath </a:t>
            </a:r>
            <a:r>
              <a:rPr lang="en-US" altLang="en-US" sz="1600" dirty="0"/>
              <a:t>channel </a:t>
            </a:r>
            <a:r>
              <a:rPr lang="en-US" altLang="en-US" sz="1600" b="1" dirty="0" err="1"/>
              <a:t>mpChan</a:t>
            </a:r>
            <a:r>
              <a:rPr lang="en-US" altLang="en-US" sz="1600" dirty="0"/>
              <a:t> to the transmitted signal </a:t>
            </a:r>
            <a:r>
              <a:rPr lang="en-US" altLang="en-US" sz="1600" b="1" dirty="0" err="1"/>
              <a:t>txFiltOut</a:t>
            </a:r>
            <a:r>
              <a:rPr lang="en-US" altLang="en-US" sz="1600" dirty="0"/>
              <a:t>. Name the output signal </a:t>
            </a:r>
            <a:r>
              <a:rPr lang="en-US" altLang="en-US" sz="1600" b="1" dirty="0" err="1"/>
              <a:t>mpChanOut</a:t>
            </a:r>
            <a:r>
              <a:rPr lang="en-US" altLang="en-US" sz="1600" dirty="0" smtClean="0"/>
              <a:t>.</a:t>
            </a:r>
          </a:p>
          <a:p>
            <a:pPr marL="109728" indent="0" algn="just">
              <a:buClrTx/>
              <a:buNone/>
            </a:pPr>
            <a:r>
              <a:rPr lang="en-US" altLang="en-US" sz="1600" dirty="0" smtClean="0"/>
              <a:t>     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mpChanOut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</a:rPr>
              <a:t>= filter(mpChan,1,txFiltOut);</a:t>
            </a:r>
          </a:p>
        </p:txBody>
      </p:sp>
    </p:spTree>
    <p:extLst>
      <p:ext uri="{BB962C8B-B14F-4D97-AF65-F5344CB8AC3E}">
        <p14:creationId xmlns:p14="http://schemas.microsoft.com/office/powerpoint/2010/main" val="145880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595026"/>
            <a:ext cx="9427338" cy="47794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58700" tIns="12696" rIns="9144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The following code is executed after the variable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mpChanOut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 is created.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E00FF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mpChanOut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var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code runs after you complete Task 3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SNR = 15;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dB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awgn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mpChanOut,SNR,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"measured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scatterplot(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"Receive Filter Output"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demodOut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qamdemod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(rxFiltOut,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OutputType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"bit"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UnitAveragePower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Calculate the BER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delayInSymbols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txFilt.FilterSpanInSymbols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/2 +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rxFilt.FilterSpanInSymbols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delayInBits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delayInSymbols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bitsPerSymbol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srcAligned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srcBits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(1:(end-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delayInBits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demodAligned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demodOut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((delayInBits+1):end);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numBitErrors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nnz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srcAligned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~=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demodAligned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numBitErrors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/length(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srcAligned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E00FF"/>
                </a:solidFill>
                <a:effectLst/>
                <a:latin typeface="Arial" panose="020B0604020202020204" pitchFamily="34" charset="0"/>
              </a:rPr>
              <a:t>end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10" t="23704" r="40984" b="17307"/>
          <a:stretch/>
        </p:blipFill>
        <p:spPr>
          <a:xfrm>
            <a:off x="8183419" y="3297382"/>
            <a:ext cx="3897745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8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Berlin">
  <a:themeElements>
    <a:clrScheme name="Custom 8">
      <a:dk1>
        <a:srgbClr val="6DAA2D"/>
      </a:dk1>
      <a:lt1>
        <a:sysClr val="window" lastClr="FFFFFF"/>
      </a:lt1>
      <a:dk2>
        <a:srgbClr val="17606F"/>
      </a:dk2>
      <a:lt2>
        <a:srgbClr val="E7E6E6"/>
      </a:lt2>
      <a:accent1>
        <a:srgbClr val="FFFFFF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C41D25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9426</TotalTime>
  <Words>424</Words>
  <Application>Microsoft Office PowerPoint</Application>
  <PresentationFormat>Widescreen</PresentationFormat>
  <Paragraphs>87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Calibri</vt:lpstr>
      <vt:lpstr>Helvetica</vt:lpstr>
      <vt:lpstr>Lucida Sans Unicode</vt:lpstr>
      <vt:lpstr>Menlo</vt:lpstr>
      <vt:lpstr>Times New Roman</vt:lpstr>
      <vt:lpstr>Trebuchet MS</vt:lpstr>
      <vt:lpstr>Verdana</vt:lpstr>
      <vt:lpstr>Wingdings</vt:lpstr>
      <vt:lpstr>Wingdings 2</vt:lpstr>
      <vt:lpstr>Wingdings 3</vt:lpstr>
      <vt:lpstr>Berlin</vt:lpstr>
      <vt:lpstr>Concourse</vt:lpstr>
      <vt:lpstr>Communication Design </vt:lpstr>
      <vt:lpstr>Course Outline:</vt:lpstr>
      <vt:lpstr> </vt:lpstr>
      <vt:lpstr>3- Multipath Channels    Model a Multipath Channel</vt:lpstr>
      <vt:lpstr>Task 1 </vt:lpstr>
      <vt:lpstr>Task 1 </vt:lpstr>
      <vt:lpstr>Task 2 </vt:lpstr>
      <vt:lpstr>Task 3 </vt:lpstr>
      <vt:lpstr>Task 3 </vt:lpstr>
    </vt:vector>
  </TitlesOfParts>
  <Company>Al-Qaisar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Ammar</dc:creator>
  <cp:lastModifiedBy>Ammar</cp:lastModifiedBy>
  <cp:revision>177</cp:revision>
  <dcterms:created xsi:type="dcterms:W3CDTF">2023-10-02T10:05:27Z</dcterms:created>
  <dcterms:modified xsi:type="dcterms:W3CDTF">2024-04-14T05:54:38Z</dcterms:modified>
</cp:coreProperties>
</file>