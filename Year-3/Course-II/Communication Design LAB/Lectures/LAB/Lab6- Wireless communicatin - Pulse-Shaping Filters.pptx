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8" r:id="rId1"/>
    <p:sldMasterId id="2147484206" r:id="rId2"/>
  </p:sldMasterIdLst>
  <p:notesMasterIdLst>
    <p:notesMasterId r:id="rId22"/>
  </p:notesMasterIdLst>
  <p:sldIdLst>
    <p:sldId id="271" r:id="rId3"/>
    <p:sldId id="272" r:id="rId4"/>
    <p:sldId id="369" r:id="rId5"/>
    <p:sldId id="320" r:id="rId6"/>
    <p:sldId id="314" r:id="rId7"/>
    <p:sldId id="393" r:id="rId8"/>
    <p:sldId id="370" r:id="rId9"/>
    <p:sldId id="371" r:id="rId10"/>
    <p:sldId id="372" r:id="rId11"/>
    <p:sldId id="390" r:id="rId12"/>
    <p:sldId id="389" r:id="rId13"/>
    <p:sldId id="378" r:id="rId14"/>
    <p:sldId id="394" r:id="rId15"/>
    <p:sldId id="380" r:id="rId16"/>
    <p:sldId id="381" r:id="rId17"/>
    <p:sldId id="391" r:id="rId18"/>
    <p:sldId id="382" r:id="rId19"/>
    <p:sldId id="383" r:id="rId20"/>
    <p:sldId id="3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1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1E05-4EA0-4B40-A596-1CFBDA5523D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75833-B9DE-4319-A13D-F99B8F81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5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80245-7872-4A6F-B54D-234D3FB352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19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5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03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6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21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7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2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8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7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9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114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12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03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13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049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14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140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15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26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16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67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17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20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18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312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E9B81-7543-4688-8A6E-8CE08F78F65E}" type="slidenum">
              <a:rPr lang="tr-TR" altLang="en-US"/>
              <a:pPr eaLnBrk="1" hangingPunct="1"/>
              <a:t>19</a:t>
            </a:fld>
            <a:endParaRPr lang="tr-TR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1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0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7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0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1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9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9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9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41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811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9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91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6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91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01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944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36356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526434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8215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82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2254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2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272677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77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2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BF96EA4-2D53-4203-954D-CFC94D62B5A8}" type="datetimeFigureOut">
              <a:rPr lang="en-US" smtClean="0"/>
              <a:t>3/30/2024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FB79782-ADA0-44BB-ABED-8390C170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5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symbol_interferenc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Communication Design 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1" y="4624948"/>
            <a:ext cx="9581279" cy="139716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300" b="1" dirty="0" smtClean="0">
                <a:solidFill>
                  <a:srgbClr val="FFFF00"/>
                </a:solidFill>
              </a:rPr>
              <a:t># LAB.5                  Wireless Communications</a:t>
            </a:r>
          </a:p>
          <a:p>
            <a:pPr algn="ctr"/>
            <a:r>
              <a:rPr lang="en-US" sz="2900" b="1" dirty="0">
                <a:solidFill>
                  <a:srgbClr val="FFFF00"/>
                </a:solidFill>
              </a:rPr>
              <a:t>Pulse-Shaping Filters</a:t>
            </a:r>
          </a:p>
          <a:p>
            <a:pPr algn="l"/>
            <a:endParaRPr lang="en-US" sz="2800" b="1" dirty="0" smtClean="0">
              <a:solidFill>
                <a:srgbClr val="FFFF00"/>
              </a:solidFill>
            </a:endParaRPr>
          </a:p>
          <a:p>
            <a:r>
              <a:rPr lang="en-US" sz="2800" b="1" dirty="0" smtClean="0">
                <a:solidFill>
                  <a:srgbClr val="FFFF00"/>
                </a:solidFill>
              </a:rPr>
              <a:t>Ass.Lec.Ammar Alabbassi</a:t>
            </a: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2" y="287033"/>
            <a:ext cx="2257425" cy="20288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44" y="393832"/>
            <a:ext cx="1434354" cy="14343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37392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Outline:</a:t>
            </a:r>
            <a:endParaRPr lang="tr-TR" alt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6073" y="1371600"/>
            <a:ext cx="9217891" cy="4659746"/>
          </a:xfrm>
        </p:spPr>
        <p:txBody>
          <a:bodyPr>
            <a:normAutofit fontScale="92500" lnSpcReduction="20000"/>
          </a:bodyPr>
          <a:lstStyle/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1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1- Simulate </a:t>
            </a:r>
            <a:r>
              <a:rPr lang="en-US" sz="3100" b="1" dirty="0">
                <a:solidFill>
                  <a:srgbClr val="0070C0"/>
                </a:solidFill>
                <a:latin typeface="Arial" panose="020B0604020202020204" pitchFamily="34" charset="0"/>
              </a:rPr>
              <a:t>a Basic Digital Communications </a:t>
            </a:r>
            <a:r>
              <a:rPr lang="en-US" sz="31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Link</a:t>
            </a:r>
          </a:p>
          <a:p>
            <a:pPr fontAlgn="base"/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Implement </a:t>
            </a:r>
            <a:r>
              <a:rPr lang="en-US" sz="2300" dirty="0">
                <a:solidFill>
                  <a:srgbClr val="212121"/>
                </a:solidFill>
                <a:latin typeface="Arial" panose="020B0604020202020204" pitchFamily="34" charset="0"/>
              </a:rPr>
              <a:t>the essential components of a single-carrier digital </a:t>
            </a:r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  communications </a:t>
            </a:r>
            <a:r>
              <a:rPr lang="en-US" sz="2300" dirty="0">
                <a:solidFill>
                  <a:srgbClr val="212121"/>
                </a:solidFill>
                <a:latin typeface="Arial" panose="020B0604020202020204" pitchFamily="34" charset="0"/>
              </a:rPr>
              <a:t>system, including additive white Gaussian noise</a:t>
            </a:r>
            <a:r>
              <a:rPr lang="en-US" sz="23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marL="109728" indent="0" fontAlgn="base">
              <a:buNone/>
            </a:pPr>
            <a:endParaRPr lang="en-US" sz="230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pPr fontAlgn="base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2- Pulse-Shaping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Filters</a:t>
            </a:r>
          </a:p>
          <a:p>
            <a:pPr fontAlgn="base"/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Incorporate </a:t>
            </a:r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transmit and receive filters into your simulation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marL="109728" indent="0" fontAlgn="base">
              <a:buNone/>
            </a:pPr>
            <a:endParaRPr lang="en-US" sz="22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109728" indent="0" fontAlgn="base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r>
              <a:rPr lang="en-US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Multipath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</a:rPr>
              <a:t>Channels</a:t>
            </a:r>
          </a:p>
          <a:p>
            <a:pPr fontAlgn="base"/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Model a multipath channel and evaluate the impact on link quality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.</a:t>
            </a:r>
          </a:p>
          <a:p>
            <a:pPr fontAlgn="base"/>
            <a:endParaRPr lang="en-US" sz="240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pPr marL="109728" indent="0" fontAlgn="base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4- OFDM</a:t>
            </a:r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fontAlgn="base"/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Implement orthogonal frequency-division multiplexing (OFDM), </a:t>
            </a:r>
            <a:r>
              <a:rPr lang="en-US" sz="2400" dirty="0" smtClean="0">
                <a:solidFill>
                  <a:srgbClr val="212121"/>
                </a:solidFill>
                <a:latin typeface="Arial" panose="020B0604020202020204" pitchFamily="34" charset="0"/>
              </a:rPr>
              <a:t>             a </a:t>
            </a:r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multicarrier modulation scheme.</a:t>
            </a:r>
            <a:endParaRPr lang="en-US" sz="2400" b="0" i="0" dirty="0">
              <a:solidFill>
                <a:srgbClr val="21212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9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0146" y="609600"/>
            <a:ext cx="10972800" cy="56789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/>
            </a:r>
            <a:br>
              <a:rPr lang="en-US" sz="5400" dirty="0">
                <a:solidFill>
                  <a:srgbClr val="FF0000"/>
                </a:solidFill>
              </a:rPr>
            </a:br>
            <a:endParaRPr lang="en-US" sz="31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0146" y="293697"/>
            <a:ext cx="43896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indent="0" fontAlgn="base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2- Pulse-Shaping Filters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97" t="28552" r="28106" b="15555"/>
          <a:stretch/>
        </p:blipFill>
        <p:spPr>
          <a:xfrm>
            <a:off x="0" y="893546"/>
            <a:ext cx="8506692" cy="481101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472218" y="2375721"/>
            <a:ext cx="47197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</a:rPr>
              <a:t>These filters helps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in constraining the occupied bandwidth of the waveform without introducing </a:t>
            </a:r>
            <a:r>
              <a:rPr lang="en-US" dirty="0" err="1">
                <a:solidFill>
                  <a:srgbClr val="3366CC"/>
                </a:solidFill>
                <a:latin typeface="Arial" panose="020B0604020202020204" pitchFamily="34" charset="0"/>
                <a:hlinkClick r:id="rId3" tooltip="Intersymbol interference"/>
              </a:rPr>
              <a:t>intersymbol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hlinkClick r:id="rId3" tooltip="Intersymbol interference"/>
              </a:rPr>
              <a:t> interference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(ISI).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51055" y="2641600"/>
            <a:ext cx="1921163" cy="337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301673" y="2641600"/>
            <a:ext cx="2170545" cy="214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23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37" y="2001838"/>
            <a:ext cx="12182763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Pulse-Shaping Filters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Transmit and Receive Filters</a:t>
            </a:r>
          </a:p>
        </p:txBody>
      </p:sp>
    </p:spTree>
    <p:extLst>
      <p:ext uri="{BB962C8B-B14F-4D97-AF65-F5344CB8AC3E}">
        <p14:creationId xmlns:p14="http://schemas.microsoft.com/office/powerpoint/2010/main" val="14422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55781" y="972991"/>
            <a:ext cx="9836728" cy="2625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12696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This code sets up a 16-QAM link.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Simulation parameters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20000;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16;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Create source bit sequence and modulate using 16-QAM.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([0,1],numBits,1);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qammod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(srcBits,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InputType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</p:txBody>
      </p:sp>
    </p:spTree>
    <p:extLst>
      <p:ext uri="{BB962C8B-B14F-4D97-AF65-F5344CB8AC3E}">
        <p14:creationId xmlns:p14="http://schemas.microsoft.com/office/powerpoint/2010/main" val="257791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 marL="109728" indent="0">
              <a:buClrTx/>
              <a:buNone/>
            </a:pPr>
            <a:r>
              <a:rPr lang="en-US" altLang="en-US" sz="1600" b="1" dirty="0"/>
              <a:t>Background</a:t>
            </a:r>
          </a:p>
          <a:p>
            <a:pPr>
              <a:buClrTx/>
            </a:pPr>
            <a:r>
              <a:rPr lang="en-US" altLang="en-US" sz="1600" dirty="0"/>
              <a:t>Because systems typically use matched filters, it's common to create the transmit and receive filters at the same time.</a:t>
            </a:r>
          </a:p>
          <a:p>
            <a:pPr>
              <a:buClrTx/>
            </a:pPr>
            <a:r>
              <a:rPr lang="en-US" altLang="en-US" sz="1600" dirty="0" smtClean="0"/>
              <a:t>You </a:t>
            </a:r>
            <a:r>
              <a:rPr lang="en-US" altLang="en-US" sz="1600" dirty="0"/>
              <a:t>can create a square-root raised cosine transmit filter using the following syntax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     txFilt </a:t>
            </a:r>
            <a:r>
              <a:rPr lang="en-US" altLang="en-US" sz="1600" b="1" dirty="0"/>
              <a:t>= </a:t>
            </a:r>
            <a:r>
              <a:rPr lang="en-US" altLang="en-US" sz="1600" b="1" dirty="0" err="1" smtClean="0"/>
              <a:t>comm.RaisedCosineTransmitFilter</a:t>
            </a: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A similar syntax creates the matched receive filter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     </a:t>
            </a:r>
            <a:r>
              <a:rPr lang="en-US" altLang="en-US" sz="1600" b="1" dirty="0" err="1" smtClean="0"/>
              <a:t>rxFilt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</a:t>
            </a:r>
            <a:r>
              <a:rPr lang="en-US" altLang="en-US" sz="1600" b="1" dirty="0" err="1" smtClean="0"/>
              <a:t>comm.RaisedCosineReceiveFilter</a:t>
            </a: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These syntaxes set the filter properties to default values. If you leave off the semicolon, you can see some of the properties in the output panel. For example, the property </a:t>
            </a:r>
            <a:r>
              <a:rPr lang="en-US" altLang="en-US" sz="1600" b="1" dirty="0" err="1"/>
              <a:t>OutputSamplesPerSymbol</a:t>
            </a:r>
            <a:r>
              <a:rPr lang="en-US" altLang="en-US" sz="1600" dirty="0"/>
              <a:t> has the default value 8, which means the filter </a:t>
            </a:r>
            <a:r>
              <a:rPr lang="en-US" altLang="en-US" sz="1600" b="1" dirty="0" err="1" smtClean="0"/>
              <a:t>upsamples</a:t>
            </a:r>
            <a:r>
              <a:rPr lang="en-US" altLang="en-US" sz="1600" dirty="0" smtClean="0"/>
              <a:t> the </a:t>
            </a:r>
            <a:r>
              <a:rPr lang="en-US" altLang="en-US" sz="1600" dirty="0"/>
              <a:t>signal so it has </a:t>
            </a:r>
            <a:r>
              <a:rPr lang="en-US" altLang="en-US" sz="1600" b="1" dirty="0"/>
              <a:t>8</a:t>
            </a:r>
            <a:r>
              <a:rPr lang="en-US" altLang="en-US" sz="1600" dirty="0"/>
              <a:t> samples for each QAM symbol.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FF0000"/>
                </a:solidFill>
              </a:rPr>
              <a:t>TASK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 marL="109728" indent="0">
              <a:buClrTx/>
              <a:buNone/>
            </a:pPr>
            <a:r>
              <a:rPr lang="en-US" altLang="en-US" sz="1600" dirty="0"/>
              <a:t>Create square-root raised cosine transmit and receive filters. Name the transmit filter </a:t>
            </a:r>
            <a:r>
              <a:rPr lang="en-US" altLang="en-US" sz="1600" b="1" dirty="0"/>
              <a:t>txFilt </a:t>
            </a:r>
            <a:r>
              <a:rPr lang="en-US" altLang="en-US" sz="1600" dirty="0"/>
              <a:t>and the receive filter </a:t>
            </a:r>
            <a:r>
              <a:rPr lang="en-US" altLang="en-US" sz="1600" b="1" dirty="0" err="1"/>
              <a:t>rxFilt</a:t>
            </a:r>
            <a:r>
              <a:rPr lang="en-US" altLang="en-US" sz="1600" dirty="0" smtClean="0"/>
              <a:t>.</a:t>
            </a: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dirty="0"/>
              <a:t>To display the filter properties, you can </a:t>
            </a:r>
            <a:r>
              <a:rPr lang="en-US" altLang="en-US" sz="1600" dirty="0" smtClean="0"/>
              <a:t>leave</a:t>
            </a:r>
          </a:p>
          <a:p>
            <a:pPr marL="109728" indent="0">
              <a:buClrTx/>
              <a:buNone/>
            </a:pPr>
            <a:r>
              <a:rPr lang="en-US" altLang="en-US" sz="1600" dirty="0" smtClean="0"/>
              <a:t> </a:t>
            </a:r>
            <a:r>
              <a:rPr lang="en-US" altLang="en-US" sz="1600" dirty="0"/>
              <a:t>off the semicolons at the end of the commands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endParaRPr lang="en-US" altLang="en-US" sz="1600" dirty="0" smtClean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     txFilt </a:t>
            </a:r>
            <a:r>
              <a:rPr lang="en-US" altLang="en-US" sz="1800" b="1" dirty="0">
                <a:solidFill>
                  <a:srgbClr val="0070C0"/>
                </a:solidFill>
                <a:latin typeface="Arial" panose="020B0604020202020204" pitchFamily="34" charset="0"/>
              </a:rPr>
              <a:t>= </a:t>
            </a:r>
            <a:r>
              <a:rPr lang="en-US" altLang="en-US" sz="1800" b="1" dirty="0" err="1">
                <a:solidFill>
                  <a:srgbClr val="0070C0"/>
                </a:solidFill>
                <a:latin typeface="Arial" panose="020B0604020202020204" pitchFamily="34" charset="0"/>
              </a:rPr>
              <a:t>comm.RaisedCosineTransmitFilter</a:t>
            </a:r>
            <a:endParaRPr lang="en-US" altLang="en-US" sz="18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1800" b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rxFilt</a:t>
            </a:r>
            <a:r>
              <a:rPr lang="en-US" altLang="en-US" sz="1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latin typeface="Arial" panose="020B0604020202020204" pitchFamily="34" charset="0"/>
              </a:rPr>
              <a:t>= </a:t>
            </a:r>
            <a:r>
              <a:rPr lang="en-US" altLang="en-US" sz="1800" b="1" dirty="0" err="1">
                <a:solidFill>
                  <a:srgbClr val="0070C0"/>
                </a:solidFill>
                <a:latin typeface="Arial" panose="020B0604020202020204" pitchFamily="34" charset="0"/>
              </a:rPr>
              <a:t>comm.RaisedCosineReceiveFilter</a:t>
            </a:r>
            <a:endParaRPr lang="en-US" altLang="en-US" sz="18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109728" indent="0">
              <a:buClrTx/>
              <a:buNone/>
            </a:pPr>
            <a:endParaRPr lang="en-US" altLang="en-US" sz="1600" dirty="0"/>
          </a:p>
          <a:p>
            <a:pPr marL="109728" indent="0">
              <a:buClrTx/>
              <a:buNone/>
            </a:pPr>
            <a:endParaRPr lang="en-US" altLang="en-US" sz="1600" dirty="0" smtClean="0"/>
          </a:p>
          <a:p>
            <a:pPr marL="109728" indent="0">
              <a:buClrTx/>
              <a:buNone/>
            </a:pPr>
            <a:endParaRPr lang="en-US" alt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36" t="61280" r="33182" b="7205"/>
          <a:stretch/>
        </p:blipFill>
        <p:spPr>
          <a:xfrm>
            <a:off x="6059054" y="4184072"/>
            <a:ext cx="5357091" cy="26739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693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526982" cy="3329709"/>
          </a:xfrm>
        </p:spPr>
        <p:txBody>
          <a:bodyPr>
            <a:noAutofit/>
          </a:bodyPr>
          <a:lstStyle/>
          <a:p>
            <a:pPr algn="just">
              <a:buClrTx/>
            </a:pPr>
            <a:r>
              <a:rPr lang="en-US" altLang="en-US" sz="1600" dirty="0"/>
              <a:t>To apply the transmit filter to the modulated 16-QAM signal, pass the signal as an input to the stored filter.</a:t>
            </a:r>
          </a:p>
          <a:p>
            <a:pPr algn="just">
              <a:buClrTx/>
            </a:pPr>
            <a:endParaRPr lang="en-US" altLang="en-US" sz="1600" dirty="0"/>
          </a:p>
          <a:p>
            <a:pPr marL="109728" indent="0" algn="just">
              <a:buClrTx/>
              <a:buNone/>
            </a:pPr>
            <a:r>
              <a:rPr lang="en-US" altLang="en-US" sz="1600" dirty="0" smtClean="0"/>
              <a:t>     </a:t>
            </a:r>
            <a:r>
              <a:rPr lang="en-US" altLang="en-US" sz="1600" b="1" dirty="0" err="1" smtClean="0"/>
              <a:t>sigOut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txFilt(sig)</a:t>
            </a:r>
          </a:p>
          <a:p>
            <a:pPr marL="109728" indent="0" algn="just">
              <a:buClrTx/>
              <a:buNone/>
            </a:pPr>
            <a:endParaRPr lang="en-US" altLang="en-US" sz="1600" dirty="0" smtClean="0"/>
          </a:p>
          <a:p>
            <a:pPr marL="109728" indent="0" algn="just">
              <a:buClrTx/>
              <a:buNone/>
            </a:pPr>
            <a:r>
              <a:rPr lang="en-US" altLang="en-US" sz="1600" b="1" dirty="0" smtClean="0">
                <a:solidFill>
                  <a:srgbClr val="FF0000"/>
                </a:solidFill>
              </a:rPr>
              <a:t>TASK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 algn="just">
              <a:buClrTx/>
            </a:pPr>
            <a:r>
              <a:rPr lang="en-US" altLang="en-US" sz="1600" dirty="0"/>
              <a:t>Apply the transmit filter </a:t>
            </a:r>
            <a:r>
              <a:rPr lang="en-US" altLang="en-US" sz="1600" b="1" dirty="0"/>
              <a:t>txFilt</a:t>
            </a:r>
            <a:r>
              <a:rPr lang="en-US" altLang="en-US" sz="1600" dirty="0"/>
              <a:t> to the modulated 16-QAM signal </a:t>
            </a:r>
            <a:r>
              <a:rPr lang="en-US" altLang="en-US" sz="1600" b="1" dirty="0" err="1"/>
              <a:t>modOut</a:t>
            </a:r>
            <a:r>
              <a:rPr lang="en-US" altLang="en-US" sz="1600" dirty="0"/>
              <a:t>. Name the output signal </a:t>
            </a:r>
            <a:r>
              <a:rPr lang="en-US" altLang="en-US" sz="1600" b="1" dirty="0" err="1"/>
              <a:t>txFiltOut</a:t>
            </a:r>
            <a:r>
              <a:rPr lang="en-US" altLang="en-US" sz="1600" dirty="0" smtClean="0"/>
              <a:t>.</a:t>
            </a:r>
          </a:p>
          <a:p>
            <a:pPr algn="just">
              <a:buClrTx/>
            </a:pPr>
            <a:endParaRPr lang="en-US" altLang="en-US" sz="1600" dirty="0" smtClean="0"/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txFiltOut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txFilt(</a:t>
            </a:r>
            <a:r>
              <a:rPr lang="en-US" altLang="en-US" sz="1600" b="1" dirty="0" err="1">
                <a:solidFill>
                  <a:srgbClr val="0070C0"/>
                </a:solidFill>
              </a:rPr>
              <a:t>modOut</a:t>
            </a:r>
            <a:r>
              <a:rPr lang="en-US" altLang="en-US" sz="1600" b="1" dirty="0">
                <a:solidFill>
                  <a:srgbClr val="0070C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426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526982" cy="3329709"/>
          </a:xfrm>
        </p:spPr>
        <p:txBody>
          <a:bodyPr>
            <a:noAutofit/>
          </a:bodyPr>
          <a:lstStyle/>
          <a:p>
            <a:pPr algn="just">
              <a:buClrTx/>
            </a:pPr>
            <a:r>
              <a:rPr lang="en-US" altLang="en-US" sz="1600" dirty="0"/>
              <a:t>Notice that </a:t>
            </a:r>
            <a:r>
              <a:rPr lang="en-US" altLang="en-US" sz="1600" dirty="0" smtClean="0"/>
              <a:t>(</a:t>
            </a:r>
            <a:r>
              <a:rPr lang="en-US" altLang="en-US" sz="1600" b="1" dirty="0" err="1" smtClean="0"/>
              <a:t>txFiltOut</a:t>
            </a:r>
            <a:r>
              <a:rPr lang="en-US" altLang="en-US" sz="1600" b="1" dirty="0" smtClean="0"/>
              <a:t>= 40000)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is 8 times longer than </a:t>
            </a:r>
            <a:r>
              <a:rPr lang="en-US" altLang="en-US" sz="1600" dirty="0" smtClean="0"/>
              <a:t>(</a:t>
            </a:r>
            <a:r>
              <a:rPr lang="en-US" altLang="en-US" sz="1600" b="1" dirty="0" err="1" smtClean="0"/>
              <a:t>modOut</a:t>
            </a:r>
            <a:r>
              <a:rPr lang="en-US" altLang="en-US" sz="1600" b="1" dirty="0" smtClean="0"/>
              <a:t>=5000)</a:t>
            </a:r>
            <a:r>
              <a:rPr lang="en-US" altLang="en-US" sz="1600" dirty="0" smtClean="0"/>
              <a:t>, </a:t>
            </a:r>
            <a:r>
              <a:rPr lang="en-US" altLang="en-US" sz="1600" dirty="0"/>
              <a:t>which is expected given the value of the filter property </a:t>
            </a:r>
            <a:r>
              <a:rPr lang="en-US" altLang="en-US" sz="1600" b="1" dirty="0" err="1"/>
              <a:t>OutputSamplesPerSymbol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algn="just">
              <a:buClrTx/>
            </a:pPr>
            <a:r>
              <a:rPr lang="en-US" altLang="en-US" sz="1600" dirty="0"/>
              <a:t>Next, you want to apply </a:t>
            </a:r>
            <a:r>
              <a:rPr lang="en-US" altLang="en-US" sz="1600" b="1" dirty="0"/>
              <a:t>AWGN</a:t>
            </a:r>
            <a:r>
              <a:rPr lang="en-US" altLang="en-US" sz="1600" dirty="0"/>
              <a:t> to the filtered signal. However, the transmit filter changed the signal power. </a:t>
            </a:r>
            <a:endParaRPr lang="en-US" altLang="en-US" sz="1600" dirty="0" smtClean="0"/>
          </a:p>
          <a:p>
            <a:pPr algn="just">
              <a:buClrTx/>
            </a:pPr>
            <a:r>
              <a:rPr lang="en-US" altLang="en-US" sz="1600" dirty="0" smtClean="0"/>
              <a:t> To </a:t>
            </a:r>
            <a:r>
              <a:rPr lang="en-US" altLang="en-US" sz="1600" dirty="0"/>
              <a:t>scale the noise power appropriately, pass a third input to the </a:t>
            </a:r>
            <a:r>
              <a:rPr lang="en-US" altLang="en-US" sz="1600" dirty="0" err="1"/>
              <a:t>awgn</a:t>
            </a:r>
            <a:r>
              <a:rPr lang="en-US" altLang="en-US" sz="1600" dirty="0"/>
              <a:t> function.</a:t>
            </a:r>
          </a:p>
          <a:p>
            <a:pPr algn="just">
              <a:buClrTx/>
            </a:pPr>
            <a:endParaRPr lang="en-US" altLang="en-US" sz="1600" dirty="0"/>
          </a:p>
          <a:p>
            <a:pPr algn="just">
              <a:buClrTx/>
            </a:pPr>
            <a:r>
              <a:rPr lang="en-US" altLang="en-US" sz="1600" b="1" dirty="0" err="1"/>
              <a:t>sigOut</a:t>
            </a:r>
            <a:r>
              <a:rPr lang="en-US" altLang="en-US" sz="1600" b="1" dirty="0"/>
              <a:t> = </a:t>
            </a:r>
            <a:r>
              <a:rPr lang="en-US" altLang="en-US" sz="1600" b="1" dirty="0" err="1"/>
              <a:t>awgn</a:t>
            </a:r>
            <a:r>
              <a:rPr lang="en-US" altLang="en-US" sz="1600" b="1" dirty="0"/>
              <a:t>(</a:t>
            </a:r>
            <a:r>
              <a:rPr lang="en-US" altLang="en-US" sz="1600" b="1" dirty="0" err="1"/>
              <a:t>sig,SNR,"measured</a:t>
            </a:r>
            <a:r>
              <a:rPr lang="en-US" altLang="en-US" sz="1600" b="1" dirty="0"/>
              <a:t>")</a:t>
            </a:r>
          </a:p>
          <a:p>
            <a:pPr algn="just">
              <a:buClrTx/>
            </a:pPr>
            <a:endParaRPr lang="en-US" altLang="en-US" sz="1600" dirty="0"/>
          </a:p>
          <a:p>
            <a:pPr algn="just">
              <a:buClrTx/>
            </a:pPr>
            <a:r>
              <a:rPr lang="en-US" altLang="en-US" sz="1600" dirty="0"/>
              <a:t>When you use the "measured" option, the function calculates the input signal power and scales the noise power based on the signal-to-noise ratio</a:t>
            </a:r>
            <a:r>
              <a:rPr lang="en-US" altLang="en-US" sz="1600" dirty="0" smtClean="0"/>
              <a:t>.</a:t>
            </a:r>
          </a:p>
          <a:p>
            <a:pPr algn="just">
              <a:buClrTx/>
            </a:pPr>
            <a:endParaRPr lang="en-US" altLang="en-US" sz="1600" dirty="0"/>
          </a:p>
          <a:p>
            <a:pPr marL="109728" indent="0" algn="just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 marL="109728" indent="0" algn="just">
              <a:buClrTx/>
              <a:buNone/>
            </a:pPr>
            <a:r>
              <a:rPr lang="en-US" altLang="en-US" sz="1600" dirty="0" smtClean="0"/>
              <a:t>   Apply </a:t>
            </a:r>
            <a:r>
              <a:rPr lang="en-US" altLang="en-US" sz="1600" b="1" dirty="0"/>
              <a:t>AWGN</a:t>
            </a:r>
            <a:r>
              <a:rPr lang="en-US" altLang="en-US" sz="1600" dirty="0"/>
              <a:t> to the filtered signal </a:t>
            </a:r>
            <a:r>
              <a:rPr lang="en-US" altLang="en-US" sz="1600" b="1" dirty="0" err="1"/>
              <a:t>txFiltOut</a:t>
            </a:r>
            <a:r>
              <a:rPr lang="en-US" altLang="en-US" sz="1600" dirty="0"/>
              <a:t>. Use a signal-to-noise ratio of </a:t>
            </a:r>
            <a:r>
              <a:rPr lang="en-US" altLang="en-US" sz="1600" b="1" dirty="0"/>
              <a:t>7 </a:t>
            </a:r>
            <a:r>
              <a:rPr lang="en-US" altLang="en-US" sz="1600" b="1" dirty="0" err="1"/>
              <a:t>dB</a:t>
            </a:r>
            <a:r>
              <a:rPr lang="en-US" altLang="en-US" sz="1600" dirty="0" err="1"/>
              <a:t>.</a:t>
            </a:r>
            <a:r>
              <a:rPr lang="en-US" altLang="en-US" sz="1600" dirty="0"/>
              <a:t> Name the output </a:t>
            </a:r>
            <a:r>
              <a:rPr lang="en-US" altLang="en-US" sz="1600" b="1" dirty="0" err="1"/>
              <a:t>chanOut</a:t>
            </a:r>
            <a:r>
              <a:rPr lang="en-US" altLang="en-US" sz="1600" dirty="0"/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84797" y="4091816"/>
            <a:ext cx="51449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587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SNR = 7;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chanOut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awgn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txFiltOut,SNR,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"measured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880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526982" cy="3329709"/>
          </a:xfrm>
        </p:spPr>
        <p:txBody>
          <a:bodyPr>
            <a:noAutofit/>
          </a:bodyPr>
          <a:lstStyle/>
          <a:p>
            <a:pPr algn="just">
              <a:buClrTx/>
            </a:pPr>
            <a:r>
              <a:rPr lang="en-US" altLang="en-US" sz="1600" dirty="0"/>
              <a:t>Now apply the receive filter to the signal. As with the transmit filter, pass the signal as an input to the stored filter.</a:t>
            </a:r>
          </a:p>
          <a:p>
            <a:pPr algn="just">
              <a:buClrTx/>
            </a:pPr>
            <a:endParaRPr lang="en-US" altLang="en-US" sz="1600" dirty="0"/>
          </a:p>
          <a:p>
            <a:pPr marL="109728" indent="0" algn="just">
              <a:buClrTx/>
              <a:buNone/>
            </a:pPr>
            <a:r>
              <a:rPr lang="en-US" altLang="en-US" sz="1600" b="1" dirty="0" smtClean="0"/>
              <a:t>    </a:t>
            </a:r>
            <a:r>
              <a:rPr lang="en-US" altLang="en-US" sz="1600" b="1" dirty="0" err="1" smtClean="0"/>
              <a:t>sigOut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</a:t>
            </a:r>
            <a:r>
              <a:rPr lang="en-US" altLang="en-US" sz="1600" b="1" dirty="0" err="1"/>
              <a:t>rxFilt</a:t>
            </a:r>
            <a:r>
              <a:rPr lang="en-US" altLang="en-US" sz="1600" b="1" dirty="0"/>
              <a:t>(sig</a:t>
            </a:r>
            <a:r>
              <a:rPr lang="en-US" altLang="en-US" sz="1600" b="1" dirty="0" smtClean="0"/>
              <a:t>)</a:t>
            </a:r>
          </a:p>
          <a:p>
            <a:pPr marL="109728" indent="0" algn="just">
              <a:buClrTx/>
              <a:buNone/>
            </a:pPr>
            <a:endParaRPr lang="en-US" altLang="en-US" sz="1600" dirty="0">
              <a:solidFill>
                <a:srgbClr val="FF0000"/>
              </a:solidFill>
            </a:endParaRPr>
          </a:p>
          <a:p>
            <a:pPr marL="109728" indent="0" algn="just">
              <a:buClrTx/>
              <a:buNone/>
            </a:pPr>
            <a:r>
              <a:rPr lang="en-US" altLang="en-US" sz="1600" dirty="0" smtClean="0">
                <a:solidFill>
                  <a:srgbClr val="FF0000"/>
                </a:solidFill>
              </a:rPr>
              <a:t>  TASK</a:t>
            </a:r>
            <a:endParaRPr lang="en-US" altLang="en-US" sz="1600" dirty="0">
              <a:solidFill>
                <a:srgbClr val="FF0000"/>
              </a:solidFill>
            </a:endParaRPr>
          </a:p>
          <a:p>
            <a:pPr algn="just">
              <a:buClrTx/>
            </a:pPr>
            <a:r>
              <a:rPr lang="en-US" altLang="en-US" sz="1600" dirty="0"/>
              <a:t>Apply the receive filter </a:t>
            </a:r>
            <a:r>
              <a:rPr lang="en-US" altLang="en-US" sz="1600" b="1" dirty="0" err="1"/>
              <a:t>rxFilt</a:t>
            </a:r>
            <a:r>
              <a:rPr lang="en-US" altLang="en-US" sz="1600" dirty="0"/>
              <a:t> to the channel output </a:t>
            </a:r>
            <a:r>
              <a:rPr lang="en-US" altLang="en-US" sz="1600" b="1" dirty="0" err="1"/>
              <a:t>chanOut</a:t>
            </a:r>
            <a:r>
              <a:rPr lang="en-US" altLang="en-US" sz="1600" dirty="0"/>
              <a:t>. Name the output </a:t>
            </a:r>
            <a:r>
              <a:rPr lang="en-US" altLang="en-US" sz="1600" b="1" dirty="0" err="1"/>
              <a:t>rxFiltOut</a:t>
            </a:r>
            <a:r>
              <a:rPr lang="en-US" altLang="en-US" sz="1600" b="1" dirty="0" smtClean="0"/>
              <a:t>.</a:t>
            </a:r>
          </a:p>
          <a:p>
            <a:pPr marL="109728" indent="0" algn="just">
              <a:buClrTx/>
              <a:buNone/>
            </a:pPr>
            <a:r>
              <a:rPr lang="en-US" altLang="en-US" sz="1600" b="1" dirty="0" smtClean="0"/>
              <a:t>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rxFiltOut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</a:t>
            </a:r>
            <a:r>
              <a:rPr lang="en-US" altLang="en-US" sz="1600" b="1" dirty="0" err="1">
                <a:solidFill>
                  <a:srgbClr val="0070C0"/>
                </a:solidFill>
              </a:rPr>
              <a:t>rxFilt</a:t>
            </a:r>
            <a:r>
              <a:rPr lang="en-US" altLang="en-US" sz="1600" b="1" dirty="0">
                <a:solidFill>
                  <a:srgbClr val="0070C0"/>
                </a:solidFill>
              </a:rPr>
              <a:t>(</a:t>
            </a:r>
            <a:r>
              <a:rPr lang="en-US" altLang="en-US" sz="1600" b="1" dirty="0" err="1">
                <a:solidFill>
                  <a:srgbClr val="0070C0"/>
                </a:solidFill>
              </a:rPr>
              <a:t>chanOut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);</a:t>
            </a:r>
          </a:p>
          <a:p>
            <a:pPr marL="109728" indent="0" algn="just">
              <a:buClrTx/>
              <a:buNone/>
            </a:pPr>
            <a:endParaRPr lang="en-US" altLang="en-US" sz="1600" b="1" dirty="0">
              <a:solidFill>
                <a:srgbClr val="0070C0"/>
              </a:solidFill>
            </a:endParaRPr>
          </a:p>
          <a:p>
            <a:pPr marL="109728" indent="0" algn="just">
              <a:buClrTx/>
              <a:buNone/>
            </a:pPr>
            <a:endParaRPr lang="en-US" altLang="en-US" sz="1600" b="1" dirty="0" smtClean="0">
              <a:solidFill>
                <a:srgbClr val="0070C0"/>
              </a:solidFill>
            </a:endParaRPr>
          </a:p>
          <a:p>
            <a:pPr algn="just">
              <a:buClrTx/>
            </a:pPr>
            <a:endParaRPr lang="en-US" altLang="en-US" sz="1600" b="1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97" t="29495" r="42046" b="12054"/>
          <a:stretch/>
        </p:blipFill>
        <p:spPr>
          <a:xfrm>
            <a:off x="7952510" y="3278316"/>
            <a:ext cx="4184072" cy="325077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3204164"/>
            <a:ext cx="7952510" cy="32713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58700" tIns="12696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Demodulate back into bits. This code only executes after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rxFiltOut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 has been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E00FF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rxFiltOut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var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code runs after you complete Task 4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scatterplot(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"Receive Filter Output"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demodOut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qamdemod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rxFiltOut,modOrder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OutputType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E00FF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E00FF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Remember you added more noise to the channel here (SNR of 7 dB) compared to the previous activity (SNR of 15 dB). The receive filter has reduced the noise power by about 8 dB, so the constellation has roughly the same amount of noise as the signal from the previous activity.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71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0146" y="609600"/>
            <a:ext cx="10972800" cy="56789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/>
            </a:r>
            <a:br>
              <a:rPr lang="en-US" sz="5400" dirty="0">
                <a:solidFill>
                  <a:srgbClr val="FF0000"/>
                </a:solidFill>
              </a:rPr>
            </a:br>
            <a:endParaRPr lang="en-US" sz="31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0146" y="293697"/>
            <a:ext cx="43896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728" indent="0" fontAlgn="base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2- Pulse-Shaping Filters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27" t="38518" r="28409" b="22155"/>
          <a:stretch/>
        </p:blipFill>
        <p:spPr>
          <a:xfrm>
            <a:off x="655780" y="960582"/>
            <a:ext cx="10418619" cy="492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9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37" y="2001838"/>
            <a:ext cx="12182763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Pulse-Shaping Filters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5400" dirty="0" smtClean="0">
                <a:solidFill>
                  <a:srgbClr val="FF0000"/>
                </a:solidFill>
              </a:rPr>
              <a:t/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Filter Delay and BER Calculation</a:t>
            </a:r>
          </a:p>
        </p:txBody>
      </p:sp>
    </p:spTree>
    <p:extLst>
      <p:ext uri="{BB962C8B-B14F-4D97-AF65-F5344CB8AC3E}">
        <p14:creationId xmlns:p14="http://schemas.microsoft.com/office/powerpoint/2010/main" val="232645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892" y="1166526"/>
            <a:ext cx="10239706" cy="4502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12696" rIns="91440" bIns="5713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This code simulates a 16-QAM link with filtering and AWGN.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20000;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16;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for 16-QAM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bitsPerSymbol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log2(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 = 2^bitsPerSymbol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comm.RaisedCosineTransmitFilter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comm.RaisedCosineReceiveFilter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srcBits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([0,1],numBits,1);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qammod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(srcBits,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InputType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SNR = 7;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13"/>
                </a:solidFill>
                <a:effectLst/>
                <a:latin typeface="Arial" panose="020B0604020202020204" pitchFamily="34" charset="0"/>
              </a:rPr>
              <a:t>% dB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awgn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txFiltOut,SNR,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"measured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rxFilt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demodOut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qamdemod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(rxFiltOut,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OutputType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"bit"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UnitAveragePower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A709F5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,true);</a:t>
            </a:r>
          </a:p>
        </p:txBody>
      </p:sp>
    </p:spTree>
    <p:extLst>
      <p:ext uri="{BB962C8B-B14F-4D97-AF65-F5344CB8AC3E}">
        <p14:creationId xmlns:p14="http://schemas.microsoft.com/office/powerpoint/2010/main" val="418487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 marL="109728" indent="0">
              <a:buClrTx/>
              <a:buNone/>
            </a:pPr>
            <a:r>
              <a:rPr lang="en-US" altLang="en-US" sz="1600" b="1" dirty="0"/>
              <a:t>Background</a:t>
            </a:r>
          </a:p>
          <a:p>
            <a:pPr>
              <a:buClrTx/>
            </a:pPr>
            <a:r>
              <a:rPr lang="en-US" altLang="en-US" sz="1600" dirty="0"/>
              <a:t>For each filter, the delay is half the filter length, in symbols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You can extract the filter length by accessing the </a:t>
            </a:r>
            <a:r>
              <a:rPr lang="en-US" altLang="en-US" sz="1600" b="1" dirty="0" err="1"/>
              <a:t>FilterSpanInSymbols</a:t>
            </a:r>
            <a:r>
              <a:rPr lang="en-US" altLang="en-US" sz="1600" dirty="0"/>
              <a:t> property. Then divide by 2 to get the delay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   </a:t>
            </a:r>
            <a:r>
              <a:rPr lang="en-US" altLang="en-US" sz="1600" b="1" dirty="0" err="1" smtClean="0"/>
              <a:t>txFilt.FilterSpanInSymbols</a:t>
            </a:r>
            <a:r>
              <a:rPr lang="en-US" altLang="en-US" sz="1600" b="1" dirty="0" smtClean="0"/>
              <a:t>/2</a:t>
            </a: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   </a:t>
            </a:r>
            <a:r>
              <a:rPr lang="en-US" altLang="en-US" sz="1600" b="1" dirty="0" err="1" smtClean="0"/>
              <a:t>rxFilt.FilterSpanInSymbols</a:t>
            </a:r>
            <a:r>
              <a:rPr lang="en-US" altLang="en-US" sz="1600" b="1" dirty="0" smtClean="0"/>
              <a:t>/2</a:t>
            </a: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The </a:t>
            </a:r>
            <a:r>
              <a:rPr lang="en-US" altLang="en-US" sz="1600" dirty="0"/>
              <a:t>total delay is the sum of the transmit and receive filter delays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 marL="109728" indent="0">
              <a:buClrTx/>
              <a:buNone/>
            </a:pPr>
            <a:r>
              <a:rPr lang="en-US" altLang="en-US" sz="1600" dirty="0"/>
              <a:t>Calculate the total delay </a:t>
            </a:r>
            <a:r>
              <a:rPr lang="en-US" altLang="en-US" sz="1600" b="1" dirty="0" smtClean="0"/>
              <a:t>(in symbols) </a:t>
            </a:r>
            <a:r>
              <a:rPr lang="en-US" altLang="en-US" sz="1600" dirty="0" smtClean="0"/>
              <a:t>by </a:t>
            </a:r>
            <a:r>
              <a:rPr lang="en-US" altLang="en-US" sz="1600" dirty="0"/>
              <a:t>summing the transmit filter delay and receive filter delay. Name the result </a:t>
            </a:r>
            <a:r>
              <a:rPr lang="en-US" altLang="en-US" sz="1600" b="1" dirty="0" err="1"/>
              <a:t>delayInSymbols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endParaRPr lang="en-US" altLang="en-US" sz="1600" dirty="0" smtClean="0"/>
          </a:p>
          <a:p>
            <a:pPr marL="109728" indent="0">
              <a:buClrTx/>
              <a:buNone/>
            </a:pPr>
            <a:r>
              <a:rPr lang="en-US" altLang="en-US" sz="1600" b="1" dirty="0" err="1">
                <a:solidFill>
                  <a:srgbClr val="0070C0"/>
                </a:solidFill>
              </a:rPr>
              <a:t>delayInSymbols</a:t>
            </a:r>
            <a:r>
              <a:rPr lang="en-US" altLang="en-US" sz="1600" b="1" dirty="0">
                <a:solidFill>
                  <a:srgbClr val="0070C0"/>
                </a:solidFill>
              </a:rPr>
              <a:t> = </a:t>
            </a:r>
            <a:r>
              <a:rPr lang="en-US" altLang="en-US" sz="1600" b="1" dirty="0" err="1">
                <a:solidFill>
                  <a:srgbClr val="0070C0"/>
                </a:solidFill>
              </a:rPr>
              <a:t>rxFilt.FilterSpanInSymbols</a:t>
            </a:r>
            <a:r>
              <a:rPr lang="en-US" altLang="en-US" sz="1600" b="1" dirty="0">
                <a:solidFill>
                  <a:srgbClr val="0070C0"/>
                </a:solidFill>
              </a:rPr>
              <a:t>/2 +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txFilt.FilterSpanInSymbols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/2</a:t>
            </a:r>
          </a:p>
          <a:p>
            <a:pPr marL="109728" indent="0">
              <a:buClrTx/>
              <a:buNone/>
            </a:pPr>
            <a:r>
              <a:rPr lang="en-US" altLang="en-US" sz="1600" b="1" dirty="0" err="1" smtClean="0">
                <a:solidFill>
                  <a:srgbClr val="FF0000"/>
                </a:solidFill>
              </a:rPr>
              <a:t>delayInSymbols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 = 10</a:t>
            </a:r>
            <a:endParaRPr lang="en-US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7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altLang="en-US" sz="1600" dirty="0"/>
              <a:t>However, to compare bits, you need to determine the delay in </a:t>
            </a:r>
            <a:r>
              <a:rPr lang="en-US" altLang="en-US" sz="1600" b="1" dirty="0"/>
              <a:t>bits</a:t>
            </a:r>
            <a:r>
              <a:rPr lang="en-US" altLang="en-US" sz="1600" dirty="0"/>
              <a:t>, not </a:t>
            </a:r>
            <a:r>
              <a:rPr lang="en-US" altLang="en-US" sz="1600" b="1" dirty="0"/>
              <a:t>symbols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For 16-QAM, four bits are mapped to one symbol. This conversion factor has been stored in the variable </a:t>
            </a:r>
            <a:r>
              <a:rPr lang="en-US" altLang="en-US" sz="1600" b="1" dirty="0" err="1"/>
              <a:t>bitsPerSymbol</a:t>
            </a:r>
            <a:r>
              <a:rPr lang="en-US" altLang="en-US" sz="1600" dirty="0"/>
              <a:t>, defined in the script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To convert the delay from </a:t>
            </a:r>
            <a:r>
              <a:rPr lang="en-US" altLang="en-US" sz="1600" b="1" dirty="0"/>
              <a:t>symbols to bits</a:t>
            </a:r>
            <a:r>
              <a:rPr lang="en-US" altLang="en-US" sz="1600" dirty="0"/>
              <a:t>, multiply the delay in symbols by </a:t>
            </a:r>
            <a:r>
              <a:rPr lang="en-US" altLang="en-US" sz="1600" b="1" dirty="0" err="1"/>
              <a:t>bitsPerSymbol</a:t>
            </a:r>
            <a:r>
              <a:rPr lang="en-US" altLang="en-US" sz="1600" b="1" dirty="0"/>
              <a:t>.</a:t>
            </a:r>
          </a:p>
          <a:p>
            <a:pPr>
              <a:buClrTx/>
            </a:pP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</a:t>
            </a:r>
            <a:r>
              <a:rPr lang="en-US" altLang="en-US" sz="1600" b="1" dirty="0" err="1" smtClean="0"/>
              <a:t>delayInSymbols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* </a:t>
            </a:r>
            <a:r>
              <a:rPr lang="en-US" altLang="en-US" sz="1600" b="1" dirty="0" err="1" smtClean="0"/>
              <a:t>bitsPerSymbol</a:t>
            </a:r>
            <a:endParaRPr lang="en-US" altLang="en-US" sz="1600" b="1" dirty="0" smtClean="0"/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>
              <a:buClrTx/>
            </a:pPr>
            <a:r>
              <a:rPr lang="en-US" altLang="en-US" sz="1600" dirty="0" smtClean="0"/>
              <a:t>Calculate </a:t>
            </a:r>
            <a:r>
              <a:rPr lang="en-US" altLang="en-US" sz="1600" dirty="0"/>
              <a:t>the delay in bits by converting </a:t>
            </a:r>
            <a:r>
              <a:rPr lang="en-US" altLang="en-US" sz="1600" b="1" dirty="0" err="1"/>
              <a:t>delayInSymbols</a:t>
            </a:r>
            <a:r>
              <a:rPr lang="en-US" altLang="en-US" sz="1600" dirty="0"/>
              <a:t> to </a:t>
            </a:r>
            <a:r>
              <a:rPr lang="en-US" altLang="en-US" sz="1600" b="1" dirty="0"/>
              <a:t>bits</a:t>
            </a:r>
            <a:r>
              <a:rPr lang="en-US" altLang="en-US" sz="1600" dirty="0"/>
              <a:t>. Name the result </a:t>
            </a:r>
            <a:r>
              <a:rPr lang="en-US" altLang="en-US" sz="1600" b="1" dirty="0" err="1"/>
              <a:t>delayInBits</a:t>
            </a:r>
            <a:r>
              <a:rPr lang="en-US" altLang="en-US" sz="1600" dirty="0" smtClean="0"/>
              <a:t>.</a:t>
            </a:r>
          </a:p>
          <a:p>
            <a:pPr>
              <a:buClrTx/>
            </a:pPr>
            <a:endParaRPr lang="en-US" altLang="en-US" sz="1600" dirty="0" smtClean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delayInBits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</a:t>
            </a:r>
            <a:r>
              <a:rPr lang="en-US" altLang="en-US" sz="1600" b="1" dirty="0" err="1">
                <a:solidFill>
                  <a:srgbClr val="0070C0"/>
                </a:solidFill>
              </a:rPr>
              <a:t>delayInSymbols</a:t>
            </a:r>
            <a:r>
              <a:rPr lang="en-US" altLang="en-US" sz="1600" b="1" dirty="0">
                <a:solidFill>
                  <a:srgbClr val="0070C0"/>
                </a:solidFill>
              </a:rPr>
              <a:t> *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bitsPerSymbol</a:t>
            </a:r>
            <a:endParaRPr lang="en-US" altLang="en-US" sz="1600" b="1" dirty="0" smtClean="0">
              <a:solidFill>
                <a:srgbClr val="0070C0"/>
              </a:solidFill>
            </a:endParaRP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</a:t>
            </a:r>
            <a:r>
              <a:rPr lang="en-US" altLang="en-US" sz="1600" b="1" dirty="0" err="1" smtClean="0">
                <a:solidFill>
                  <a:srgbClr val="FF0000"/>
                </a:solidFill>
              </a:rPr>
              <a:t>delayInBits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</a:rPr>
              <a:t>=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40</a:t>
            </a:r>
            <a:endParaRPr lang="en-US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6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83045" y="651586"/>
            <a:ext cx="11266448" cy="361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12121"/>
                </a:solidFill>
                <a:effectLst/>
                <a:latin typeface="futura-pt-n7"/>
              </a:rPr>
              <a:t>Extract Aligned Bits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Now that you know the delay, you're ready to compare bits. To compare the correct bits,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need to align matching bits from the source bit sequence and the received bit sequence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0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                                                                      </a:t>
            </a:r>
          </a:p>
        </p:txBody>
      </p:sp>
      <p:pic>
        <p:nvPicPr>
          <p:cNvPr id="4098" name="Picture 2" descr="Source and received bit sequences with matching bits aligned verticall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5" y="2315994"/>
            <a:ext cx="9464644" cy="265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87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72" y="688192"/>
            <a:ext cx="11296073" cy="3329709"/>
          </a:xfrm>
        </p:spPr>
        <p:txBody>
          <a:bodyPr>
            <a:noAutofit/>
          </a:bodyPr>
          <a:lstStyle/>
          <a:p>
            <a:pPr marL="109728" indent="0">
              <a:buClrTx/>
              <a:buNone/>
            </a:pPr>
            <a:r>
              <a:rPr lang="en-US" altLang="en-US" sz="1600" b="1" dirty="0" smtClean="0"/>
              <a:t>Background</a:t>
            </a:r>
          </a:p>
          <a:p>
            <a:pPr marL="109728" indent="0">
              <a:buClrTx/>
              <a:buNone/>
            </a:pPr>
            <a:endParaRPr lang="en-US" altLang="en-US" sz="1600" b="1" dirty="0" smtClean="0"/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>
              <a:buClrTx/>
            </a:pPr>
            <a:r>
              <a:rPr lang="en-US" altLang="en-US" sz="1600" dirty="0" smtClean="0"/>
              <a:t>First</a:t>
            </a:r>
            <a:r>
              <a:rPr lang="en-US" altLang="en-US" sz="1600" dirty="0"/>
              <a:t>, get the aligned bits from the source bit sequence by extracting all but the last </a:t>
            </a:r>
            <a:r>
              <a:rPr lang="en-US" altLang="en-US" sz="1600" dirty="0" err="1"/>
              <a:t>delayInBits</a:t>
            </a:r>
            <a:r>
              <a:rPr lang="en-US" altLang="en-US" sz="1600" dirty="0"/>
              <a:t> bits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    </a:t>
            </a:r>
            <a:r>
              <a:rPr lang="en-US" altLang="en-US" sz="1600" b="1" dirty="0" smtClean="0"/>
              <a:t> </a:t>
            </a:r>
            <a:r>
              <a:rPr lang="en-US" altLang="en-US" sz="1600" b="1" dirty="0" err="1" smtClean="0"/>
              <a:t>srcBits</a:t>
            </a:r>
            <a:r>
              <a:rPr lang="en-US" altLang="en-US" sz="1600" b="1" dirty="0" smtClean="0"/>
              <a:t>(1</a:t>
            </a:r>
            <a:r>
              <a:rPr lang="en-US" altLang="en-US" sz="1600" b="1" dirty="0"/>
              <a:t>:(end-</a:t>
            </a:r>
            <a:r>
              <a:rPr lang="en-US" altLang="en-US" sz="1600" b="1" dirty="0" err="1"/>
              <a:t>delayInBits</a:t>
            </a:r>
            <a:r>
              <a:rPr lang="en-US" altLang="en-US" sz="1600" b="1" dirty="0" smtClean="0"/>
              <a:t>))</a:t>
            </a:r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  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TASK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>
              <a:buClrTx/>
            </a:pPr>
            <a:r>
              <a:rPr lang="en-US" altLang="en-US" sz="1600" dirty="0"/>
              <a:t>Extract the aligned source bits from </a:t>
            </a:r>
            <a:r>
              <a:rPr lang="en-US" altLang="en-US" sz="1600" b="1" dirty="0" err="1"/>
              <a:t>srcBits</a:t>
            </a:r>
            <a:r>
              <a:rPr lang="en-US" altLang="en-US" sz="1600" dirty="0"/>
              <a:t>, and store them in the variable </a:t>
            </a:r>
            <a:r>
              <a:rPr lang="en-US" altLang="en-US" sz="1600" b="1" dirty="0" err="1"/>
              <a:t>srcAligned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r>
              <a:rPr lang="en-US" altLang="en-US" sz="1600" dirty="0" smtClean="0"/>
              <a:t>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srcAligned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</a:t>
            </a:r>
            <a:r>
              <a:rPr lang="en-US" altLang="en-US" sz="1600" b="1" dirty="0" err="1">
                <a:solidFill>
                  <a:srgbClr val="0070C0"/>
                </a:solidFill>
              </a:rPr>
              <a:t>srcBits</a:t>
            </a:r>
            <a:r>
              <a:rPr lang="en-US" altLang="en-US" sz="1600" b="1" dirty="0">
                <a:solidFill>
                  <a:srgbClr val="0070C0"/>
                </a:solidFill>
              </a:rPr>
              <a:t>(1:(end-</a:t>
            </a:r>
            <a:r>
              <a:rPr lang="en-US" altLang="en-US" sz="1600" b="1" dirty="0" err="1">
                <a:solidFill>
                  <a:srgbClr val="0070C0"/>
                </a:solidFill>
              </a:rPr>
              <a:t>delayInBits</a:t>
            </a:r>
            <a:r>
              <a:rPr lang="en-US" altLang="en-US" sz="1600" b="1" dirty="0">
                <a:solidFill>
                  <a:srgbClr val="0070C0"/>
                </a:solidFill>
              </a:rPr>
              <a:t>))</a:t>
            </a:r>
          </a:p>
        </p:txBody>
      </p:sp>
      <p:pic>
        <p:nvPicPr>
          <p:cNvPr id="2" name="Picture 2" descr="Source bit sequence with aligned bits highlighted and the end of the sequence in g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291" y="1000270"/>
            <a:ext cx="4303304" cy="9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4" t="38488" r="26237" b="31587"/>
          <a:stretch/>
        </p:blipFill>
        <p:spPr>
          <a:xfrm>
            <a:off x="4959928" y="3723393"/>
            <a:ext cx="3565237" cy="31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2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ar-IQ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1366766"/>
            <a:ext cx="11296073" cy="3329709"/>
          </a:xfrm>
        </p:spPr>
        <p:txBody>
          <a:bodyPr>
            <a:noAutofit/>
          </a:bodyPr>
          <a:lstStyle/>
          <a:p>
            <a:pPr>
              <a:buClrTx/>
            </a:pPr>
            <a:endParaRPr lang="en-US" altLang="en-US" sz="1600" dirty="0" smtClean="0"/>
          </a:p>
          <a:p>
            <a:pPr>
              <a:buClrTx/>
            </a:pPr>
            <a:endParaRPr lang="en-US" altLang="en-US" sz="1600" dirty="0"/>
          </a:p>
          <a:p>
            <a:pPr>
              <a:buClrTx/>
            </a:pPr>
            <a:endParaRPr lang="en-US" altLang="en-US" sz="1600" dirty="0" smtClean="0"/>
          </a:p>
          <a:p>
            <a:pPr>
              <a:buClrTx/>
            </a:pPr>
            <a:r>
              <a:rPr lang="en-US" altLang="en-US" sz="1600" dirty="0" smtClean="0"/>
              <a:t>Next</a:t>
            </a:r>
            <a:r>
              <a:rPr lang="en-US" altLang="en-US" sz="1600" dirty="0"/>
              <a:t>, get the aligned bits from the received bit sequence by extracting all but the first </a:t>
            </a:r>
            <a:r>
              <a:rPr lang="en-US" altLang="en-US" sz="1600" dirty="0" err="1"/>
              <a:t>delayInBits</a:t>
            </a:r>
            <a:r>
              <a:rPr lang="en-US" altLang="en-US" sz="1600" dirty="0"/>
              <a:t> bits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</a:t>
            </a:r>
            <a:r>
              <a:rPr lang="en-US" altLang="en-US" sz="1600" b="1" dirty="0" err="1" smtClean="0"/>
              <a:t>demodOut</a:t>
            </a:r>
            <a:r>
              <a:rPr lang="en-US" altLang="en-US" sz="1600" b="1" dirty="0"/>
              <a:t>((delayInBits+1):end</a:t>
            </a:r>
            <a:r>
              <a:rPr lang="en-US" altLang="en-US" sz="1600" b="1" dirty="0" smtClean="0"/>
              <a:t>)</a:t>
            </a:r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>
              <a:buClrTx/>
            </a:pPr>
            <a:r>
              <a:rPr lang="en-US" altLang="en-US" sz="1600" dirty="0"/>
              <a:t>Extract the aligned received bits from </a:t>
            </a:r>
            <a:r>
              <a:rPr lang="en-US" altLang="en-US" sz="1600" b="1" dirty="0" err="1"/>
              <a:t>demodOut</a:t>
            </a:r>
            <a:r>
              <a:rPr lang="en-US" altLang="en-US" sz="1600" dirty="0"/>
              <a:t>, and store them in the variable </a:t>
            </a:r>
            <a:r>
              <a:rPr lang="en-US" altLang="en-US" sz="1600" b="1" dirty="0" err="1"/>
              <a:t>demodAligned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r>
              <a:rPr lang="en-US" altLang="en-US" sz="1600" dirty="0" smtClean="0"/>
              <a:t> 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demodAligned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</a:t>
            </a:r>
            <a:r>
              <a:rPr lang="en-US" altLang="en-US" sz="1600" b="1" dirty="0" err="1">
                <a:solidFill>
                  <a:srgbClr val="0070C0"/>
                </a:solidFill>
              </a:rPr>
              <a:t>demodOut</a:t>
            </a:r>
            <a:r>
              <a:rPr lang="en-US" altLang="en-US" sz="1600" b="1" dirty="0">
                <a:solidFill>
                  <a:srgbClr val="0070C0"/>
                </a:solidFill>
              </a:rPr>
              <a:t>((delayInBits+1):end)</a:t>
            </a:r>
            <a:endParaRPr lang="en-US" altLang="en-US" sz="1600" b="1" dirty="0" smtClean="0">
              <a:solidFill>
                <a:srgbClr val="0070C0"/>
              </a:solidFill>
            </a:endParaRPr>
          </a:p>
          <a:p>
            <a:pPr marL="109728" indent="0">
              <a:buClrTx/>
              <a:buNone/>
            </a:pPr>
            <a:endParaRPr lang="en-US" altLang="en-US" sz="1600" b="1" dirty="0"/>
          </a:p>
        </p:txBody>
      </p:sp>
      <p:pic>
        <p:nvPicPr>
          <p:cNvPr id="6148" name="Picture 4" descr="Source bit sequence with aligned bits highlighted and the end of the sequence in g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922" y="882650"/>
            <a:ext cx="3849308" cy="96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4" t="68283" r="26667" b="7475"/>
          <a:stretch/>
        </p:blipFill>
        <p:spPr>
          <a:xfrm>
            <a:off x="6452229" y="3897744"/>
            <a:ext cx="3375261" cy="2893083"/>
          </a:xfrm>
          <a:prstGeom prst="rect">
            <a:avLst/>
          </a:prstGeom>
        </p:spPr>
      </p:pic>
      <p:pic>
        <p:nvPicPr>
          <p:cNvPr id="6145" name="Picture 1" descr="Source bit sequence with aligned bits highlighted and the end of the sequence in gr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26"/>
            <a:ext cx="3105150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6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>
              <a:buClrTx/>
            </a:pP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Now you can compare the </a:t>
            </a:r>
            <a:r>
              <a:rPr lang="en-US" altLang="en-US" sz="1600" b="1" dirty="0"/>
              <a:t>aligned bits </a:t>
            </a:r>
            <a:r>
              <a:rPr lang="en-US" altLang="en-US" sz="1600" dirty="0"/>
              <a:t>and count the </a:t>
            </a:r>
            <a:r>
              <a:rPr lang="en-US" altLang="en-US" sz="1600" b="1" dirty="0"/>
              <a:t>number of bit errors</a:t>
            </a:r>
            <a:r>
              <a:rPr lang="en-US" altLang="en-US" sz="1600" dirty="0"/>
              <a:t>.</a:t>
            </a:r>
          </a:p>
          <a:p>
            <a:pPr>
              <a:buClrTx/>
            </a:pP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Remember you can use the ~= operator to perform a bit-by-bit comparison to find nonmatching bits, and then use </a:t>
            </a:r>
            <a:r>
              <a:rPr lang="en-US" altLang="en-US" sz="1600" b="1" dirty="0" err="1"/>
              <a:t>nnz</a:t>
            </a:r>
            <a:r>
              <a:rPr lang="en-US" altLang="en-US" sz="1600" dirty="0"/>
              <a:t> to count the bit errors</a:t>
            </a:r>
            <a:r>
              <a:rPr lang="en-US" altLang="en-US" sz="1600" dirty="0" smtClean="0"/>
              <a:t>.</a:t>
            </a: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      </a:t>
            </a:r>
            <a:r>
              <a:rPr lang="en-US" altLang="en-US" sz="1600" b="1" dirty="0" smtClean="0"/>
              <a:t>   </a:t>
            </a:r>
            <a:r>
              <a:rPr lang="en-US" altLang="en-US" sz="1600" b="1" dirty="0" err="1" smtClean="0"/>
              <a:t>nnz</a:t>
            </a:r>
            <a:r>
              <a:rPr lang="en-US" altLang="en-US" sz="1600" b="1" dirty="0" smtClean="0"/>
              <a:t>(bitSeq1 </a:t>
            </a:r>
            <a:r>
              <a:rPr lang="en-US" altLang="en-US" sz="1600" b="1" dirty="0"/>
              <a:t>~= bitSeq2</a:t>
            </a:r>
            <a:r>
              <a:rPr lang="en-US" altLang="en-US" sz="1600" b="1" dirty="0" smtClean="0"/>
              <a:t>)</a:t>
            </a:r>
          </a:p>
          <a:p>
            <a:pPr marL="109728" indent="0">
              <a:buClrTx/>
              <a:buNone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TASK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>
              <a:buClrTx/>
            </a:pPr>
            <a:r>
              <a:rPr lang="en-US" altLang="en-US" sz="1600" dirty="0"/>
              <a:t>Count the number of bit errors between </a:t>
            </a:r>
            <a:r>
              <a:rPr lang="en-US" altLang="en-US" sz="1600" b="1" dirty="0" err="1"/>
              <a:t>srcAligned</a:t>
            </a:r>
            <a:r>
              <a:rPr lang="en-US" altLang="en-US" sz="1600" dirty="0"/>
              <a:t> and </a:t>
            </a:r>
            <a:r>
              <a:rPr lang="en-US" altLang="en-US" sz="1600" b="1" dirty="0" err="1"/>
              <a:t>demodAligned</a:t>
            </a:r>
            <a:r>
              <a:rPr lang="en-US" altLang="en-US" sz="1600" dirty="0"/>
              <a:t>. Store the result in the variable </a:t>
            </a:r>
            <a:r>
              <a:rPr lang="en-US" altLang="en-US" sz="1600" b="1" dirty="0" err="1"/>
              <a:t>numBitErrors</a:t>
            </a:r>
            <a:r>
              <a:rPr lang="en-US" altLang="en-US" sz="1600" dirty="0" smtClean="0"/>
              <a:t>.</a:t>
            </a:r>
          </a:p>
          <a:p>
            <a:pPr>
              <a:buClrTx/>
            </a:pPr>
            <a:endParaRPr lang="en-US" altLang="en-US" sz="1600" dirty="0" smtClean="0"/>
          </a:p>
          <a:p>
            <a:pPr marL="109728" indent="0">
              <a:buClrTx/>
              <a:buNone/>
            </a:pPr>
            <a:r>
              <a:rPr lang="en-US" altLang="en-US" sz="1600" dirty="0" smtClean="0"/>
              <a:t>   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numBitErrors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= </a:t>
            </a:r>
            <a:r>
              <a:rPr lang="en-US" altLang="en-US" sz="1600" b="1" dirty="0" err="1">
                <a:solidFill>
                  <a:srgbClr val="0070C0"/>
                </a:solidFill>
              </a:rPr>
              <a:t>nnz</a:t>
            </a:r>
            <a:r>
              <a:rPr lang="en-US" altLang="en-US" sz="1600" b="1" dirty="0">
                <a:solidFill>
                  <a:srgbClr val="0070C0"/>
                </a:solidFill>
              </a:rPr>
              <a:t>(</a:t>
            </a:r>
            <a:r>
              <a:rPr lang="en-US" altLang="en-US" sz="1600" b="1" dirty="0" err="1">
                <a:solidFill>
                  <a:srgbClr val="0070C0"/>
                </a:solidFill>
              </a:rPr>
              <a:t>srcAligned</a:t>
            </a:r>
            <a:r>
              <a:rPr lang="en-US" altLang="en-US" sz="1600" b="1" dirty="0">
                <a:solidFill>
                  <a:srgbClr val="0070C0"/>
                </a:solidFill>
              </a:rPr>
              <a:t> ~= </a:t>
            </a:r>
            <a:r>
              <a:rPr lang="en-US" altLang="en-US" sz="1600" b="1" dirty="0" err="1">
                <a:solidFill>
                  <a:srgbClr val="0070C0"/>
                </a:solidFill>
              </a:rPr>
              <a:t>demodAligned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)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    </a:t>
            </a:r>
            <a:r>
              <a:rPr lang="en-US" altLang="en-US" sz="1600" b="1" dirty="0" err="1" smtClean="0">
                <a:solidFill>
                  <a:srgbClr val="FF0000"/>
                </a:solidFill>
              </a:rPr>
              <a:t>numBitErrors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</a:rPr>
              <a:t>=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44</a:t>
            </a:r>
          </a:p>
          <a:p>
            <a:pPr marL="109728" indent="0">
              <a:buClrTx/>
              <a:buNone/>
            </a:pPr>
            <a:endParaRPr lang="en-US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8659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3345" y="23526"/>
            <a:ext cx="109728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4000" dirty="0" smtClean="0"/>
              <a:t/>
            </a:r>
            <a:br>
              <a:rPr lang="en-US" altLang="en-US" sz="4000" dirty="0" smtClean="0"/>
            </a:br>
            <a:endParaRPr lang="en-US" altLang="en-US" sz="40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3345" y="595026"/>
            <a:ext cx="11296073" cy="3329709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altLang="en-US" sz="1600" b="1" dirty="0"/>
              <a:t>The aligned bit stream is shorter than the original</a:t>
            </a:r>
            <a:r>
              <a:rPr lang="en-US" altLang="en-US" sz="1600" dirty="0"/>
              <a:t>.</a:t>
            </a:r>
          </a:p>
          <a:p>
            <a:pPr>
              <a:buClrTx/>
            </a:pPr>
            <a:endParaRPr lang="en-US" altLang="en-US" sz="1600" b="1" dirty="0"/>
          </a:p>
          <a:p>
            <a:pPr marL="109728" indent="0">
              <a:buClrTx/>
              <a:buNone/>
            </a:pPr>
            <a:r>
              <a:rPr lang="en-US" altLang="en-US" sz="1600" b="1" dirty="0" smtClean="0"/>
              <a:t>     </a:t>
            </a:r>
            <a:r>
              <a:rPr lang="en-US" altLang="en-US" sz="1600" b="1" dirty="0" err="1" smtClean="0"/>
              <a:t>numAlignedBits</a:t>
            </a:r>
            <a:r>
              <a:rPr lang="en-US" altLang="en-US" sz="1600" b="1" dirty="0" smtClean="0"/>
              <a:t> </a:t>
            </a:r>
            <a:r>
              <a:rPr lang="en-US" altLang="en-US" sz="1600" b="1" dirty="0"/>
              <a:t>= length(</a:t>
            </a:r>
            <a:r>
              <a:rPr lang="en-US" altLang="en-US" sz="1600" b="1" dirty="0" err="1"/>
              <a:t>srcAligned</a:t>
            </a:r>
            <a:r>
              <a:rPr lang="en-US" altLang="en-US" sz="1600" b="1" dirty="0"/>
              <a:t>)</a:t>
            </a:r>
          </a:p>
          <a:p>
            <a:pPr>
              <a:buClrTx/>
            </a:pPr>
            <a:endParaRPr lang="en-US" altLang="en-US" sz="1600" dirty="0"/>
          </a:p>
          <a:p>
            <a:pPr>
              <a:buClrTx/>
            </a:pPr>
            <a:r>
              <a:rPr lang="en-US" altLang="en-US" sz="1600" dirty="0"/>
              <a:t>To calculate the bit error rate, you need to divide the number of bit errors by the number of aligned bits</a:t>
            </a:r>
            <a:r>
              <a:rPr lang="en-US" altLang="en-US" sz="1600" dirty="0" smtClean="0"/>
              <a:t>.</a:t>
            </a:r>
          </a:p>
          <a:p>
            <a:pPr>
              <a:buClrTx/>
            </a:pPr>
            <a:endParaRPr lang="en-US" altLang="en-US" sz="1600" dirty="0"/>
          </a:p>
          <a:p>
            <a:pPr marL="109728" indent="0">
              <a:buClrTx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TASK</a:t>
            </a:r>
          </a:p>
          <a:p>
            <a:pPr>
              <a:buClrTx/>
            </a:pPr>
            <a:r>
              <a:rPr lang="en-US" altLang="en-US" sz="1600" dirty="0"/>
              <a:t>Calculate the bit error rate, and store it in the variable </a:t>
            </a:r>
            <a:r>
              <a:rPr lang="en-US" altLang="en-US" sz="1600" b="1" dirty="0"/>
              <a:t>BER</a:t>
            </a:r>
            <a:r>
              <a:rPr lang="en-US" altLang="en-US" sz="1600" dirty="0" smtClean="0"/>
              <a:t>.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 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numAlignedBits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>
                <a:solidFill>
                  <a:srgbClr val="0070C0"/>
                </a:solidFill>
              </a:rPr>
              <a:t>= length(</a:t>
            </a:r>
            <a:r>
              <a:rPr lang="en-US" altLang="en-US" sz="1600" b="1" dirty="0" err="1">
                <a:solidFill>
                  <a:srgbClr val="0070C0"/>
                </a:solidFill>
              </a:rPr>
              <a:t>srcAligned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);</a:t>
            </a: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0070C0"/>
                </a:solidFill>
              </a:rPr>
              <a:t>     BER </a:t>
            </a:r>
            <a:r>
              <a:rPr lang="en-US" altLang="en-US" sz="1600" b="1" dirty="0">
                <a:solidFill>
                  <a:srgbClr val="0070C0"/>
                </a:solidFill>
              </a:rPr>
              <a:t>= 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numBitErrors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/</a:t>
            </a:r>
            <a:r>
              <a:rPr lang="en-US" altLang="en-US" sz="1600" b="1" dirty="0" err="1" smtClean="0">
                <a:solidFill>
                  <a:srgbClr val="0070C0"/>
                </a:solidFill>
              </a:rPr>
              <a:t>numAlignedBits</a:t>
            </a:r>
            <a:endParaRPr lang="en-US" altLang="en-US" sz="1600" b="1" dirty="0" smtClean="0">
              <a:solidFill>
                <a:srgbClr val="0070C0"/>
              </a:solidFill>
            </a:endParaRPr>
          </a:p>
          <a:p>
            <a:pPr marL="109728" indent="0">
              <a:buClrTx/>
              <a:buNone/>
            </a:pPr>
            <a:endParaRPr lang="en-US" altLang="en-US" sz="1600" b="1" dirty="0" smtClean="0">
              <a:solidFill>
                <a:srgbClr val="0070C0"/>
              </a:solidFill>
            </a:endParaRPr>
          </a:p>
          <a:p>
            <a:pPr marL="109728" indent="0">
              <a:buClrTx/>
              <a:buNone/>
            </a:pPr>
            <a:r>
              <a:rPr lang="en-US" altLang="en-US" sz="1600" b="1" dirty="0" smtClean="0">
                <a:solidFill>
                  <a:srgbClr val="FF0000"/>
                </a:solidFill>
              </a:rPr>
              <a:t>     </a:t>
            </a:r>
            <a:r>
              <a:rPr lang="en-US" altLang="en-US" sz="1600" b="1" dirty="0">
                <a:solidFill>
                  <a:srgbClr val="FF0000"/>
                </a:solidFill>
              </a:rPr>
              <a:t>BER =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0.0022</a:t>
            </a:r>
          </a:p>
          <a:p>
            <a:pPr>
              <a:buClrTx/>
            </a:pPr>
            <a:endParaRPr lang="en-US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7722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Berlin">
  <a:themeElements>
    <a:clrScheme name="Custom 8">
      <a:dk1>
        <a:srgbClr val="6DAA2D"/>
      </a:dk1>
      <a:lt1>
        <a:sysClr val="window" lastClr="FFFFFF"/>
      </a:lt1>
      <a:dk2>
        <a:srgbClr val="17606F"/>
      </a:dk2>
      <a:lt2>
        <a:srgbClr val="E7E6E6"/>
      </a:lt2>
      <a:accent1>
        <a:srgbClr val="FFFFFF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C41D25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8826</TotalTime>
  <Words>1116</Words>
  <Application>Microsoft Office PowerPoint</Application>
  <PresentationFormat>Widescreen</PresentationFormat>
  <Paragraphs>199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Arial</vt:lpstr>
      <vt:lpstr>Calibri</vt:lpstr>
      <vt:lpstr>futura-pt-n7</vt:lpstr>
      <vt:lpstr>Helvetica</vt:lpstr>
      <vt:lpstr>Lucida Sans Unicode</vt:lpstr>
      <vt:lpstr>Menlo</vt:lpstr>
      <vt:lpstr>Times New Roman</vt:lpstr>
      <vt:lpstr>Trebuchet MS</vt:lpstr>
      <vt:lpstr>Verdana</vt:lpstr>
      <vt:lpstr>Wingdings</vt:lpstr>
      <vt:lpstr>Wingdings 2</vt:lpstr>
      <vt:lpstr>Wingdings 3</vt:lpstr>
      <vt:lpstr>Berlin</vt:lpstr>
      <vt:lpstr>Concourse</vt:lpstr>
      <vt:lpstr>Communication Design </vt:lpstr>
      <vt:lpstr>Course Outline:</vt:lpstr>
      <vt:lpstr> </vt:lpstr>
      <vt:lpstr>2- Pulse-Shaping Filters   Transmit and Receive Filters</vt:lpstr>
      <vt:lpstr>Task 1 </vt:lpstr>
      <vt:lpstr>Task 1 </vt:lpstr>
      <vt:lpstr>Task 2 </vt:lpstr>
      <vt:lpstr>Task 3 </vt:lpstr>
      <vt:lpstr>Task 4 </vt:lpstr>
      <vt:lpstr> </vt:lpstr>
      <vt:lpstr>2- Pulse-Shaping Filters   Filter Delay and BER Calculation</vt:lpstr>
      <vt:lpstr>Task 1 </vt:lpstr>
      <vt:lpstr>Task 1 </vt:lpstr>
      <vt:lpstr>Task 2 </vt:lpstr>
      <vt:lpstr>Task 3 </vt:lpstr>
      <vt:lpstr>Task 3 </vt:lpstr>
      <vt:lpstr>Task 4 </vt:lpstr>
      <vt:lpstr>Task 5 </vt:lpstr>
      <vt:lpstr>Task 6 </vt:lpstr>
    </vt:vector>
  </TitlesOfParts>
  <Company>Al-Qaisar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Ammar</dc:creator>
  <cp:lastModifiedBy>Ammar</cp:lastModifiedBy>
  <cp:revision>171</cp:revision>
  <dcterms:created xsi:type="dcterms:W3CDTF">2023-10-02T10:05:27Z</dcterms:created>
  <dcterms:modified xsi:type="dcterms:W3CDTF">2024-03-30T12:00:25Z</dcterms:modified>
</cp:coreProperties>
</file>