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8" r:id="rId1"/>
    <p:sldMasterId id="2147484206" r:id="rId2"/>
  </p:sldMasterIdLst>
  <p:notesMasterIdLst>
    <p:notesMasterId r:id="rId30"/>
  </p:notesMasterIdLst>
  <p:sldIdLst>
    <p:sldId id="271" r:id="rId3"/>
    <p:sldId id="272" r:id="rId4"/>
    <p:sldId id="302" r:id="rId5"/>
    <p:sldId id="347" r:id="rId6"/>
    <p:sldId id="320" r:id="rId7"/>
    <p:sldId id="314" r:id="rId8"/>
    <p:sldId id="321" r:id="rId9"/>
    <p:sldId id="323" r:id="rId10"/>
    <p:sldId id="325" r:id="rId11"/>
    <p:sldId id="326" r:id="rId12"/>
    <p:sldId id="327" r:id="rId13"/>
    <p:sldId id="324" r:id="rId14"/>
    <p:sldId id="328" r:id="rId15"/>
    <p:sldId id="329" r:id="rId16"/>
    <p:sldId id="331" r:id="rId17"/>
    <p:sldId id="332" r:id="rId18"/>
    <p:sldId id="337" r:id="rId19"/>
    <p:sldId id="330" r:id="rId20"/>
    <p:sldId id="338" r:id="rId21"/>
    <p:sldId id="339" r:id="rId22"/>
    <p:sldId id="341" r:id="rId23"/>
    <p:sldId id="342" r:id="rId24"/>
    <p:sldId id="343" r:id="rId25"/>
    <p:sldId id="344" r:id="rId26"/>
    <p:sldId id="346" r:id="rId27"/>
    <p:sldId id="345" r:id="rId28"/>
    <p:sldId id="34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6C1E05-4EA0-4B40-A596-1CFBDA5523D8}" type="datetimeFigureOut">
              <a:rPr lang="en-US" smtClean="0"/>
              <a:t>3/3/2024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175833-B9DE-4319-A13D-F99B8F81B187}" type="slidenum">
              <a:rPr lang="en-US" smtClean="0"/>
              <a:t>‹#›</a:t>
            </a:fld>
            <a:endParaRPr lang="en-US"/>
          </a:p>
        </p:txBody>
      </p:sp>
    </p:spTree>
    <p:extLst>
      <p:ext uri="{BB962C8B-B14F-4D97-AF65-F5344CB8AC3E}">
        <p14:creationId xmlns:p14="http://schemas.microsoft.com/office/powerpoint/2010/main" val="3209451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CC80245-7872-4A6F-B54D-234D3FB35212}" type="slidenum">
              <a:rPr lang="en-US" smtClean="0"/>
              <a:t>1</a:t>
            </a:fld>
            <a:endParaRPr lang="en-US"/>
          </a:p>
        </p:txBody>
      </p:sp>
    </p:spTree>
    <p:extLst>
      <p:ext uri="{BB962C8B-B14F-4D97-AF65-F5344CB8AC3E}">
        <p14:creationId xmlns:p14="http://schemas.microsoft.com/office/powerpoint/2010/main" val="2039119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1226542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274603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41149362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634470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8658341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10</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671025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694287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859245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185594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17</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137575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18</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8179534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19</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9628920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20</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570788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21</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1408517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22</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37260882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24</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998638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25</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599967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4E9B81-7543-4688-8A6E-8CE08F78F65E}" type="slidenum">
              <a:rPr lang="tr-TR" altLang="en-US"/>
              <a:pPr eaLnBrk="1" hangingPunct="1"/>
              <a:t>26</a:t>
            </a:fld>
            <a:endParaRPr lang="tr-TR" alt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p:spPr>
        <p:txBody>
          <a:bodyPr/>
          <a:lstStyle/>
          <a:p>
            <a:pPr eaLnBrk="1" hangingPunct="1"/>
            <a:endParaRPr lang="tr-TR" altLang="en-US" smtClean="0">
              <a:latin typeface="Arial" panose="020B0604020202020204" pitchFamily="34" charset="0"/>
            </a:endParaRPr>
          </a:p>
        </p:txBody>
      </p:sp>
    </p:spTree>
    <p:extLst>
      <p:ext uri="{BB962C8B-B14F-4D97-AF65-F5344CB8AC3E}">
        <p14:creationId xmlns:p14="http://schemas.microsoft.com/office/powerpoint/2010/main" val="23036027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3608187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95608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1327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65709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BF96EA4-2D53-4203-954D-CFC94D62B5A8}" type="datetimeFigureOut">
              <a:rPr lang="en-US" smtClean="0"/>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874216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BF96EA4-2D53-4203-954D-CFC94D62B5A8}"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11513928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0BF96EA4-2D53-4203-954D-CFC94D62B5A8}" type="datetimeFigureOut">
              <a:rPr lang="en-US" smtClean="0"/>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166240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948595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671591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56700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2341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0378117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416119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9878917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0BF96EA4-2D53-4203-954D-CFC94D62B5A8}"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5459860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1619910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22582015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BF96EA4-2D53-4203-954D-CFC94D62B5A8}" type="datetimeFigureOut">
              <a:rPr lang="en-US" smtClean="0"/>
              <a:t>3/3/2024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420419440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Title 6"/>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436356897"/>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52643427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
        <p:nvSpPr>
          <p:cNvPr id="8" name="Title 7"/>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3758215060"/>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0BF96EA4-2D53-4203-954D-CFC94D62B5A8}" type="datetimeFigureOut">
              <a:rPr lang="en-US" smtClean="0"/>
              <a:t>3/3/2024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735182881"/>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BF96EA4-2D53-4203-954D-CFC94D62B5A8}" type="datetimeFigureOut">
              <a:rPr lang="en-US" smtClean="0"/>
              <a:t>3/3/2024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B79782-ADA0-44BB-ABED-8390C1709453}" type="slidenum">
              <a:rPr lang="en-US" smtClean="0"/>
              <a:t>‹#›</a:t>
            </a:fld>
            <a:endParaRPr lang="en-US"/>
          </a:p>
        </p:txBody>
      </p:sp>
      <p:sp>
        <p:nvSpPr>
          <p:cNvPr id="6" name="Title 5"/>
          <p:cNvSpPr>
            <a:spLocks noGrp="1"/>
          </p:cNvSpPr>
          <p:nvPr>
            <p:ph type="title"/>
          </p:nvPr>
        </p:nvSpPr>
        <p:spPr/>
        <p:txBody>
          <a:bodyPr rtlCol="0"/>
          <a:lstStyle/>
          <a:p>
            <a:r>
              <a:rPr kumimoji="0" lang="en-US" smtClean="0"/>
              <a:t>Click to edit Master title style</a:t>
            </a:r>
            <a:endParaRPr kumimoji="0" lang="en-US"/>
          </a:p>
        </p:txBody>
      </p:sp>
    </p:spTree>
    <p:extLst>
      <p:ext uri="{BB962C8B-B14F-4D97-AF65-F5344CB8AC3E}">
        <p14:creationId xmlns:p14="http://schemas.microsoft.com/office/powerpoint/2010/main" val="1422548933"/>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F96EA4-2D53-4203-954D-CFC94D62B5A8}" type="datetimeFigureOut">
              <a:rPr lang="en-US" smtClean="0"/>
              <a:t>3/3/2024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25342529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80004406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BF96EA4-2D53-4203-954D-CFC94D62B5A8}" type="datetimeFigureOut">
              <a:rPr lang="en-US" smtClean="0"/>
              <a:t>3/3/2024</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2FB79782-ADA0-44BB-ABED-8390C1709453}" type="slidenum">
              <a:rPr lang="en-US" smtClean="0"/>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Right Triangle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2272677201"/>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3640773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BF96EA4-2D53-4203-954D-CFC94D62B5A8}" type="datetimeFigureOut">
              <a:rPr lang="en-US" smtClean="0"/>
              <a:t>3/3/2024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B79782-ADA0-44BB-ABED-8390C1709453}" type="slidenum">
              <a:rPr lang="en-US" smtClean="0"/>
              <a:t>‹#›</a:t>
            </a:fld>
            <a:endParaRPr lang="en-US"/>
          </a:p>
        </p:txBody>
      </p:sp>
    </p:spTree>
    <p:extLst>
      <p:ext uri="{BB962C8B-B14F-4D97-AF65-F5344CB8AC3E}">
        <p14:creationId xmlns:p14="http://schemas.microsoft.com/office/powerpoint/2010/main" val="347133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image" Target="../media/image4.jpe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BF96EA4-2D53-4203-954D-CFC94D62B5A8}" type="datetimeFigureOut">
              <a:rPr lang="en-US" smtClean="0"/>
              <a:t>3/3/2024</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FB79782-ADA0-44BB-ABED-8390C1709453}" type="slidenum">
              <a:rPr lang="en-US" smtClean="0"/>
              <a:t>‹#›</a:t>
            </a:fld>
            <a:endParaRPr lang="en-US"/>
          </a:p>
        </p:txBody>
      </p:sp>
    </p:spTree>
    <p:extLst>
      <p:ext uri="{BB962C8B-B14F-4D97-AF65-F5344CB8AC3E}">
        <p14:creationId xmlns:p14="http://schemas.microsoft.com/office/powerpoint/2010/main" val="1312402181"/>
      </p:ext>
    </p:extLst>
  </p:cSld>
  <p:clrMap bg1="dk1" tx1="lt1" bg2="dk2" tx2="lt2" accent1="accent1" accent2="accent2" accent3="accent3" accent4="accent4" accent5="accent5" accent6="accent6" hlink="hlink" folHlink="folHlink"/>
  <p:sldLayoutIdLst>
    <p:sldLayoutId id="2147484189" r:id="rId1"/>
    <p:sldLayoutId id="2147484190" r:id="rId2"/>
    <p:sldLayoutId id="2147484191" r:id="rId3"/>
    <p:sldLayoutId id="2147484192" r:id="rId4"/>
    <p:sldLayoutId id="2147484193" r:id="rId5"/>
    <p:sldLayoutId id="2147484194" r:id="rId6"/>
    <p:sldLayoutId id="2147484195" r:id="rId7"/>
    <p:sldLayoutId id="2147484196" r:id="rId8"/>
    <p:sldLayoutId id="2147484197" r:id="rId9"/>
    <p:sldLayoutId id="2147484198" r:id="rId10"/>
    <p:sldLayoutId id="2147484199" r:id="rId11"/>
    <p:sldLayoutId id="2147484200" r:id="rId12"/>
    <p:sldLayoutId id="2147484201" r:id="rId13"/>
    <p:sldLayoutId id="2147484202" r:id="rId14"/>
    <p:sldLayoutId id="2147484203" r:id="rId15"/>
    <p:sldLayoutId id="2147484204" r:id="rId16"/>
    <p:sldLayoutId id="214748420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0BF96EA4-2D53-4203-954D-CFC94D62B5A8}" type="datetimeFigureOut">
              <a:rPr lang="en-US" smtClean="0"/>
              <a:t>3/3/2024</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2FB79782-ADA0-44BB-ABED-8390C1709453}" type="slidenum">
              <a:rPr lang="en-US" smtClean="0"/>
              <a:t>‹#›</a:t>
            </a:fld>
            <a:endParaRPr lang="en-US"/>
          </a:p>
        </p:txBody>
      </p:sp>
    </p:spTree>
    <p:extLst>
      <p:ext uri="{BB962C8B-B14F-4D97-AF65-F5344CB8AC3E}">
        <p14:creationId xmlns:p14="http://schemas.microsoft.com/office/powerpoint/2010/main" val="2091053518"/>
      </p:ext>
    </p:extLst>
  </p:cSld>
  <p:clrMap bg1="lt1" tx1="dk1" bg2="lt2" tx2="dk2" accent1="accent1" accent2="accent2" accent3="accent3" accent4="accent4" accent5="accent5" accent6="accent6" hlink="hlink" folHlink="folHlink"/>
  <p:sldLayoutIdLst>
    <p:sldLayoutId id="2147484207" r:id="rId1"/>
    <p:sldLayoutId id="2147484208" r:id="rId2"/>
    <p:sldLayoutId id="2147484209" r:id="rId3"/>
    <p:sldLayoutId id="2147484210" r:id="rId4"/>
    <p:sldLayoutId id="2147484211" r:id="rId5"/>
    <p:sldLayoutId id="2147484212" r:id="rId6"/>
    <p:sldLayoutId id="2147484213" r:id="rId7"/>
    <p:sldLayoutId id="2147484214" r:id="rId8"/>
    <p:sldLayoutId id="2147484215" r:id="rId9"/>
    <p:sldLayoutId id="2147484216" r:id="rId10"/>
    <p:sldLayoutId id="2147484217" r:id="rId11"/>
  </p:sldLayoutIdLst>
  <mc:AlternateContent xmlns:mc="http://schemas.openxmlformats.org/markup-compatibility/2006" xmlns:p14="http://schemas.microsoft.com/office/powerpoint/2010/main">
    <mc:Choice Requires="p14">
      <p:transition spd="slow" p14:dur="2000">
        <p:sndAc>
          <p:endSnd/>
        </p:sndAc>
      </p:transition>
    </mc:Choice>
    <mc:Fallback xmlns="">
      <p:transition spd="slow">
        <p:sndAc>
          <p:endSnd/>
        </p:sndAc>
      </p:transition>
    </mc:Fallback>
  </mc:AlternateContent>
  <p:timing>
    <p:tnLst>
      <p:par>
        <p:cTn id="1" dur="indefinite" restart="never" nodeType="tmRoot"/>
      </p:par>
    </p:tnLst>
  </p:timing>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19.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Autofit/>
          </a:bodyPr>
          <a:lstStyle/>
          <a:p>
            <a:pPr algn="ctr"/>
            <a:r>
              <a:rPr lang="en-US" b="1" dirty="0" smtClean="0">
                <a:solidFill>
                  <a:schemeClr val="bg2">
                    <a:lumMod val="50000"/>
                  </a:schemeClr>
                </a:solidFill>
              </a:rPr>
              <a:t>Communication Design </a:t>
            </a:r>
            <a:endParaRPr lang="en-US" b="1" dirty="0">
              <a:solidFill>
                <a:schemeClr val="bg2">
                  <a:lumMod val="50000"/>
                </a:schemeClr>
              </a:solidFill>
            </a:endParaRPr>
          </a:p>
        </p:txBody>
      </p:sp>
      <p:sp>
        <p:nvSpPr>
          <p:cNvPr id="3" name="Subtitle 2"/>
          <p:cNvSpPr>
            <a:spLocks noGrp="1"/>
          </p:cNvSpPr>
          <p:nvPr>
            <p:ph type="subTitle" idx="1"/>
          </p:nvPr>
        </p:nvSpPr>
        <p:spPr>
          <a:xfrm>
            <a:off x="680322" y="4624948"/>
            <a:ext cx="8144134" cy="1117687"/>
          </a:xfrm>
        </p:spPr>
        <p:txBody>
          <a:bodyPr>
            <a:normAutofit fontScale="77500" lnSpcReduction="20000"/>
          </a:bodyPr>
          <a:lstStyle/>
          <a:p>
            <a:r>
              <a:rPr lang="en-US" sz="3300" b="1" dirty="0" smtClean="0">
                <a:solidFill>
                  <a:srgbClr val="FFFF00"/>
                </a:solidFill>
              </a:rPr>
              <a:t># </a:t>
            </a:r>
            <a:r>
              <a:rPr lang="en-US" sz="3300" b="1" dirty="0" smtClean="0">
                <a:solidFill>
                  <a:srgbClr val="FFFF00"/>
                </a:solidFill>
              </a:rPr>
              <a:t>LAB.3              </a:t>
            </a:r>
            <a:r>
              <a:rPr lang="en-US" sz="3300" b="1" dirty="0">
                <a:solidFill>
                  <a:srgbClr val="FFFF00"/>
                </a:solidFill>
              </a:rPr>
              <a:t>Preprocessing Signals </a:t>
            </a:r>
          </a:p>
          <a:p>
            <a:endParaRPr lang="en-US" sz="2800" b="1" dirty="0" smtClean="0">
              <a:solidFill>
                <a:srgbClr val="FFFF00"/>
              </a:solidFill>
            </a:endParaRPr>
          </a:p>
          <a:p>
            <a:r>
              <a:rPr lang="en-US" sz="2800" b="1" dirty="0" smtClean="0">
                <a:solidFill>
                  <a:srgbClr val="FFFF00"/>
                </a:solidFill>
              </a:rPr>
              <a:t>Ass.Lec.Ammar Alabbassi</a:t>
            </a:r>
            <a:endParaRPr lang="en-US" sz="2800" b="1" dirty="0">
              <a:solidFill>
                <a:srgbClr val="FFFF00"/>
              </a:solidFill>
            </a:endParaRPr>
          </a:p>
        </p:txBody>
      </p:sp>
      <p:pic>
        <p:nvPicPr>
          <p:cNvPr id="4" name="Picture 3"/>
          <p:cNvPicPr>
            <a:picLocks noChangeAspect="1"/>
          </p:cNvPicPr>
          <p:nvPr/>
        </p:nvPicPr>
        <p:blipFill>
          <a:blip r:embed="rId3"/>
          <a:stretch>
            <a:fillRect/>
          </a:stretch>
        </p:blipFill>
        <p:spPr>
          <a:xfrm>
            <a:off x="680322" y="287033"/>
            <a:ext cx="2257425" cy="202882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82944" y="393832"/>
            <a:ext cx="1434354" cy="143435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373926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marL="838200" indent="-838200"/>
            <a:r>
              <a:rPr lang="en-US" altLang="en-US" dirty="0" smtClean="0">
                <a:solidFill>
                  <a:srgbClr val="FF0000"/>
                </a:solidFill>
                <a:latin typeface="Times New Roman" panose="02020603050405020304" pitchFamily="18" charset="0"/>
                <a:cs typeface="Times New Roman" panose="02020603050405020304" pitchFamily="18" charset="0"/>
              </a:rPr>
              <a:t>Outline:</a:t>
            </a:r>
            <a:endParaRPr lang="tr-TR" altLang="en-US" dirty="0" smtClean="0">
              <a:solidFill>
                <a:srgbClr val="FF0000"/>
              </a:solidFill>
              <a:latin typeface="Times New Roman" panose="02020603050405020304" pitchFamily="18" charset="0"/>
              <a:cs typeface="Times New Roman" panose="02020603050405020304" pitchFamily="18" charset="0"/>
            </a:endParaRPr>
          </a:p>
        </p:txBody>
      </p:sp>
      <p:sp>
        <p:nvSpPr>
          <p:cNvPr id="4099" name="Rectangle 3"/>
          <p:cNvSpPr>
            <a:spLocks noGrp="1" noChangeArrowheads="1"/>
          </p:cNvSpPr>
          <p:nvPr>
            <p:ph type="body" idx="1"/>
          </p:nvPr>
        </p:nvSpPr>
        <p:spPr>
          <a:xfrm>
            <a:off x="1136073" y="1371600"/>
            <a:ext cx="9352541" cy="4248150"/>
          </a:xfrm>
        </p:spPr>
        <p:txBody>
          <a:bodyPr>
            <a:normAutofit/>
          </a:bodyPr>
          <a:lstStyle/>
          <a:p>
            <a:pPr marL="109728" indent="0" algn="ctr">
              <a:lnSpc>
                <a:spcPct val="150000"/>
              </a:lnSpc>
              <a:buNone/>
            </a:pPr>
            <a:r>
              <a:rPr lang="en-US" altLang="en-US" sz="2800" b="1" dirty="0" smtClean="0">
                <a:latin typeface="Times New Roman" panose="02020603050405020304" pitchFamily="18" charset="0"/>
                <a:cs typeface="Times New Roman" panose="02020603050405020304" pitchFamily="18" charset="0"/>
              </a:rPr>
              <a:t>Preprocessing signals </a:t>
            </a:r>
            <a:endParaRPr lang="en-US" altLang="en-US" sz="2800" b="1" dirty="0">
              <a:latin typeface="Times New Roman" panose="02020603050405020304" pitchFamily="18" charset="0"/>
              <a:cs typeface="Times New Roman" panose="02020603050405020304" pitchFamily="18" charset="0"/>
            </a:endParaRPr>
          </a:p>
          <a:p>
            <a:pPr>
              <a:lnSpc>
                <a:spcPct val="150000"/>
              </a:lnSpc>
            </a:pPr>
            <a:r>
              <a:rPr lang="en-US" altLang="en-US" sz="2800" dirty="0" smtClean="0">
                <a:latin typeface="Times New Roman" panose="02020603050405020304" pitchFamily="18" charset="0"/>
                <a:cs typeface="Times New Roman" panose="02020603050405020304" pitchFamily="18" charset="0"/>
              </a:rPr>
              <a:t>Resample Signals</a:t>
            </a:r>
          </a:p>
          <a:p>
            <a:pPr>
              <a:lnSpc>
                <a:spcPct val="150000"/>
              </a:lnSpc>
            </a:pPr>
            <a:r>
              <a:rPr lang="en-US" altLang="en-US" sz="2800" dirty="0">
                <a:latin typeface="Times New Roman" panose="02020603050405020304" pitchFamily="18" charset="0"/>
                <a:cs typeface="Times New Roman" panose="02020603050405020304" pitchFamily="18" charset="0"/>
              </a:rPr>
              <a:t>Extract Interesting Regions</a:t>
            </a:r>
            <a:endParaRPr lang="en-US" altLang="en-US" sz="2800" dirty="0" smtClean="0">
              <a:latin typeface="Times New Roman" panose="02020603050405020304" pitchFamily="18" charset="0"/>
              <a:cs typeface="Times New Roman" panose="02020603050405020304" pitchFamily="18" charset="0"/>
            </a:endParaRPr>
          </a:p>
          <a:p>
            <a:pPr>
              <a:lnSpc>
                <a:spcPct val="150000"/>
              </a:lnSpc>
            </a:pPr>
            <a:r>
              <a:rPr lang="en-US" altLang="en-US" sz="2800" dirty="0">
                <a:latin typeface="Times New Roman" panose="02020603050405020304" pitchFamily="18" charset="0"/>
                <a:cs typeface="Times New Roman" panose="02020603050405020304" pitchFamily="18" charset="0"/>
              </a:rPr>
              <a:t>Custom Preprocessing Function</a:t>
            </a:r>
            <a:endParaRPr lang="en-US" altLang="en-US" sz="2800" dirty="0" smtClean="0">
              <a:latin typeface="Times New Roman" panose="02020603050405020304" pitchFamily="18" charset="0"/>
              <a:cs typeface="Times New Roman" panose="02020603050405020304" pitchFamily="18" charset="0"/>
            </a:endParaRPr>
          </a:p>
          <a:p>
            <a:pPr>
              <a:lnSpc>
                <a:spcPct val="150000"/>
              </a:lnSpc>
            </a:pPr>
            <a:r>
              <a:rPr lang="en-US" altLang="en-US" sz="2800" dirty="0">
                <a:latin typeface="Times New Roman" panose="02020603050405020304" pitchFamily="18" charset="0"/>
                <a:cs typeface="Times New Roman" panose="02020603050405020304" pitchFamily="18" charset="0"/>
              </a:rPr>
              <a:t>Align Signals</a:t>
            </a:r>
            <a:endParaRPr lang="en-US" altLang="en-US" sz="2800" dirty="0" smtClean="0">
              <a:latin typeface="Times New Roman" panose="02020603050405020304" pitchFamily="18" charset="0"/>
              <a:cs typeface="Times New Roman" panose="02020603050405020304" pitchFamily="18" charset="0"/>
            </a:endParaRPr>
          </a:p>
          <a:p>
            <a:pPr>
              <a:lnSpc>
                <a:spcPct val="150000"/>
              </a:lnSpc>
            </a:pPr>
            <a:endParaRPr lang="en-US" altLang="en-US" sz="28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2955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Signal Processing Overview</a:t>
            </a:r>
            <a:r>
              <a:rPr lang="en-US" dirty="0"/>
              <a:t/>
            </a:r>
            <a:br>
              <a:rPr lang="en-US" dirty="0"/>
            </a:br>
            <a:endParaRPr lang="en-US" dirty="0"/>
          </a:p>
        </p:txBody>
      </p:sp>
      <p:pic>
        <p:nvPicPr>
          <p:cNvPr id="3074" name="Picture 2" descr="https://lcms-files.mathworks.com/content/file/add2eec8-5f8f-44e7-b78d-0cb3968351cc/workflow.jpg?versionId=MuaULEmL0BUzFIlHY._fTA4k5nSj170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9004" y="1935626"/>
            <a:ext cx="3827541" cy="41122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84242" y="1108101"/>
            <a:ext cx="7864762" cy="4939814"/>
          </a:xfrm>
          <a:prstGeom prst="rect">
            <a:avLst/>
          </a:prstGeom>
        </p:spPr>
        <p:txBody>
          <a:bodyPr wrap="square">
            <a:spAutoFit/>
          </a:bodyPr>
          <a:lstStyle/>
          <a:p>
            <a:pPr algn="just" fontAlgn="base">
              <a:lnSpc>
                <a:spcPct val="250000"/>
              </a:lnSpc>
              <a:buFont typeface="+mj-lt"/>
              <a:buAutoNum type="arabicPeriod"/>
            </a:pPr>
            <a:r>
              <a:rPr lang="en-US" dirty="0">
                <a:solidFill>
                  <a:srgbClr val="00B050"/>
                </a:solidFill>
                <a:latin typeface="Arial" panose="020B0604020202020204" pitchFamily="34" charset="0"/>
              </a:rPr>
              <a:t>Generate </a:t>
            </a:r>
            <a:r>
              <a:rPr lang="en-US" dirty="0" smtClean="0">
                <a:solidFill>
                  <a:srgbClr val="00B050"/>
                </a:solidFill>
                <a:latin typeface="Arial" panose="020B0604020202020204" pitchFamily="34" charset="0"/>
              </a:rPr>
              <a:t>signals……………………..done</a:t>
            </a:r>
            <a:endParaRPr lang="en-US" dirty="0">
              <a:solidFill>
                <a:srgbClr val="00B050"/>
              </a:solidFill>
              <a:latin typeface="Arial" panose="020B0604020202020204" pitchFamily="34" charset="0"/>
            </a:endParaRPr>
          </a:p>
          <a:p>
            <a:pPr algn="just" fontAlgn="base">
              <a:lnSpc>
                <a:spcPct val="250000"/>
              </a:lnSpc>
              <a:buFont typeface="+mj-lt"/>
              <a:buAutoNum type="arabicPeriod"/>
            </a:pPr>
            <a:r>
              <a:rPr lang="en-US" dirty="0" smtClean="0">
                <a:solidFill>
                  <a:srgbClr val="00B050"/>
                </a:solidFill>
                <a:latin typeface="Arial" panose="020B0604020202020204" pitchFamily="34" charset="0"/>
              </a:rPr>
              <a:t>Import </a:t>
            </a:r>
            <a:r>
              <a:rPr lang="en-US" dirty="0">
                <a:solidFill>
                  <a:srgbClr val="00B050"/>
                </a:solidFill>
                <a:latin typeface="Arial" panose="020B0604020202020204" pitchFamily="34" charset="0"/>
              </a:rPr>
              <a:t>the signals into </a:t>
            </a:r>
            <a:r>
              <a:rPr lang="en-US" dirty="0" smtClean="0">
                <a:solidFill>
                  <a:srgbClr val="00B050"/>
                </a:solidFill>
                <a:latin typeface="Arial" panose="020B0604020202020204" pitchFamily="34" charset="0"/>
              </a:rPr>
              <a:t>MATLAB…………………done</a:t>
            </a:r>
          </a:p>
          <a:p>
            <a:pPr algn="just" fontAlgn="base">
              <a:lnSpc>
                <a:spcPct val="250000"/>
              </a:lnSpc>
              <a:buFont typeface="+mj-lt"/>
              <a:buAutoNum type="arabicPeriod"/>
            </a:pPr>
            <a:r>
              <a:rPr lang="en-US" dirty="0" smtClean="0">
                <a:solidFill>
                  <a:srgbClr val="FF0000"/>
                </a:solidFill>
                <a:latin typeface="Arial" panose="020B0604020202020204" pitchFamily="34" charset="0"/>
              </a:rPr>
              <a:t>Preprocess the signals in the time domain to prepare them for analysis</a:t>
            </a:r>
          </a:p>
          <a:p>
            <a:pPr algn="just" fontAlgn="base">
              <a:lnSpc>
                <a:spcPct val="250000"/>
              </a:lnSpc>
              <a:buFont typeface="+mj-lt"/>
              <a:buAutoNum type="arabicPeriod"/>
            </a:pPr>
            <a:r>
              <a:rPr lang="en-US" dirty="0" smtClean="0">
                <a:solidFill>
                  <a:srgbClr val="212121"/>
                </a:solidFill>
                <a:latin typeface="Arial" panose="020B0604020202020204" pitchFamily="34" charset="0"/>
              </a:rPr>
              <a:t>Look at the power spectrum in the frequency domain</a:t>
            </a:r>
          </a:p>
          <a:p>
            <a:pPr algn="just" fontAlgn="base">
              <a:lnSpc>
                <a:spcPct val="250000"/>
              </a:lnSpc>
              <a:buFont typeface="+mj-lt"/>
              <a:buAutoNum type="arabicPeriod"/>
            </a:pPr>
            <a:r>
              <a:rPr lang="en-US" dirty="0" smtClean="0">
                <a:solidFill>
                  <a:srgbClr val="212121"/>
                </a:solidFill>
                <a:latin typeface="Arial" panose="020B0604020202020204" pitchFamily="34" charset="0"/>
              </a:rPr>
              <a:t>Filter </a:t>
            </a:r>
            <a:r>
              <a:rPr lang="en-US" dirty="0">
                <a:solidFill>
                  <a:srgbClr val="212121"/>
                </a:solidFill>
                <a:latin typeface="Arial" panose="020B0604020202020204" pitchFamily="34" charset="0"/>
              </a:rPr>
              <a:t>the signals to keep only relevant frequency content</a:t>
            </a:r>
          </a:p>
          <a:p>
            <a:pPr algn="just" fontAlgn="base">
              <a:lnSpc>
                <a:spcPct val="250000"/>
              </a:lnSpc>
              <a:buFont typeface="+mj-lt"/>
              <a:buAutoNum type="arabicPeriod"/>
            </a:pPr>
            <a:r>
              <a:rPr lang="en-US" dirty="0">
                <a:solidFill>
                  <a:srgbClr val="212121"/>
                </a:solidFill>
                <a:latin typeface="Arial" panose="020B0604020202020204" pitchFamily="34" charset="0"/>
              </a:rPr>
              <a:t>Revisit earlier steps in the process to refine your algorithm</a:t>
            </a:r>
          </a:p>
          <a:p>
            <a:pPr algn="just" fontAlgn="base">
              <a:lnSpc>
                <a:spcPct val="250000"/>
              </a:lnSpc>
              <a:buFont typeface="+mj-lt"/>
              <a:buAutoNum type="arabicPeriod"/>
            </a:pPr>
            <a:r>
              <a:rPr lang="en-US" dirty="0">
                <a:solidFill>
                  <a:srgbClr val="212121"/>
                </a:solidFill>
                <a:latin typeface="Arial" panose="020B0604020202020204" pitchFamily="34" charset="0"/>
              </a:rPr>
              <a:t>Extract information from the signals or deploy your algorithm to hardware</a:t>
            </a:r>
            <a:endParaRPr lang="en-US" b="0" i="0" dirty="0">
              <a:solidFill>
                <a:srgbClr val="212121"/>
              </a:solidFill>
              <a:effectLst/>
              <a:latin typeface="Arial" panose="020B0604020202020204" pitchFamily="34" charset="0"/>
            </a:endParaRPr>
          </a:p>
        </p:txBody>
      </p:sp>
      <p:sp>
        <p:nvSpPr>
          <p:cNvPr id="5" name="Rounded Rectangle 4"/>
          <p:cNvSpPr/>
          <p:nvPr/>
        </p:nvSpPr>
        <p:spPr>
          <a:xfrm>
            <a:off x="9467276" y="1076039"/>
            <a:ext cx="1390993" cy="513002"/>
          </a:xfrm>
          <a:prstGeom prst="roundRect">
            <a:avLst/>
          </a:prstGeom>
          <a:solidFill>
            <a:schemeClr val="accent4">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smtClean="0"/>
              <a:t>Generate signals</a:t>
            </a:r>
            <a:endParaRPr lang="en-US" sz="1600" dirty="0"/>
          </a:p>
        </p:txBody>
      </p:sp>
      <p:cxnSp>
        <p:nvCxnSpPr>
          <p:cNvPr id="7" name="Straight Arrow Connector 6"/>
          <p:cNvCxnSpPr/>
          <p:nvPr/>
        </p:nvCxnSpPr>
        <p:spPr>
          <a:xfrm>
            <a:off x="10162770" y="1641489"/>
            <a:ext cx="2" cy="336385"/>
          </a:xfrm>
          <a:prstGeom prst="straightConnector1">
            <a:avLst/>
          </a:prstGeom>
          <a:ln w="38100" cap="flat" cmpd="sng" algn="ctr">
            <a:solidFill>
              <a:schemeClr val="accent3"/>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225363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Quiz</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296073" cy="3329709"/>
          </a:xfrm>
        </p:spPr>
        <p:txBody>
          <a:bodyPr>
            <a:noAutofit/>
          </a:bodyPr>
          <a:lstStyle/>
          <a:p>
            <a:pPr marL="109728" indent="0">
              <a:buNone/>
            </a:pPr>
            <a:r>
              <a:rPr lang="en-US" altLang="en-US" sz="2000" b="1" dirty="0" smtClean="0"/>
              <a:t>1- Specify </a:t>
            </a:r>
            <a:r>
              <a:rPr lang="en-US" altLang="en-US" sz="2000" b="1" dirty="0"/>
              <a:t>a sample rate of </a:t>
            </a:r>
            <a:r>
              <a:rPr lang="en-US" altLang="en-US" sz="2000" b="1" dirty="0" smtClean="0">
                <a:solidFill>
                  <a:srgbClr val="FF0000"/>
                </a:solidFill>
              </a:rPr>
              <a:t>300 </a:t>
            </a:r>
            <a:r>
              <a:rPr lang="en-US" altLang="en-US" sz="2000" b="1" dirty="0">
                <a:solidFill>
                  <a:srgbClr val="FF0000"/>
                </a:solidFill>
              </a:rPr>
              <a:t>Hz </a:t>
            </a:r>
            <a:r>
              <a:rPr lang="en-US" altLang="en-US" sz="2000" b="1" dirty="0"/>
              <a:t>in a variable named </a:t>
            </a:r>
            <a:r>
              <a:rPr lang="en-US" altLang="en-US" sz="2000" b="1" dirty="0">
                <a:solidFill>
                  <a:srgbClr val="FF0000"/>
                </a:solidFill>
              </a:rPr>
              <a:t>fs</a:t>
            </a:r>
            <a:r>
              <a:rPr lang="en-US" altLang="en-US" sz="2000" b="1" dirty="0"/>
              <a:t>. Then create a signal named </a:t>
            </a:r>
            <a:r>
              <a:rPr lang="en-US" altLang="en-US" sz="2000" b="1" dirty="0" smtClean="0">
                <a:solidFill>
                  <a:srgbClr val="FF0000"/>
                </a:solidFill>
              </a:rPr>
              <a:t>(</a:t>
            </a:r>
            <a:r>
              <a:rPr lang="en-US" altLang="en-US" sz="2400" b="1" dirty="0" smtClean="0">
                <a:solidFill>
                  <a:srgbClr val="FF0000"/>
                </a:solidFill>
              </a:rPr>
              <a:t>t)</a:t>
            </a:r>
            <a:r>
              <a:rPr lang="en-US" altLang="en-US" sz="2000" b="1" dirty="0" smtClean="0">
                <a:solidFill>
                  <a:srgbClr val="FF0000"/>
                </a:solidFill>
              </a:rPr>
              <a:t> </a:t>
            </a:r>
            <a:r>
              <a:rPr lang="en-US" altLang="en-US" sz="2000" b="1" dirty="0"/>
              <a:t>that extends from </a:t>
            </a:r>
            <a:r>
              <a:rPr lang="en-US" altLang="en-US" sz="2000" b="1" dirty="0" smtClean="0"/>
              <a:t>  </a:t>
            </a:r>
            <a:r>
              <a:rPr lang="en-US" altLang="en-US" sz="2000" b="1" dirty="0" smtClean="0">
                <a:solidFill>
                  <a:srgbClr val="FF0000"/>
                </a:solidFill>
              </a:rPr>
              <a:t>0 </a:t>
            </a:r>
            <a:r>
              <a:rPr lang="en-US" altLang="en-US" sz="2000" b="1" dirty="0">
                <a:solidFill>
                  <a:srgbClr val="FF0000"/>
                </a:solidFill>
              </a:rPr>
              <a:t>seconds to </a:t>
            </a:r>
            <a:r>
              <a:rPr lang="en-US" altLang="en-US" sz="2000" b="1" dirty="0" smtClean="0">
                <a:solidFill>
                  <a:srgbClr val="FF0000"/>
                </a:solidFill>
              </a:rPr>
              <a:t>15 </a:t>
            </a:r>
            <a:r>
              <a:rPr lang="en-US" altLang="en-US" sz="2000" b="1" dirty="0">
                <a:solidFill>
                  <a:srgbClr val="FF0000"/>
                </a:solidFill>
              </a:rPr>
              <a:t>second</a:t>
            </a:r>
            <a:r>
              <a:rPr lang="en-US" altLang="en-US" sz="2000" b="1" dirty="0"/>
              <a:t>, with time steps that are </a:t>
            </a:r>
            <a:r>
              <a:rPr lang="en-US" altLang="en-US" sz="2000" b="1" dirty="0">
                <a:solidFill>
                  <a:srgbClr val="FF0000"/>
                </a:solidFill>
              </a:rPr>
              <a:t>1/fs</a:t>
            </a:r>
            <a:r>
              <a:rPr lang="en-US" altLang="en-US" sz="2000" b="1" dirty="0"/>
              <a:t>. </a:t>
            </a:r>
            <a:endParaRPr lang="en-US" altLang="en-US" sz="2000" b="1" dirty="0" smtClean="0"/>
          </a:p>
          <a:p>
            <a:pPr marL="109728" indent="0">
              <a:buNone/>
            </a:pPr>
            <a:endParaRPr lang="en-US" altLang="en-US" sz="2000" b="1" dirty="0" smtClean="0"/>
          </a:p>
          <a:p>
            <a:pPr marL="109728" indent="0">
              <a:buNone/>
            </a:pPr>
            <a:r>
              <a:rPr lang="en-US" altLang="en-US" sz="2000" b="1" dirty="0" smtClean="0"/>
              <a:t>2- Create </a:t>
            </a:r>
            <a:r>
              <a:rPr lang="en-US" altLang="en-US" sz="2000" b="1" dirty="0"/>
              <a:t>a </a:t>
            </a:r>
            <a:r>
              <a:rPr lang="en-US" altLang="en-US" sz="2000" b="1" dirty="0" smtClean="0">
                <a:solidFill>
                  <a:srgbClr val="FF0000"/>
                </a:solidFill>
              </a:rPr>
              <a:t>2</a:t>
            </a:r>
            <a:r>
              <a:rPr lang="en-US" altLang="en-US" sz="2000" b="1" dirty="0">
                <a:solidFill>
                  <a:srgbClr val="FF0000"/>
                </a:solidFill>
              </a:rPr>
              <a:t> Hz </a:t>
            </a:r>
            <a:r>
              <a:rPr lang="en-US" altLang="en-US" sz="2000" b="1" dirty="0"/>
              <a:t>sine signal named </a:t>
            </a:r>
            <a:r>
              <a:rPr lang="en-US" altLang="en-US" sz="2000" b="1" dirty="0" smtClean="0">
                <a:solidFill>
                  <a:srgbClr val="FF0000"/>
                </a:solidFill>
              </a:rPr>
              <a:t>(sig)</a:t>
            </a:r>
            <a:r>
              <a:rPr lang="en-US" altLang="en-US" sz="2000" b="1" dirty="0"/>
              <a:t> at the sample times in </a:t>
            </a:r>
            <a:r>
              <a:rPr lang="en-US" altLang="en-US" sz="2000" b="1" dirty="0" smtClean="0">
                <a:solidFill>
                  <a:srgbClr val="FF0000"/>
                </a:solidFill>
              </a:rPr>
              <a:t>t</a:t>
            </a:r>
            <a:r>
              <a:rPr lang="en-US" altLang="en-US" sz="2000" b="1" dirty="0" smtClean="0"/>
              <a:t>.</a:t>
            </a:r>
          </a:p>
          <a:p>
            <a:pPr marL="109728" indent="0">
              <a:buNone/>
            </a:pPr>
            <a:endParaRPr lang="en-US" altLang="en-US" sz="2000" b="1" dirty="0" smtClean="0"/>
          </a:p>
          <a:p>
            <a:pPr marL="109728" indent="0">
              <a:buNone/>
            </a:pPr>
            <a:r>
              <a:rPr lang="en-US" altLang="en-US" sz="2000" b="1" dirty="0"/>
              <a:t>3- Create a vector of normally distributed random numbers named </a:t>
            </a:r>
            <a:r>
              <a:rPr lang="en-US" altLang="en-US" sz="2000" b="1" dirty="0">
                <a:solidFill>
                  <a:srgbClr val="FF0000"/>
                </a:solidFill>
              </a:rPr>
              <a:t>noise</a:t>
            </a:r>
            <a:r>
              <a:rPr lang="en-US" altLang="en-US" sz="2000" b="1" dirty="0"/>
              <a:t> that is the same size as </a:t>
            </a:r>
            <a:r>
              <a:rPr lang="en-US" altLang="en-US" sz="2000" b="1" dirty="0" smtClean="0">
                <a:solidFill>
                  <a:srgbClr val="FF0000"/>
                </a:solidFill>
              </a:rPr>
              <a:t>(sig) </a:t>
            </a:r>
            <a:r>
              <a:rPr lang="en-US" altLang="en-US" sz="2000" b="1" dirty="0"/>
              <a:t>and will </a:t>
            </a:r>
            <a:r>
              <a:rPr lang="en-US" altLang="en-US" sz="2000" b="1" dirty="0" smtClean="0"/>
              <a:t> be </a:t>
            </a:r>
            <a:r>
              <a:rPr lang="en-US" altLang="en-US" sz="2000" b="1" dirty="0"/>
              <a:t>added to the original signal </a:t>
            </a:r>
            <a:r>
              <a:rPr lang="en-US" altLang="en-US" sz="2000" b="1" dirty="0">
                <a:solidFill>
                  <a:srgbClr val="FF0000"/>
                </a:solidFill>
              </a:rPr>
              <a:t>(sig) </a:t>
            </a:r>
            <a:r>
              <a:rPr lang="en-US" altLang="en-US" sz="2000" b="1" dirty="0"/>
              <a:t>to generate </a:t>
            </a:r>
            <a:r>
              <a:rPr lang="en-US" altLang="en-US" sz="2000" b="1" dirty="0" smtClean="0"/>
              <a:t>a new </a:t>
            </a:r>
            <a:r>
              <a:rPr lang="en-US" altLang="en-US" sz="2000" b="1" dirty="0"/>
              <a:t>signal named (</a:t>
            </a:r>
            <a:r>
              <a:rPr lang="en-US" altLang="en-US" sz="2000" b="1" dirty="0" err="1">
                <a:solidFill>
                  <a:srgbClr val="FF0000"/>
                </a:solidFill>
              </a:rPr>
              <a:t>signoise</a:t>
            </a:r>
            <a:r>
              <a:rPr lang="en-US" altLang="en-US" sz="2000" b="1" dirty="0">
                <a:solidFill>
                  <a:srgbClr val="FF0000"/>
                </a:solidFill>
              </a:rPr>
              <a:t>)</a:t>
            </a:r>
            <a:r>
              <a:rPr lang="en-US" altLang="en-US" sz="2000" b="1" dirty="0"/>
              <a:t> that  makes distortion about 20% of  the  original signal </a:t>
            </a:r>
            <a:r>
              <a:rPr lang="en-US" altLang="en-US" sz="2000" b="1" dirty="0">
                <a:solidFill>
                  <a:srgbClr val="FF0000"/>
                </a:solidFill>
              </a:rPr>
              <a:t>(Sig</a:t>
            </a:r>
            <a:r>
              <a:rPr lang="en-US" altLang="en-US" sz="2000" b="1" dirty="0" smtClean="0">
                <a:solidFill>
                  <a:srgbClr val="FF0000"/>
                </a:solidFill>
              </a:rPr>
              <a:t>)</a:t>
            </a:r>
            <a:r>
              <a:rPr lang="en-US" altLang="en-US" sz="2000" b="1" dirty="0" smtClean="0"/>
              <a:t>.</a:t>
            </a:r>
          </a:p>
          <a:p>
            <a:pPr marL="109728" indent="0">
              <a:buNone/>
            </a:pPr>
            <a:endParaRPr lang="en-US" altLang="en-US" sz="2000" b="1" dirty="0" smtClean="0"/>
          </a:p>
          <a:p>
            <a:pPr marL="109728" indent="0">
              <a:buNone/>
            </a:pPr>
            <a:r>
              <a:rPr lang="en-US" altLang="en-US" sz="2000" b="1" dirty="0" smtClean="0"/>
              <a:t>4- plot the original signal </a:t>
            </a:r>
            <a:r>
              <a:rPr lang="en-US" altLang="en-US" sz="2000" b="1" dirty="0" smtClean="0">
                <a:solidFill>
                  <a:srgbClr val="FF0000"/>
                </a:solidFill>
              </a:rPr>
              <a:t>(sig) </a:t>
            </a:r>
            <a:r>
              <a:rPr lang="en-US" altLang="en-US" sz="2000" b="1" dirty="0" smtClean="0"/>
              <a:t>and noisy signal </a:t>
            </a:r>
            <a:r>
              <a:rPr lang="en-US" altLang="en-US" sz="2000" b="1" dirty="0" smtClean="0">
                <a:solidFill>
                  <a:srgbClr val="FF0000"/>
                </a:solidFill>
              </a:rPr>
              <a:t>(</a:t>
            </a:r>
            <a:r>
              <a:rPr lang="en-US" altLang="en-US" sz="2000" b="1" dirty="0" err="1" smtClean="0">
                <a:solidFill>
                  <a:srgbClr val="FF0000"/>
                </a:solidFill>
              </a:rPr>
              <a:t>signose</a:t>
            </a:r>
            <a:r>
              <a:rPr lang="en-US" altLang="en-US" sz="2000" b="1" dirty="0" smtClean="0">
                <a:solidFill>
                  <a:srgbClr val="FF0000"/>
                </a:solidFill>
              </a:rPr>
              <a:t>)</a:t>
            </a:r>
            <a:r>
              <a:rPr lang="en-US" altLang="en-US" sz="2000" b="1" dirty="0" smtClean="0"/>
              <a:t>.</a:t>
            </a:r>
          </a:p>
          <a:p>
            <a:pPr marL="109728" indent="0">
              <a:buNone/>
            </a:pPr>
            <a:endParaRPr lang="en-US" altLang="en-US" sz="2000" b="1" dirty="0" smtClean="0"/>
          </a:p>
          <a:p>
            <a:pPr marL="109728" indent="0">
              <a:buNone/>
            </a:pPr>
            <a:r>
              <a:rPr lang="en-US" altLang="en-US" sz="2000" b="1" dirty="0" smtClean="0"/>
              <a:t>5- Finally, import them into the signal analyzer and view the signals in time and frequency domains . </a:t>
            </a:r>
            <a:endParaRPr lang="en-US" altLang="en-US" sz="2000" b="1" dirty="0"/>
          </a:p>
          <a:p>
            <a:pPr marL="109728" indent="0">
              <a:buClrTx/>
              <a:buNone/>
            </a:pPr>
            <a:endParaRPr lang="en-US" altLang="en-US" sz="1600" dirty="0" smtClean="0"/>
          </a:p>
          <a:p>
            <a:pPr marL="109728" indent="0">
              <a:buClrTx/>
              <a:buNone/>
            </a:pPr>
            <a:endParaRPr lang="en-US" altLang="en-US" sz="1600" dirty="0"/>
          </a:p>
        </p:txBody>
      </p:sp>
    </p:spTree>
    <p:extLst>
      <p:ext uri="{BB962C8B-B14F-4D97-AF65-F5344CB8AC3E}">
        <p14:creationId xmlns:p14="http://schemas.microsoft.com/office/powerpoint/2010/main" val="1604320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a:bodyPr>
          <a:lstStyle/>
          <a:p>
            <a:pPr algn="ctr"/>
            <a:r>
              <a:rPr lang="en-US" sz="6600" dirty="0">
                <a:solidFill>
                  <a:srgbClr val="FF0000"/>
                </a:solidFill>
              </a:rPr>
              <a:t>Resample Signals</a:t>
            </a:r>
          </a:p>
        </p:txBody>
      </p:sp>
    </p:spTree>
    <p:extLst>
      <p:ext uri="{BB962C8B-B14F-4D97-AF65-F5344CB8AC3E}">
        <p14:creationId xmlns:p14="http://schemas.microsoft.com/office/powerpoint/2010/main" val="1442242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296073" cy="3329709"/>
          </a:xfrm>
        </p:spPr>
        <p:txBody>
          <a:bodyPr>
            <a:noAutofit/>
          </a:bodyPr>
          <a:lstStyle/>
          <a:p>
            <a:pPr marL="109728" indent="0">
              <a:buNone/>
            </a:pPr>
            <a:r>
              <a:rPr lang="en-US" altLang="en-US" sz="1600" dirty="0"/>
              <a:t>Before you modify a signal, it is best practice to </a:t>
            </a:r>
            <a:r>
              <a:rPr lang="en-US" altLang="en-US" sz="1600" b="1" dirty="0">
                <a:solidFill>
                  <a:srgbClr val="FF0000"/>
                </a:solidFill>
              </a:rPr>
              <a:t>duplicate</a:t>
            </a:r>
            <a:r>
              <a:rPr lang="en-US" altLang="en-US" sz="1600" dirty="0"/>
              <a:t> the signal so that you can compare the signal before and after processing. To process a signal, follow these steps</a:t>
            </a:r>
            <a:r>
              <a:rPr lang="en-US" altLang="en-US" sz="1600" dirty="0" smtClean="0"/>
              <a:t>:</a:t>
            </a:r>
          </a:p>
          <a:p>
            <a:pPr marL="109728" indent="0">
              <a:buNone/>
            </a:pPr>
            <a:endParaRPr lang="en-US" altLang="en-US" sz="1600" dirty="0" smtClean="0"/>
          </a:p>
          <a:p>
            <a:pPr marL="109728" indent="0">
              <a:buClrTx/>
              <a:buNone/>
            </a:pPr>
            <a:r>
              <a:rPr lang="en-US" altLang="en-US" sz="1600" dirty="0" smtClean="0"/>
              <a:t>1- Duplicate </a:t>
            </a:r>
            <a:r>
              <a:rPr lang="en-US" altLang="en-US" sz="1600" dirty="0"/>
              <a:t>the </a:t>
            </a:r>
            <a:r>
              <a:rPr lang="en-US" altLang="en-US" sz="1600" b="1" dirty="0" err="1">
                <a:solidFill>
                  <a:srgbClr val="FF0000"/>
                </a:solidFill>
              </a:rPr>
              <a:t>pax</a:t>
            </a:r>
            <a:r>
              <a:rPr lang="en-US" altLang="en-US" sz="1600" dirty="0"/>
              <a:t> signal by right-clicking </a:t>
            </a:r>
            <a:endParaRPr lang="en-US" altLang="en-US" sz="1600" dirty="0" smtClean="0"/>
          </a:p>
          <a:p>
            <a:pPr marL="109728" indent="0">
              <a:buClrTx/>
              <a:buNone/>
            </a:pPr>
            <a:r>
              <a:rPr lang="en-US" altLang="en-US" sz="1600" dirty="0"/>
              <a:t> </a:t>
            </a:r>
            <a:r>
              <a:rPr lang="en-US" altLang="en-US" sz="1600" dirty="0" smtClean="0"/>
              <a:t>   it </a:t>
            </a:r>
            <a:r>
              <a:rPr lang="en-US" altLang="en-US" sz="1600" dirty="0"/>
              <a:t>in the Signal table and selecting </a:t>
            </a:r>
            <a:r>
              <a:rPr lang="en-US" altLang="en-US" sz="1600" dirty="0" smtClean="0"/>
              <a:t>Duplicate.</a:t>
            </a:r>
          </a:p>
          <a:p>
            <a:pPr marL="109728" indent="0">
              <a:buClrTx/>
              <a:buNone/>
            </a:pPr>
            <a:endParaRPr lang="en-US" altLang="en-US" sz="1600" dirty="0" smtClean="0"/>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r>
              <a:rPr lang="en-US" altLang="en-US" sz="1600" dirty="0" smtClean="0"/>
              <a:t>2- Rename </a:t>
            </a:r>
            <a:r>
              <a:rPr lang="en-US" altLang="en-US" sz="1600" dirty="0"/>
              <a:t>the duplicate </a:t>
            </a:r>
            <a:r>
              <a:rPr lang="en-US" altLang="en-US" sz="1600" b="1" dirty="0">
                <a:solidFill>
                  <a:srgbClr val="FF0000"/>
                </a:solidFill>
              </a:rPr>
              <a:t>pax_uniform</a:t>
            </a:r>
            <a:r>
              <a:rPr lang="en-US" altLang="en-US" sz="1600" dirty="0"/>
              <a:t> by </a:t>
            </a:r>
            <a:endParaRPr lang="en-US" altLang="en-US" sz="1600" dirty="0" smtClean="0"/>
          </a:p>
          <a:p>
            <a:pPr marL="109728" indent="0">
              <a:buClrTx/>
              <a:buNone/>
            </a:pPr>
            <a:r>
              <a:rPr lang="en-US" altLang="en-US" sz="1600" dirty="0"/>
              <a:t> </a:t>
            </a:r>
            <a:r>
              <a:rPr lang="en-US" altLang="en-US" sz="1600" dirty="0" smtClean="0"/>
              <a:t>    right-clicking </a:t>
            </a:r>
            <a:r>
              <a:rPr lang="en-US" altLang="en-US" sz="1600" dirty="0"/>
              <a:t>it and selecting </a:t>
            </a:r>
            <a:r>
              <a:rPr lang="en-US" altLang="en-US" sz="1600" dirty="0" smtClean="0"/>
              <a:t>Rename.</a:t>
            </a:r>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p:txBody>
      </p:sp>
      <p:cxnSp>
        <p:nvCxnSpPr>
          <p:cNvPr id="8" name="Straight Arrow Connector 7"/>
          <p:cNvCxnSpPr/>
          <p:nvPr/>
        </p:nvCxnSpPr>
        <p:spPr>
          <a:xfrm flipV="1">
            <a:off x="5929745" y="6188363"/>
            <a:ext cx="1653308" cy="44334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2" name="Picture 1"/>
          <p:cNvPicPr>
            <a:picLocks noChangeAspect="1"/>
          </p:cNvPicPr>
          <p:nvPr/>
        </p:nvPicPr>
        <p:blipFill>
          <a:blip r:embed="rId3"/>
          <a:stretch>
            <a:fillRect/>
          </a:stretch>
        </p:blipFill>
        <p:spPr>
          <a:xfrm>
            <a:off x="7433541" y="1166526"/>
            <a:ext cx="3714750" cy="2790825"/>
          </a:xfrm>
          <a:prstGeom prst="rect">
            <a:avLst/>
          </a:prstGeom>
        </p:spPr>
      </p:pic>
      <p:pic>
        <p:nvPicPr>
          <p:cNvPr id="3" name="Picture 2"/>
          <p:cNvPicPr>
            <a:picLocks noChangeAspect="1"/>
          </p:cNvPicPr>
          <p:nvPr/>
        </p:nvPicPr>
        <p:blipFill>
          <a:blip r:embed="rId4"/>
          <a:stretch>
            <a:fillRect/>
          </a:stretch>
        </p:blipFill>
        <p:spPr>
          <a:xfrm>
            <a:off x="7710920" y="4528851"/>
            <a:ext cx="3705225" cy="1971675"/>
          </a:xfrm>
          <a:prstGeom prst="rect">
            <a:avLst/>
          </a:prstGeom>
        </p:spPr>
      </p:pic>
      <p:cxnSp>
        <p:nvCxnSpPr>
          <p:cNvPr id="9" name="Straight Arrow Connector 8"/>
          <p:cNvCxnSpPr/>
          <p:nvPr/>
        </p:nvCxnSpPr>
        <p:spPr>
          <a:xfrm flipV="1">
            <a:off x="6522315" y="3218085"/>
            <a:ext cx="1508416" cy="81315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577914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23">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3">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443345" y="595026"/>
            <a:ext cx="11296073" cy="3329709"/>
          </a:xfrm>
        </p:spPr>
        <p:txBody>
          <a:bodyPr>
            <a:noAutofit/>
          </a:bodyPr>
          <a:lstStyle/>
          <a:p>
            <a:pPr marL="109728" indent="0">
              <a:buClrTx/>
              <a:buNone/>
            </a:pPr>
            <a:endParaRPr lang="en-US" altLang="en-US" sz="1600" dirty="0"/>
          </a:p>
          <a:p>
            <a:pPr marL="109728" indent="0">
              <a:buClrTx/>
              <a:buNone/>
            </a:pPr>
            <a:r>
              <a:rPr lang="en-US" altLang="en-US" sz="1600" dirty="0" smtClean="0"/>
              <a:t>3- Click </a:t>
            </a:r>
            <a:r>
              <a:rPr lang="en-US" altLang="en-US" sz="1600" dirty="0"/>
              <a:t>Preprocess in the Analyzer tab of </a:t>
            </a:r>
            <a:r>
              <a:rPr lang="en-US" altLang="en-US" sz="1600" dirty="0" err="1"/>
              <a:t>toolstrip</a:t>
            </a:r>
            <a:r>
              <a:rPr lang="en-US" altLang="en-US" sz="1600" dirty="0"/>
              <a:t> to enter preprocessing </a:t>
            </a:r>
            <a:r>
              <a:rPr lang="en-US" altLang="en-US" sz="1600" dirty="0" smtClean="0"/>
              <a:t>mode</a:t>
            </a:r>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endParaRPr lang="en-US" altLang="en-US" sz="1600" dirty="0" smtClean="0"/>
          </a:p>
          <a:p>
            <a:pPr marL="109728" indent="0">
              <a:buClrTx/>
              <a:buNone/>
            </a:pPr>
            <a:endParaRPr lang="en-US" altLang="en-US" sz="1600" dirty="0"/>
          </a:p>
          <a:p>
            <a:pPr marL="109728" indent="0">
              <a:buClrTx/>
              <a:buNone/>
            </a:pPr>
            <a:r>
              <a:rPr lang="en-US" altLang="en-US" sz="1600" dirty="0" smtClean="0"/>
              <a:t>4- In </a:t>
            </a:r>
            <a:r>
              <a:rPr lang="en-US" altLang="en-US" sz="1600" dirty="0"/>
              <a:t>the Functions section, select </a:t>
            </a:r>
            <a:r>
              <a:rPr lang="en-US" altLang="en-US" sz="1600" dirty="0" smtClean="0"/>
              <a:t>Resample</a:t>
            </a:r>
            <a:endParaRPr lang="en-US" altLang="en-US" sz="1600" dirty="0"/>
          </a:p>
        </p:txBody>
      </p:sp>
      <p:pic>
        <p:nvPicPr>
          <p:cNvPr id="4" name="Picture 3"/>
          <p:cNvPicPr>
            <a:picLocks noChangeAspect="1"/>
          </p:cNvPicPr>
          <p:nvPr/>
        </p:nvPicPr>
        <p:blipFill>
          <a:blip r:embed="rId3"/>
          <a:stretch>
            <a:fillRect/>
          </a:stretch>
        </p:blipFill>
        <p:spPr>
          <a:xfrm>
            <a:off x="1628466" y="1424278"/>
            <a:ext cx="9122059" cy="1392812"/>
          </a:xfrm>
          <a:prstGeom prst="rect">
            <a:avLst/>
          </a:prstGeom>
        </p:spPr>
      </p:pic>
      <p:cxnSp>
        <p:nvCxnSpPr>
          <p:cNvPr id="10" name="Straight Arrow Connector 9"/>
          <p:cNvCxnSpPr/>
          <p:nvPr/>
        </p:nvCxnSpPr>
        <p:spPr>
          <a:xfrm flipH="1" flipV="1">
            <a:off x="7527637" y="2375336"/>
            <a:ext cx="1260763" cy="10575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5" name="Picture 4"/>
          <p:cNvPicPr>
            <a:picLocks noChangeAspect="1"/>
          </p:cNvPicPr>
          <p:nvPr/>
        </p:nvPicPr>
        <p:blipFill rotWithShape="1">
          <a:blip r:embed="rId4"/>
          <a:srcRect b="46851"/>
          <a:stretch/>
        </p:blipFill>
        <p:spPr>
          <a:xfrm>
            <a:off x="999908" y="3768148"/>
            <a:ext cx="9859673" cy="2778540"/>
          </a:xfrm>
          <a:prstGeom prst="rect">
            <a:avLst/>
          </a:prstGeom>
        </p:spPr>
      </p:pic>
      <p:cxnSp>
        <p:nvCxnSpPr>
          <p:cNvPr id="11" name="Straight Arrow Connector 10"/>
          <p:cNvCxnSpPr/>
          <p:nvPr/>
        </p:nvCxnSpPr>
        <p:spPr>
          <a:xfrm flipH="1" flipV="1">
            <a:off x="4668981" y="4529864"/>
            <a:ext cx="1260763" cy="105756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84125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1708" y="624444"/>
            <a:ext cx="11296073" cy="3329709"/>
          </a:xfrm>
        </p:spPr>
        <p:txBody>
          <a:bodyPr>
            <a:noAutofit/>
          </a:bodyPr>
          <a:lstStyle/>
          <a:p>
            <a:pPr marL="109728" indent="0">
              <a:buClrTx/>
              <a:buNone/>
            </a:pPr>
            <a:endParaRPr lang="en-US" altLang="en-US" sz="1600" dirty="0"/>
          </a:p>
          <a:p>
            <a:pPr marL="109728" indent="0">
              <a:buClrTx/>
              <a:buNone/>
            </a:pPr>
            <a:r>
              <a:rPr lang="en-US" altLang="en-US" sz="1600" dirty="0" smtClean="0"/>
              <a:t>5- Set </a:t>
            </a:r>
            <a:r>
              <a:rPr lang="en-US" altLang="en-US" sz="1600" dirty="0"/>
              <a:t>the sample rate to 50 Hz in the Function Parameters panel</a:t>
            </a:r>
          </a:p>
          <a:p>
            <a:pPr marL="109728" indent="0">
              <a:buClrTx/>
              <a:buNone/>
            </a:pPr>
            <a:r>
              <a:rPr lang="en-US" altLang="en-US" sz="1600" dirty="0" smtClean="0"/>
              <a:t>6- Click </a:t>
            </a:r>
            <a:r>
              <a:rPr lang="en-US" altLang="en-US" sz="1600" dirty="0"/>
              <a:t>Apply</a:t>
            </a:r>
          </a:p>
          <a:p>
            <a:pPr marL="109728" indent="0">
              <a:buClrTx/>
              <a:buNone/>
            </a:pPr>
            <a:r>
              <a:rPr lang="en-US" altLang="en-US" sz="1600" dirty="0" smtClean="0"/>
              <a:t>7- Click </a:t>
            </a:r>
            <a:r>
              <a:rPr lang="en-US" altLang="en-US" sz="1600" dirty="0"/>
              <a:t>Ok on the Preprocess warning dialog</a:t>
            </a:r>
          </a:p>
          <a:p>
            <a:pPr marL="109728" indent="0">
              <a:buClrTx/>
              <a:buNone/>
            </a:pPr>
            <a:r>
              <a:rPr lang="en-US" altLang="en-US" sz="1600" dirty="0" smtClean="0"/>
              <a:t>8- Click </a:t>
            </a:r>
            <a:r>
              <a:rPr lang="en-US" altLang="en-US" sz="1600" dirty="0"/>
              <a:t>Accept All in the Close section of the </a:t>
            </a:r>
            <a:endParaRPr lang="en-US" altLang="en-US" sz="1600" dirty="0" smtClean="0"/>
          </a:p>
          <a:p>
            <a:pPr marL="109728" indent="0">
              <a:buClrTx/>
              <a:buNone/>
            </a:pPr>
            <a:r>
              <a:rPr lang="en-US" altLang="en-US" sz="1600" dirty="0"/>
              <a:t> </a:t>
            </a:r>
            <a:r>
              <a:rPr lang="en-US" altLang="en-US" sz="1600" dirty="0" smtClean="0"/>
              <a:t>    </a:t>
            </a:r>
            <a:r>
              <a:rPr lang="en-US" altLang="en-US" sz="1600" dirty="0" err="1" smtClean="0"/>
              <a:t>toolstrip</a:t>
            </a:r>
            <a:r>
              <a:rPr lang="en-US" altLang="en-US" sz="1600" dirty="0" smtClean="0"/>
              <a:t> </a:t>
            </a:r>
            <a:r>
              <a:rPr lang="en-US" altLang="en-US" sz="1600" dirty="0"/>
              <a:t>to leave preprocessing mode</a:t>
            </a:r>
            <a:endParaRPr lang="en-US" altLang="en-US" sz="1200" dirty="0" smtClean="0"/>
          </a:p>
        </p:txBody>
      </p:sp>
      <p:pic>
        <p:nvPicPr>
          <p:cNvPr id="2" name="Picture 1"/>
          <p:cNvPicPr>
            <a:picLocks noChangeAspect="1"/>
          </p:cNvPicPr>
          <p:nvPr/>
        </p:nvPicPr>
        <p:blipFill>
          <a:blip r:embed="rId3"/>
          <a:stretch>
            <a:fillRect/>
          </a:stretch>
        </p:blipFill>
        <p:spPr>
          <a:xfrm>
            <a:off x="6612371" y="1329575"/>
            <a:ext cx="5579629" cy="5626781"/>
          </a:xfrm>
          <a:prstGeom prst="rect">
            <a:avLst/>
          </a:prstGeom>
        </p:spPr>
      </p:pic>
      <p:cxnSp>
        <p:nvCxnSpPr>
          <p:cNvPr id="6" name="Straight Arrow Connector 5"/>
          <p:cNvCxnSpPr/>
          <p:nvPr/>
        </p:nvCxnSpPr>
        <p:spPr>
          <a:xfrm flipV="1">
            <a:off x="9502219" y="3822178"/>
            <a:ext cx="1010168" cy="128715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a:off x="10512388" y="6099904"/>
            <a:ext cx="1440800" cy="4140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Straight Arrow Connector 9"/>
          <p:cNvCxnSpPr/>
          <p:nvPr/>
        </p:nvCxnSpPr>
        <p:spPr>
          <a:xfrm flipV="1">
            <a:off x="9615746" y="2077447"/>
            <a:ext cx="1512763" cy="117911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pic>
        <p:nvPicPr>
          <p:cNvPr id="12" name="Content Placeholder 3"/>
          <p:cNvPicPr>
            <a:picLocks noChangeAspect="1"/>
          </p:cNvPicPr>
          <p:nvPr/>
        </p:nvPicPr>
        <p:blipFill rotWithShape="1">
          <a:blip r:embed="rId4"/>
          <a:srcRect l="22878" t="28471" r="35808" b="37856"/>
          <a:stretch/>
        </p:blipFill>
        <p:spPr>
          <a:xfrm>
            <a:off x="2982480" y="3703752"/>
            <a:ext cx="3629891" cy="1524001"/>
          </a:xfrm>
          <a:prstGeom prst="rect">
            <a:avLst/>
          </a:prstGeom>
        </p:spPr>
      </p:pic>
    </p:spTree>
    <p:extLst>
      <p:ext uri="{BB962C8B-B14F-4D97-AF65-F5344CB8AC3E}">
        <p14:creationId xmlns:p14="http://schemas.microsoft.com/office/powerpoint/2010/main" val="375394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123">
                                            <p:txEl>
                                              <p:pRg st="4" end="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1708" y="624444"/>
            <a:ext cx="11296073" cy="3329709"/>
          </a:xfrm>
        </p:spPr>
        <p:txBody>
          <a:bodyPr>
            <a:noAutofit/>
          </a:bodyPr>
          <a:lstStyle/>
          <a:p>
            <a:pPr marL="109728" indent="0">
              <a:buClrTx/>
              <a:buNone/>
            </a:pPr>
            <a:r>
              <a:rPr lang="en-US" altLang="en-US" sz="1600" dirty="0" smtClean="0"/>
              <a:t>The </a:t>
            </a:r>
            <a:r>
              <a:rPr lang="en-US" altLang="en-US" sz="1600" dirty="0"/>
              <a:t>signal recorded at the </a:t>
            </a:r>
            <a:r>
              <a:rPr lang="en-US" altLang="en-US" sz="1600" b="1" dirty="0">
                <a:solidFill>
                  <a:srgbClr val="FF0000"/>
                </a:solidFill>
              </a:rPr>
              <a:t>Wrangell</a:t>
            </a:r>
            <a:r>
              <a:rPr lang="en-US" altLang="en-US" sz="1600" dirty="0"/>
              <a:t> station has a </a:t>
            </a:r>
            <a:r>
              <a:rPr lang="en-US" altLang="en-US" sz="1600" b="1" dirty="0">
                <a:solidFill>
                  <a:srgbClr val="FF0000"/>
                </a:solidFill>
              </a:rPr>
              <a:t>faster sample rate of 100 Hz</a:t>
            </a:r>
            <a:r>
              <a:rPr lang="en-US" altLang="en-US" sz="1600" dirty="0" smtClean="0"/>
              <a:t>.</a:t>
            </a:r>
          </a:p>
          <a:p>
            <a:pPr marL="109728" indent="0">
              <a:buClrTx/>
              <a:buNone/>
            </a:pPr>
            <a:endParaRPr lang="en-US" altLang="en-US" sz="1600" dirty="0"/>
          </a:p>
          <a:p>
            <a:pPr marL="109728" indent="0">
              <a:buClrTx/>
              <a:buNone/>
            </a:pPr>
            <a:r>
              <a:rPr lang="en-US" altLang="en-US" sz="1600" b="1" dirty="0" smtClean="0"/>
              <a:t># TASK</a:t>
            </a:r>
            <a:endParaRPr lang="en-US" altLang="en-US" sz="1600" b="1" dirty="0"/>
          </a:p>
          <a:p>
            <a:pPr marL="109728" indent="0">
              <a:buClrTx/>
              <a:buNone/>
            </a:pPr>
            <a:r>
              <a:rPr lang="en-US" altLang="en-US" sz="1600" dirty="0"/>
              <a:t>Look at the full frequency range of the </a:t>
            </a:r>
            <a:r>
              <a:rPr lang="en-US" altLang="en-US" sz="1600" b="1" dirty="0" err="1">
                <a:solidFill>
                  <a:srgbClr val="FF0000"/>
                </a:solidFill>
              </a:rPr>
              <a:t>wanc</a:t>
            </a:r>
            <a:r>
              <a:rPr lang="en-US" altLang="en-US" sz="1600" dirty="0"/>
              <a:t> signal's power spectrum.</a:t>
            </a:r>
            <a:endParaRPr lang="en-US" altLang="en-US" sz="1200" dirty="0" smtClean="0"/>
          </a:p>
        </p:txBody>
      </p:sp>
      <p:pic>
        <p:nvPicPr>
          <p:cNvPr id="16" name="Picture 15"/>
          <p:cNvPicPr>
            <a:picLocks noChangeAspect="1"/>
          </p:cNvPicPr>
          <p:nvPr/>
        </p:nvPicPr>
        <p:blipFill>
          <a:blip r:embed="rId3"/>
          <a:stretch>
            <a:fillRect/>
          </a:stretch>
        </p:blipFill>
        <p:spPr>
          <a:xfrm>
            <a:off x="1948873" y="2142191"/>
            <a:ext cx="8599055" cy="4629795"/>
          </a:xfrm>
          <a:prstGeom prst="rect">
            <a:avLst/>
          </a:prstGeom>
        </p:spPr>
      </p:pic>
      <p:cxnSp>
        <p:nvCxnSpPr>
          <p:cNvPr id="19" name="Straight Arrow Connector 18"/>
          <p:cNvCxnSpPr/>
          <p:nvPr/>
        </p:nvCxnSpPr>
        <p:spPr>
          <a:xfrm flipV="1">
            <a:off x="5578764" y="2826329"/>
            <a:ext cx="526471" cy="628072"/>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0" name="Straight Arrow Connector 19"/>
          <p:cNvCxnSpPr/>
          <p:nvPr/>
        </p:nvCxnSpPr>
        <p:spPr>
          <a:xfrm flipV="1">
            <a:off x="2484582" y="3954153"/>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22" name="Straight Arrow Connector 21"/>
          <p:cNvCxnSpPr/>
          <p:nvPr/>
        </p:nvCxnSpPr>
        <p:spPr>
          <a:xfrm flipV="1">
            <a:off x="4996872" y="5809674"/>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14734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1708" y="624444"/>
            <a:ext cx="11296073" cy="3329709"/>
          </a:xfrm>
        </p:spPr>
        <p:txBody>
          <a:bodyPr>
            <a:noAutofit/>
          </a:bodyPr>
          <a:lstStyle/>
          <a:p>
            <a:pPr marL="109728" indent="0">
              <a:buClrTx/>
              <a:buNone/>
            </a:pPr>
            <a:r>
              <a:rPr lang="en-US" altLang="en-US" sz="1600" dirty="0" smtClean="0"/>
              <a:t>1-When </a:t>
            </a:r>
            <a:r>
              <a:rPr lang="en-US" altLang="en-US" sz="1600" dirty="0"/>
              <a:t>you resample to a </a:t>
            </a:r>
            <a:r>
              <a:rPr lang="en-US" altLang="en-US" sz="1600" b="1" dirty="0">
                <a:solidFill>
                  <a:srgbClr val="FF0000"/>
                </a:solidFill>
              </a:rPr>
              <a:t>slower sample rate</a:t>
            </a:r>
            <a:r>
              <a:rPr lang="en-US" altLang="en-US" sz="1600" dirty="0"/>
              <a:t>, frequency content </a:t>
            </a:r>
            <a:r>
              <a:rPr lang="en-US" altLang="en-US" sz="1600" b="1" dirty="0">
                <a:solidFill>
                  <a:srgbClr val="FF0000"/>
                </a:solidFill>
              </a:rPr>
              <a:t>above </a:t>
            </a:r>
            <a:r>
              <a:rPr lang="en-US" altLang="en-US" sz="1600" b="1" dirty="0" smtClean="0">
                <a:solidFill>
                  <a:srgbClr val="FF0000"/>
                </a:solidFill>
              </a:rPr>
              <a:t>fs/2 </a:t>
            </a:r>
            <a:r>
              <a:rPr lang="en-US" altLang="en-US" sz="1600" dirty="0" smtClean="0"/>
              <a:t>, </a:t>
            </a:r>
            <a:r>
              <a:rPr lang="en-US" altLang="en-US" sz="1600" dirty="0"/>
              <a:t>where </a:t>
            </a:r>
            <a:r>
              <a:rPr lang="en-US" altLang="en-US" sz="1600" b="1" dirty="0">
                <a:solidFill>
                  <a:srgbClr val="FF0000"/>
                </a:solidFill>
              </a:rPr>
              <a:t>fs</a:t>
            </a:r>
            <a:r>
              <a:rPr lang="en-US" altLang="en-US" sz="1600" dirty="0"/>
              <a:t> is the sample rate after resampling, can </a:t>
            </a:r>
            <a:r>
              <a:rPr lang="en-US" altLang="en-US" sz="1600" b="1" dirty="0">
                <a:solidFill>
                  <a:srgbClr val="FF0000"/>
                </a:solidFill>
              </a:rPr>
              <a:t>distort the power spectrum</a:t>
            </a:r>
            <a:r>
              <a:rPr lang="en-US" altLang="en-US" sz="1600" dirty="0"/>
              <a:t>.</a:t>
            </a:r>
          </a:p>
          <a:p>
            <a:pPr marL="109728" indent="0">
              <a:buClrTx/>
              <a:buNone/>
            </a:pPr>
            <a:endParaRPr lang="en-US" altLang="en-US" sz="1600" dirty="0"/>
          </a:p>
          <a:p>
            <a:pPr marL="109728" indent="0">
              <a:buClrTx/>
              <a:buNone/>
            </a:pPr>
            <a:r>
              <a:rPr lang="en-US" altLang="en-US" sz="1600" dirty="0" smtClean="0"/>
              <a:t>2- In </a:t>
            </a:r>
            <a:r>
              <a:rPr lang="en-US" altLang="en-US" sz="1600" dirty="0"/>
              <a:t>the </a:t>
            </a:r>
            <a:r>
              <a:rPr lang="en-US" altLang="en-US" sz="1600" b="1" dirty="0">
                <a:solidFill>
                  <a:srgbClr val="FF0000"/>
                </a:solidFill>
              </a:rPr>
              <a:t>WANC</a:t>
            </a:r>
            <a:r>
              <a:rPr lang="en-US" altLang="en-US" sz="1600" dirty="0"/>
              <a:t> signal, there isn't significant power </a:t>
            </a:r>
            <a:r>
              <a:rPr lang="en-US" altLang="en-US" sz="1600" b="1" dirty="0">
                <a:solidFill>
                  <a:srgbClr val="FF0000"/>
                </a:solidFill>
              </a:rPr>
              <a:t>above 25 Hz</a:t>
            </a:r>
            <a:r>
              <a:rPr lang="en-US" altLang="en-US" sz="1600" dirty="0"/>
              <a:t>, so you can try resampling the WANC signal </a:t>
            </a:r>
            <a:r>
              <a:rPr lang="en-US" altLang="en-US" sz="1600" b="1" dirty="0">
                <a:solidFill>
                  <a:srgbClr val="FF0000"/>
                </a:solidFill>
              </a:rPr>
              <a:t>to 50 Hz </a:t>
            </a:r>
            <a:r>
              <a:rPr lang="en-US" altLang="en-US" sz="1600" dirty="0"/>
              <a:t>so that it matches the sample rate of the HARP and PAX signals</a:t>
            </a:r>
            <a:r>
              <a:rPr lang="en-US" altLang="en-US" sz="1600" dirty="0" smtClean="0"/>
              <a:t>.</a:t>
            </a:r>
          </a:p>
          <a:p>
            <a:pPr marL="109728" indent="0">
              <a:buClrTx/>
              <a:buNone/>
            </a:pPr>
            <a:endParaRPr lang="en-US" altLang="en-US" sz="1600" dirty="0"/>
          </a:p>
          <a:p>
            <a:pPr marL="109728" indent="0">
              <a:buClrTx/>
              <a:buNone/>
            </a:pPr>
            <a:r>
              <a:rPr lang="en-US" altLang="en-US" sz="1600" b="1" dirty="0" smtClean="0"/>
              <a:t># TASK</a:t>
            </a:r>
            <a:endParaRPr lang="en-US" altLang="en-US" sz="1600" b="1" dirty="0"/>
          </a:p>
          <a:p>
            <a:pPr marL="109728" indent="0">
              <a:buClrTx/>
              <a:buNone/>
            </a:pPr>
            <a:r>
              <a:rPr lang="en-US" altLang="en-US" sz="1600" dirty="0" smtClean="0"/>
              <a:t>* Duplicate </a:t>
            </a:r>
            <a:r>
              <a:rPr lang="en-US" altLang="en-US" sz="1600" b="1" dirty="0" err="1">
                <a:solidFill>
                  <a:srgbClr val="FF0000"/>
                </a:solidFill>
              </a:rPr>
              <a:t>wanc</a:t>
            </a:r>
            <a:r>
              <a:rPr lang="en-US" altLang="en-US" sz="1600" dirty="0"/>
              <a:t> and rename the copy </a:t>
            </a:r>
            <a:r>
              <a:rPr lang="en-US" altLang="en-US" sz="1600" b="1" dirty="0">
                <a:solidFill>
                  <a:srgbClr val="FF0000"/>
                </a:solidFill>
              </a:rPr>
              <a:t>wanc_slow</a:t>
            </a:r>
            <a:r>
              <a:rPr lang="en-US" altLang="en-US" sz="1600" dirty="0"/>
              <a:t>. Then </a:t>
            </a:r>
            <a:r>
              <a:rPr lang="en-US" altLang="en-US" sz="1600" b="1" dirty="0">
                <a:solidFill>
                  <a:srgbClr val="FF0000"/>
                </a:solidFill>
              </a:rPr>
              <a:t>resample wanc_slow </a:t>
            </a:r>
            <a:r>
              <a:rPr lang="en-US" altLang="en-US" sz="1600" dirty="0"/>
              <a:t>by a </a:t>
            </a:r>
            <a:r>
              <a:rPr lang="en-US" altLang="en-US" sz="1600" b="1" dirty="0">
                <a:solidFill>
                  <a:srgbClr val="FF0000"/>
                </a:solidFill>
              </a:rPr>
              <a:t>Sample Factor of 0.5</a:t>
            </a:r>
            <a:r>
              <a:rPr lang="en-US" altLang="en-US" sz="1600" dirty="0"/>
              <a:t>.</a:t>
            </a:r>
          </a:p>
          <a:p>
            <a:pPr marL="109728" indent="0">
              <a:buClrTx/>
              <a:buNone/>
            </a:pPr>
            <a:r>
              <a:rPr lang="en-US" altLang="en-US" sz="1600" dirty="0" smtClean="0"/>
              <a:t>* Display </a:t>
            </a:r>
            <a:r>
              <a:rPr lang="en-US" altLang="en-US" sz="1600" dirty="0"/>
              <a:t>the original and resampled signals to compare the effects of resampling.</a:t>
            </a:r>
            <a:endParaRPr lang="en-US" altLang="en-US" sz="1200" dirty="0" smtClean="0"/>
          </a:p>
        </p:txBody>
      </p:sp>
      <p:pic>
        <p:nvPicPr>
          <p:cNvPr id="3" name="Picture 2"/>
          <p:cNvPicPr>
            <a:picLocks noChangeAspect="1"/>
          </p:cNvPicPr>
          <p:nvPr/>
        </p:nvPicPr>
        <p:blipFill>
          <a:blip r:embed="rId3"/>
          <a:stretch>
            <a:fillRect/>
          </a:stretch>
        </p:blipFill>
        <p:spPr>
          <a:xfrm>
            <a:off x="1757217" y="3280063"/>
            <a:ext cx="9028545" cy="3577937"/>
          </a:xfrm>
          <a:prstGeom prst="rect">
            <a:avLst/>
          </a:prstGeom>
        </p:spPr>
      </p:pic>
      <p:cxnSp>
        <p:nvCxnSpPr>
          <p:cNvPr id="11" name="Straight Arrow Connector 10"/>
          <p:cNvCxnSpPr/>
          <p:nvPr/>
        </p:nvCxnSpPr>
        <p:spPr>
          <a:xfrm flipV="1">
            <a:off x="849745" y="5069031"/>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flipV="1">
            <a:off x="8654473" y="3939927"/>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14586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12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3</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281708" y="373803"/>
            <a:ext cx="11296073" cy="3329709"/>
          </a:xfrm>
        </p:spPr>
        <p:txBody>
          <a:bodyPr>
            <a:noAutofit/>
          </a:bodyPr>
          <a:lstStyle/>
          <a:p>
            <a:pPr marL="109728" indent="0">
              <a:buClrTx/>
              <a:buNone/>
            </a:pPr>
            <a:endParaRPr lang="en-US" altLang="en-US" sz="1600" dirty="0"/>
          </a:p>
          <a:p>
            <a:pPr marL="109728" indent="0">
              <a:buClrTx/>
              <a:buNone/>
            </a:pPr>
            <a:r>
              <a:rPr lang="en-US" altLang="en-US" sz="1600" b="1" dirty="0" smtClean="0"/>
              <a:t># TASK</a:t>
            </a:r>
            <a:endParaRPr lang="en-US" altLang="en-US" sz="1600" b="1" dirty="0"/>
          </a:p>
          <a:p>
            <a:pPr marL="109728" indent="0">
              <a:buClrTx/>
              <a:buNone/>
            </a:pPr>
            <a:r>
              <a:rPr lang="en-US" altLang="en-US" sz="1600" dirty="0" smtClean="0"/>
              <a:t>* Duplicate </a:t>
            </a:r>
            <a:r>
              <a:rPr lang="en-US" altLang="en-US" sz="1600" b="1" dirty="0" err="1">
                <a:solidFill>
                  <a:srgbClr val="FF0000"/>
                </a:solidFill>
              </a:rPr>
              <a:t>wanc</a:t>
            </a:r>
            <a:r>
              <a:rPr lang="en-US" altLang="en-US" sz="1600" dirty="0"/>
              <a:t> and rename the copy </a:t>
            </a:r>
            <a:r>
              <a:rPr lang="en-US" altLang="en-US" sz="1600" b="1" dirty="0">
                <a:solidFill>
                  <a:srgbClr val="FF0000"/>
                </a:solidFill>
              </a:rPr>
              <a:t>wanc_slow</a:t>
            </a:r>
            <a:r>
              <a:rPr lang="en-US" altLang="en-US" sz="1600" dirty="0"/>
              <a:t>. Then </a:t>
            </a:r>
            <a:r>
              <a:rPr lang="en-US" altLang="en-US" sz="1600" b="1" dirty="0">
                <a:solidFill>
                  <a:srgbClr val="FF0000"/>
                </a:solidFill>
              </a:rPr>
              <a:t>resample wanc_slow </a:t>
            </a:r>
            <a:r>
              <a:rPr lang="en-US" altLang="en-US" sz="1600" dirty="0"/>
              <a:t>by a </a:t>
            </a:r>
            <a:r>
              <a:rPr lang="en-US" altLang="en-US" sz="1600" b="1" dirty="0">
                <a:solidFill>
                  <a:srgbClr val="FF0000"/>
                </a:solidFill>
              </a:rPr>
              <a:t>Sample Factor of 0.5</a:t>
            </a:r>
            <a:r>
              <a:rPr lang="en-US" altLang="en-US" sz="1600" dirty="0"/>
              <a:t>.</a:t>
            </a:r>
          </a:p>
          <a:p>
            <a:pPr marL="109728" indent="0">
              <a:buClrTx/>
              <a:buNone/>
            </a:pPr>
            <a:r>
              <a:rPr lang="en-US" altLang="en-US" sz="1600" dirty="0" smtClean="0"/>
              <a:t>* Display </a:t>
            </a:r>
            <a:r>
              <a:rPr lang="en-US" altLang="en-US" sz="1600" dirty="0"/>
              <a:t>the original and resampled signals to compare the effects of resampling.</a:t>
            </a:r>
            <a:endParaRPr lang="en-US" altLang="en-US" sz="1200" dirty="0" smtClean="0"/>
          </a:p>
        </p:txBody>
      </p:sp>
      <p:pic>
        <p:nvPicPr>
          <p:cNvPr id="2" name="Picture 1"/>
          <p:cNvPicPr>
            <a:picLocks noChangeAspect="1"/>
          </p:cNvPicPr>
          <p:nvPr/>
        </p:nvPicPr>
        <p:blipFill>
          <a:blip r:embed="rId3"/>
          <a:stretch>
            <a:fillRect/>
          </a:stretch>
        </p:blipFill>
        <p:spPr>
          <a:xfrm>
            <a:off x="1238858" y="1825174"/>
            <a:ext cx="9381772" cy="5032826"/>
          </a:xfrm>
          <a:prstGeom prst="rect">
            <a:avLst/>
          </a:prstGeom>
        </p:spPr>
      </p:pic>
      <p:cxnSp>
        <p:nvCxnSpPr>
          <p:cNvPr id="8" name="Straight Arrow Connector 7"/>
          <p:cNvCxnSpPr/>
          <p:nvPr/>
        </p:nvCxnSpPr>
        <p:spPr>
          <a:xfrm flipV="1">
            <a:off x="3121604" y="2476660"/>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flipV="1">
            <a:off x="7853860" y="3805840"/>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0" name="Straight Arrow Connector 9"/>
          <p:cNvCxnSpPr/>
          <p:nvPr/>
        </p:nvCxnSpPr>
        <p:spPr>
          <a:xfrm>
            <a:off x="9153427" y="5995448"/>
            <a:ext cx="896403" cy="3084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flipV="1">
            <a:off x="8206937" y="2484450"/>
            <a:ext cx="1394691" cy="86821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78895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12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0" y="0"/>
            <a:ext cx="12192000" cy="6702458"/>
          </a:xfrm>
          <a:prstGeom prst="rect">
            <a:avLst/>
          </a:prstGeom>
        </p:spPr>
      </p:pic>
      <p:cxnSp>
        <p:nvCxnSpPr>
          <p:cNvPr id="7" name="Straight Arrow Connector 6"/>
          <p:cNvCxnSpPr/>
          <p:nvPr/>
        </p:nvCxnSpPr>
        <p:spPr>
          <a:xfrm flipH="1" flipV="1">
            <a:off x="3507627" y="1481329"/>
            <a:ext cx="574179" cy="89667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Straight Arrow Connector 8"/>
          <p:cNvCxnSpPr/>
          <p:nvPr/>
        </p:nvCxnSpPr>
        <p:spPr>
          <a:xfrm flipH="1" flipV="1">
            <a:off x="3172975" y="2262433"/>
            <a:ext cx="669303" cy="54204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V="1">
            <a:off x="6495068" y="4421171"/>
            <a:ext cx="1753386" cy="122548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6650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0972800" cy="1143000"/>
          </a:xfrm>
        </p:spPr>
        <p:txBody>
          <a:bodyPr>
            <a:normAutofit fontScale="90000"/>
          </a:bodyPr>
          <a:lstStyle/>
          <a:p>
            <a:pPr algn="ctr"/>
            <a:r>
              <a:rPr lang="en-US" sz="6600" dirty="0">
                <a:solidFill>
                  <a:srgbClr val="FF0000"/>
                </a:solidFill>
              </a:rPr>
              <a:t>Extract Interesting Regions</a:t>
            </a:r>
          </a:p>
        </p:txBody>
      </p:sp>
    </p:spTree>
    <p:extLst>
      <p:ext uri="{BB962C8B-B14F-4D97-AF65-F5344CB8AC3E}">
        <p14:creationId xmlns:p14="http://schemas.microsoft.com/office/powerpoint/2010/main" val="14206359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66255" y="595026"/>
            <a:ext cx="11887200" cy="3329709"/>
          </a:xfrm>
        </p:spPr>
        <p:txBody>
          <a:bodyPr>
            <a:noAutofit/>
          </a:bodyPr>
          <a:lstStyle/>
          <a:p>
            <a:pPr marL="109728" indent="0">
              <a:buNone/>
            </a:pPr>
            <a:r>
              <a:rPr lang="en-US" altLang="en-US" sz="1600" dirty="0"/>
              <a:t>Most of the activity in the signals from the </a:t>
            </a:r>
            <a:r>
              <a:rPr lang="en-US" altLang="en-US" sz="1600" b="1" dirty="0">
                <a:solidFill>
                  <a:srgbClr val="FF0000"/>
                </a:solidFill>
              </a:rPr>
              <a:t>HARP</a:t>
            </a:r>
            <a:r>
              <a:rPr lang="en-US" altLang="en-US" sz="1600" dirty="0"/>
              <a:t> and </a:t>
            </a:r>
            <a:r>
              <a:rPr lang="en-US" altLang="en-US" sz="1600" b="1" dirty="0">
                <a:solidFill>
                  <a:srgbClr val="FF0000"/>
                </a:solidFill>
              </a:rPr>
              <a:t>PAX</a:t>
            </a:r>
            <a:r>
              <a:rPr lang="en-US" altLang="en-US" sz="1600" dirty="0"/>
              <a:t> stations occurs in a smaller portion of the signal. You can zoom in on interesting regions. On the Display tab, locate the Region of Interest section and select the Panner tool.</a:t>
            </a:r>
          </a:p>
          <a:p>
            <a:pPr marL="109728" indent="0">
              <a:buNone/>
            </a:pPr>
            <a:r>
              <a:rPr lang="en-US" altLang="en-US" sz="1600" b="1" dirty="0" smtClean="0"/>
              <a:t>#TASK</a:t>
            </a:r>
            <a:endParaRPr lang="en-US" altLang="en-US" sz="1600" b="1" dirty="0"/>
          </a:p>
          <a:p>
            <a:pPr marL="109728" indent="0">
              <a:buNone/>
            </a:pPr>
            <a:r>
              <a:rPr lang="en-US" altLang="en-US" sz="1600" dirty="0"/>
              <a:t>Use the </a:t>
            </a:r>
            <a:r>
              <a:rPr lang="en-US" altLang="en-US" sz="1600" b="1" dirty="0">
                <a:solidFill>
                  <a:srgbClr val="FF0000"/>
                </a:solidFill>
              </a:rPr>
              <a:t>panner</a:t>
            </a:r>
            <a:r>
              <a:rPr lang="en-US" altLang="en-US" sz="1600" dirty="0"/>
              <a:t> to display about </a:t>
            </a:r>
            <a:r>
              <a:rPr lang="en-US" altLang="en-US" sz="1600" b="1" dirty="0" smtClean="0">
                <a:solidFill>
                  <a:srgbClr val="FF0000"/>
                </a:solidFill>
              </a:rPr>
              <a:t>12 </a:t>
            </a:r>
            <a:r>
              <a:rPr lang="en-US" altLang="en-US" sz="1600" b="1" dirty="0">
                <a:solidFill>
                  <a:srgbClr val="FF0000"/>
                </a:solidFill>
              </a:rPr>
              <a:t>minutes to </a:t>
            </a:r>
            <a:r>
              <a:rPr lang="en-US" altLang="en-US" sz="1600" b="1" dirty="0" smtClean="0">
                <a:solidFill>
                  <a:srgbClr val="FF0000"/>
                </a:solidFill>
              </a:rPr>
              <a:t>18 </a:t>
            </a:r>
            <a:r>
              <a:rPr lang="en-US" altLang="en-US" sz="1600" b="1" dirty="0">
                <a:solidFill>
                  <a:srgbClr val="FF0000"/>
                </a:solidFill>
              </a:rPr>
              <a:t>minutes</a:t>
            </a:r>
            <a:r>
              <a:rPr lang="en-US" altLang="en-US" sz="1600" dirty="0"/>
              <a:t>.</a:t>
            </a:r>
          </a:p>
          <a:p>
            <a:pPr marL="109728" indent="0">
              <a:buClrTx/>
              <a:buNone/>
            </a:pPr>
            <a:endParaRPr lang="en-US" altLang="en-US" sz="1600" dirty="0" smtClean="0"/>
          </a:p>
          <a:p>
            <a:pPr marL="109728" indent="0">
              <a:buClrTx/>
              <a:buNone/>
            </a:pPr>
            <a:endParaRPr lang="en-US" altLang="en-US" sz="1600" dirty="0"/>
          </a:p>
        </p:txBody>
      </p:sp>
      <p:pic>
        <p:nvPicPr>
          <p:cNvPr id="4" name="Picture 3"/>
          <p:cNvPicPr>
            <a:picLocks noChangeAspect="1"/>
          </p:cNvPicPr>
          <p:nvPr/>
        </p:nvPicPr>
        <p:blipFill>
          <a:blip r:embed="rId3"/>
          <a:stretch>
            <a:fillRect/>
          </a:stretch>
        </p:blipFill>
        <p:spPr>
          <a:xfrm>
            <a:off x="1145872" y="2004291"/>
            <a:ext cx="9567746" cy="4853709"/>
          </a:xfrm>
          <a:prstGeom prst="rect">
            <a:avLst/>
          </a:prstGeom>
        </p:spPr>
      </p:pic>
      <p:cxnSp>
        <p:nvCxnSpPr>
          <p:cNvPr id="10" name="Straight Arrow Connector 9"/>
          <p:cNvCxnSpPr/>
          <p:nvPr/>
        </p:nvCxnSpPr>
        <p:spPr>
          <a:xfrm flipV="1">
            <a:off x="1764145" y="2177908"/>
            <a:ext cx="590366" cy="74078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V="1">
            <a:off x="6428509" y="2764418"/>
            <a:ext cx="636265" cy="957837"/>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p:nvPr/>
        </p:nvCxnSpPr>
        <p:spPr>
          <a:xfrm>
            <a:off x="5320145" y="6234545"/>
            <a:ext cx="997527" cy="16599"/>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7" name="Straight Arrow Connector 16"/>
          <p:cNvCxnSpPr/>
          <p:nvPr/>
        </p:nvCxnSpPr>
        <p:spPr>
          <a:xfrm flipH="1">
            <a:off x="8845842" y="6232017"/>
            <a:ext cx="1035335" cy="2528"/>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118962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66255" y="595026"/>
            <a:ext cx="11887200" cy="3329709"/>
          </a:xfrm>
        </p:spPr>
        <p:txBody>
          <a:bodyPr>
            <a:noAutofit/>
          </a:bodyPr>
          <a:lstStyle/>
          <a:p>
            <a:pPr marL="109728" indent="0">
              <a:buClrTx/>
              <a:buNone/>
            </a:pPr>
            <a:r>
              <a:rPr lang="en-US" altLang="en-US" sz="1600" dirty="0" smtClean="0"/>
              <a:t>You </a:t>
            </a:r>
            <a:r>
              <a:rPr lang="en-US" altLang="en-US" sz="1600" dirty="0"/>
              <a:t>can extract the data from the surface waves by removing extra points before and after. On the </a:t>
            </a:r>
            <a:r>
              <a:rPr lang="en-US" altLang="en-US" sz="1600" b="1" dirty="0">
                <a:solidFill>
                  <a:srgbClr val="FF0000"/>
                </a:solidFill>
              </a:rPr>
              <a:t>Display tab</a:t>
            </a:r>
            <a:r>
              <a:rPr lang="en-US" altLang="en-US" sz="1600" dirty="0"/>
              <a:t>, you can find the </a:t>
            </a:r>
            <a:r>
              <a:rPr lang="en-US" altLang="en-US" sz="1600" b="1" dirty="0">
                <a:solidFill>
                  <a:srgbClr val="FF0000"/>
                </a:solidFill>
              </a:rPr>
              <a:t>Extract Signals option </a:t>
            </a:r>
            <a:r>
              <a:rPr lang="en-US" altLang="en-US" sz="1600" dirty="0"/>
              <a:t>in the </a:t>
            </a:r>
            <a:r>
              <a:rPr lang="en-US" altLang="en-US" sz="1600" b="1" dirty="0">
                <a:solidFill>
                  <a:srgbClr val="FF0000"/>
                </a:solidFill>
              </a:rPr>
              <a:t>Region of Interest section</a:t>
            </a:r>
            <a:r>
              <a:rPr lang="en-US" altLang="en-US" sz="1600" dirty="0" smtClean="0"/>
              <a:t>.</a:t>
            </a:r>
            <a:endParaRPr lang="en-US" altLang="en-US" sz="1600" dirty="0"/>
          </a:p>
          <a:p>
            <a:pPr marL="109728" indent="0">
              <a:buClrTx/>
              <a:buNone/>
            </a:pPr>
            <a:r>
              <a:rPr lang="en-US" altLang="en-US" sz="1600" b="1" dirty="0" smtClean="0"/>
              <a:t># TASK</a:t>
            </a:r>
            <a:endParaRPr lang="en-US" altLang="en-US" sz="1600" b="1" dirty="0"/>
          </a:p>
          <a:p>
            <a:pPr marL="109728" indent="0">
              <a:buClrTx/>
              <a:buNone/>
            </a:pPr>
            <a:r>
              <a:rPr lang="en-US" altLang="en-US" sz="1600" dirty="0"/>
              <a:t>Extract the selected region from the </a:t>
            </a:r>
            <a:r>
              <a:rPr lang="en-US" altLang="en-US" sz="1600" b="1" dirty="0">
                <a:solidFill>
                  <a:srgbClr val="FF0000"/>
                </a:solidFill>
              </a:rPr>
              <a:t>harp, </a:t>
            </a:r>
            <a:r>
              <a:rPr lang="en-US" altLang="en-US" sz="1600" b="1" dirty="0" err="1">
                <a:solidFill>
                  <a:srgbClr val="FF0000"/>
                </a:solidFill>
              </a:rPr>
              <a:t>pax</a:t>
            </a:r>
            <a:r>
              <a:rPr lang="en-US" altLang="en-US" sz="1600" b="1" dirty="0">
                <a:solidFill>
                  <a:srgbClr val="FF0000"/>
                </a:solidFill>
              </a:rPr>
              <a:t>, and </a:t>
            </a:r>
            <a:r>
              <a:rPr lang="en-US" altLang="en-US" sz="1600" b="1" dirty="0" err="1">
                <a:solidFill>
                  <a:srgbClr val="FF0000"/>
                </a:solidFill>
              </a:rPr>
              <a:t>wanc</a:t>
            </a:r>
            <a:r>
              <a:rPr lang="en-US" altLang="en-US" sz="1600" b="1" dirty="0">
                <a:solidFill>
                  <a:srgbClr val="FF0000"/>
                </a:solidFill>
              </a:rPr>
              <a:t> </a:t>
            </a:r>
            <a:r>
              <a:rPr lang="en-US" altLang="en-US" sz="1600" dirty="0"/>
              <a:t>signals. Make sure that the extracted signals are named </a:t>
            </a:r>
            <a:r>
              <a:rPr lang="en-US" altLang="en-US" sz="1600" b="1" dirty="0" err="1">
                <a:solidFill>
                  <a:srgbClr val="FF0000"/>
                </a:solidFill>
              </a:rPr>
              <a:t>harp_ROI</a:t>
            </a:r>
            <a:r>
              <a:rPr lang="en-US" altLang="en-US" sz="1600" b="1" dirty="0">
                <a:solidFill>
                  <a:srgbClr val="FF0000"/>
                </a:solidFill>
              </a:rPr>
              <a:t>, </a:t>
            </a:r>
            <a:r>
              <a:rPr lang="en-US" altLang="en-US" sz="1600" b="1" dirty="0" err="1">
                <a:solidFill>
                  <a:srgbClr val="FF0000"/>
                </a:solidFill>
              </a:rPr>
              <a:t>pax_ROI</a:t>
            </a:r>
            <a:r>
              <a:rPr lang="en-US" altLang="en-US" sz="1600" b="1" dirty="0">
                <a:solidFill>
                  <a:srgbClr val="FF0000"/>
                </a:solidFill>
              </a:rPr>
              <a:t>, and </a:t>
            </a:r>
            <a:r>
              <a:rPr lang="en-US" altLang="en-US" sz="1600" b="1" dirty="0" err="1">
                <a:solidFill>
                  <a:srgbClr val="FF0000"/>
                </a:solidFill>
              </a:rPr>
              <a:t>wanc_ROI</a:t>
            </a:r>
            <a:r>
              <a:rPr lang="en-US" altLang="en-US" sz="1600" b="1" dirty="0">
                <a:solidFill>
                  <a:srgbClr val="FF0000"/>
                </a:solidFill>
              </a:rPr>
              <a:t> </a:t>
            </a:r>
            <a:r>
              <a:rPr lang="en-US" altLang="en-US" sz="1600" dirty="0"/>
              <a:t>respectively and display them.</a:t>
            </a:r>
          </a:p>
        </p:txBody>
      </p:sp>
      <p:pic>
        <p:nvPicPr>
          <p:cNvPr id="3" name="Picture 2"/>
          <p:cNvPicPr>
            <a:picLocks noChangeAspect="1"/>
          </p:cNvPicPr>
          <p:nvPr/>
        </p:nvPicPr>
        <p:blipFill>
          <a:blip r:embed="rId3"/>
          <a:stretch>
            <a:fillRect/>
          </a:stretch>
        </p:blipFill>
        <p:spPr>
          <a:xfrm>
            <a:off x="1237673" y="1985818"/>
            <a:ext cx="9518361" cy="4872182"/>
          </a:xfrm>
          <a:prstGeom prst="rect">
            <a:avLst/>
          </a:prstGeom>
        </p:spPr>
      </p:pic>
      <p:cxnSp>
        <p:nvCxnSpPr>
          <p:cNvPr id="13" name="Straight Arrow Connector 12"/>
          <p:cNvCxnSpPr/>
          <p:nvPr/>
        </p:nvCxnSpPr>
        <p:spPr>
          <a:xfrm flipV="1">
            <a:off x="129529" y="4130294"/>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flipV="1">
            <a:off x="7499927" y="2231124"/>
            <a:ext cx="115235" cy="74861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62330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1333018" cy="1143000"/>
          </a:xfrm>
        </p:spPr>
        <p:txBody>
          <a:bodyPr>
            <a:normAutofit/>
          </a:bodyPr>
          <a:lstStyle/>
          <a:p>
            <a:pPr algn="ctr"/>
            <a:r>
              <a:rPr lang="en-US" sz="5400" dirty="0">
                <a:solidFill>
                  <a:srgbClr val="FF0000"/>
                </a:solidFill>
              </a:rPr>
              <a:t>Custom Preprocessing Function</a:t>
            </a:r>
          </a:p>
        </p:txBody>
      </p:sp>
    </p:spTree>
    <p:extLst>
      <p:ext uri="{BB962C8B-B14F-4D97-AF65-F5344CB8AC3E}">
        <p14:creationId xmlns:p14="http://schemas.microsoft.com/office/powerpoint/2010/main" val="35382219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66255" y="595026"/>
            <a:ext cx="11887200" cy="3329709"/>
          </a:xfrm>
        </p:spPr>
        <p:txBody>
          <a:bodyPr>
            <a:noAutofit/>
          </a:bodyPr>
          <a:lstStyle/>
          <a:p>
            <a:pPr marL="109728" indent="0" algn="just">
              <a:buClrTx/>
              <a:buNone/>
            </a:pPr>
            <a:r>
              <a:rPr lang="en-US" altLang="en-US" sz="1600" dirty="0"/>
              <a:t>The </a:t>
            </a:r>
            <a:r>
              <a:rPr lang="en-US" altLang="en-US" sz="1600" b="1" dirty="0">
                <a:solidFill>
                  <a:srgbClr val="FF0000"/>
                </a:solidFill>
              </a:rPr>
              <a:t>y-axis</a:t>
            </a:r>
            <a:r>
              <a:rPr lang="en-US" altLang="en-US" sz="1600" dirty="0"/>
              <a:t> of the seismic signals is displacement in </a:t>
            </a:r>
            <a:r>
              <a:rPr lang="en-US" altLang="en-US" sz="1600" b="1" dirty="0">
                <a:solidFill>
                  <a:srgbClr val="FF0000"/>
                </a:solidFill>
              </a:rPr>
              <a:t>nanometers</a:t>
            </a:r>
            <a:r>
              <a:rPr lang="en-US" altLang="en-US" sz="1600" dirty="0"/>
              <a:t>, but it can be easier to interpret the displacement in </a:t>
            </a:r>
            <a:r>
              <a:rPr lang="en-US" altLang="en-US" sz="1600" b="1" dirty="0">
                <a:solidFill>
                  <a:srgbClr val="FF0000"/>
                </a:solidFill>
              </a:rPr>
              <a:t>centimeters</a:t>
            </a:r>
            <a:r>
              <a:rPr lang="en-US" altLang="en-US" sz="1600" dirty="0"/>
              <a:t>. If you want to preprocess your signals with a method not built into Signal Analyzer, you can add a </a:t>
            </a:r>
            <a:r>
              <a:rPr lang="en-US" altLang="en-US" sz="1600" b="1" dirty="0">
                <a:solidFill>
                  <a:srgbClr val="FF0000"/>
                </a:solidFill>
              </a:rPr>
              <a:t>custom function</a:t>
            </a:r>
            <a:r>
              <a:rPr lang="en-US" altLang="en-US" sz="1600" dirty="0"/>
              <a:t>. Once you're in </a:t>
            </a:r>
            <a:r>
              <a:rPr lang="en-US" altLang="en-US" sz="1600" b="1" dirty="0">
                <a:solidFill>
                  <a:srgbClr val="FF0000"/>
                </a:solidFill>
              </a:rPr>
              <a:t>preprocessing mode</a:t>
            </a:r>
            <a:r>
              <a:rPr lang="en-US" altLang="en-US" sz="1600" dirty="0"/>
              <a:t>, select </a:t>
            </a:r>
            <a:r>
              <a:rPr lang="en-US" altLang="en-US" sz="1600" b="1" dirty="0">
                <a:solidFill>
                  <a:srgbClr val="FF0000"/>
                </a:solidFill>
              </a:rPr>
              <a:t>Add Custom Function </a:t>
            </a:r>
            <a:r>
              <a:rPr lang="en-US" altLang="en-US" sz="1600" dirty="0"/>
              <a:t>at the bottom of the </a:t>
            </a:r>
            <a:r>
              <a:rPr lang="en-US" altLang="en-US" sz="1600" dirty="0" smtClean="0"/>
              <a:t>                </a:t>
            </a:r>
            <a:r>
              <a:rPr lang="en-US" altLang="en-US" sz="1600" b="1" dirty="0" smtClean="0">
                <a:solidFill>
                  <a:srgbClr val="FF0000"/>
                </a:solidFill>
              </a:rPr>
              <a:t>Functions dropdown </a:t>
            </a:r>
            <a:r>
              <a:rPr lang="en-US" altLang="en-US" sz="1600" dirty="0" smtClean="0"/>
              <a:t>. A </a:t>
            </a:r>
            <a:r>
              <a:rPr lang="en-US" altLang="en-US" sz="1600" dirty="0"/>
              <a:t>function named </a:t>
            </a:r>
            <a:r>
              <a:rPr lang="en-US" altLang="en-US" sz="1600" b="1" dirty="0">
                <a:solidFill>
                  <a:srgbClr val="FF0000"/>
                </a:solidFill>
              </a:rPr>
              <a:t>nm2cm</a:t>
            </a:r>
            <a:r>
              <a:rPr lang="en-US" altLang="en-US" sz="1600" dirty="0"/>
              <a:t> has been provided to convert the signals </a:t>
            </a:r>
            <a:r>
              <a:rPr lang="en-US" altLang="en-US" sz="1600" b="1" dirty="0">
                <a:solidFill>
                  <a:srgbClr val="FF0000"/>
                </a:solidFill>
              </a:rPr>
              <a:t>from nanometers to centimeters</a:t>
            </a:r>
            <a:r>
              <a:rPr lang="en-US" altLang="en-US" sz="1600" dirty="0" smtClean="0"/>
              <a:t>. </a:t>
            </a:r>
            <a:r>
              <a:rPr lang="en-US" altLang="en-US" sz="1600" dirty="0"/>
              <a:t>so the function file already </a:t>
            </a:r>
            <a:r>
              <a:rPr lang="en-US" altLang="en-US" sz="1600" dirty="0" smtClean="0"/>
              <a:t>contains.</a:t>
            </a:r>
            <a:endParaRPr lang="en-US" altLang="en-US" sz="1600" dirty="0"/>
          </a:p>
          <a:p>
            <a:pPr marL="109728" indent="0">
              <a:buClrTx/>
              <a:buNone/>
            </a:pPr>
            <a:r>
              <a:rPr lang="en-US" altLang="en-US" sz="1600" dirty="0">
                <a:solidFill>
                  <a:srgbClr val="0070C0"/>
                </a:solidFill>
              </a:rPr>
              <a:t>function</a:t>
            </a:r>
            <a:r>
              <a:rPr lang="en-US" altLang="en-US" sz="1600" dirty="0"/>
              <a:t> [</a:t>
            </a:r>
            <a:r>
              <a:rPr lang="en-US" altLang="en-US" sz="1600" dirty="0" err="1"/>
              <a:t>y,t</a:t>
            </a:r>
            <a:r>
              <a:rPr lang="en-US" altLang="en-US" sz="1600" dirty="0"/>
              <a:t>] = nm2cm(</a:t>
            </a:r>
            <a:r>
              <a:rPr lang="en-US" altLang="en-US" sz="1600" dirty="0" err="1"/>
              <a:t>x,t</a:t>
            </a:r>
            <a:r>
              <a:rPr lang="en-US" altLang="en-US" sz="1600" dirty="0"/>
              <a:t>)</a:t>
            </a:r>
          </a:p>
          <a:p>
            <a:pPr marL="109728" indent="0">
              <a:buClrTx/>
              <a:buNone/>
            </a:pPr>
            <a:r>
              <a:rPr lang="en-US" altLang="en-US" sz="1600" dirty="0"/>
              <a:t>    y = x/1e7;</a:t>
            </a:r>
          </a:p>
          <a:p>
            <a:pPr marL="109728" indent="0">
              <a:buClrTx/>
              <a:buNone/>
            </a:pPr>
            <a:r>
              <a:rPr lang="en-US" altLang="en-US" sz="1600" dirty="0" smtClean="0">
                <a:solidFill>
                  <a:srgbClr val="0070C0"/>
                </a:solidFill>
              </a:rPr>
              <a:t>End</a:t>
            </a:r>
          </a:p>
          <a:p>
            <a:pPr marL="109728" indent="0">
              <a:buClrTx/>
              <a:buNone/>
            </a:pPr>
            <a:endParaRPr lang="en-US" altLang="en-US" sz="1600" dirty="0">
              <a:solidFill>
                <a:srgbClr val="0070C0"/>
              </a:solidFill>
            </a:endParaRPr>
          </a:p>
          <a:p>
            <a:pPr marL="109728" indent="0">
              <a:buClrTx/>
              <a:buNone/>
            </a:pPr>
            <a:r>
              <a:rPr lang="en-US" altLang="en-US" sz="1600" b="1" dirty="0" smtClean="0"/>
              <a:t># TASK</a:t>
            </a:r>
            <a:endParaRPr lang="en-US" altLang="en-US" sz="1600" b="1" dirty="0"/>
          </a:p>
          <a:p>
            <a:pPr marL="109728" indent="0">
              <a:buClrTx/>
              <a:buNone/>
            </a:pPr>
            <a:r>
              <a:rPr lang="en-US" altLang="en-US" sz="1600" dirty="0"/>
              <a:t>Duplicate the </a:t>
            </a:r>
            <a:r>
              <a:rPr lang="en-US" altLang="en-US" sz="1600" b="1" dirty="0">
                <a:solidFill>
                  <a:srgbClr val="FF0000"/>
                </a:solidFill>
              </a:rPr>
              <a:t>harp, </a:t>
            </a:r>
            <a:r>
              <a:rPr lang="en-US" altLang="en-US" sz="1600" b="1" dirty="0" err="1">
                <a:solidFill>
                  <a:srgbClr val="FF0000"/>
                </a:solidFill>
              </a:rPr>
              <a:t>pax</a:t>
            </a:r>
            <a:r>
              <a:rPr lang="en-US" altLang="en-US" sz="1600" b="1" dirty="0">
                <a:solidFill>
                  <a:srgbClr val="FF0000"/>
                </a:solidFill>
              </a:rPr>
              <a:t>, and </a:t>
            </a:r>
            <a:r>
              <a:rPr lang="en-US" altLang="en-US" sz="1600" b="1" dirty="0" err="1">
                <a:solidFill>
                  <a:srgbClr val="FF0000"/>
                </a:solidFill>
              </a:rPr>
              <a:t>wanc</a:t>
            </a:r>
            <a:r>
              <a:rPr lang="en-US" altLang="en-US" sz="1600" b="1" dirty="0">
                <a:solidFill>
                  <a:srgbClr val="FF0000"/>
                </a:solidFill>
              </a:rPr>
              <a:t> </a:t>
            </a:r>
            <a:r>
              <a:rPr lang="en-US" altLang="en-US" sz="1600" dirty="0"/>
              <a:t>signals and </a:t>
            </a:r>
            <a:r>
              <a:rPr lang="en-US" altLang="en-US" sz="1600" b="1" dirty="0">
                <a:solidFill>
                  <a:srgbClr val="FF0000"/>
                </a:solidFill>
              </a:rPr>
              <a:t>append _cm </a:t>
            </a:r>
            <a:r>
              <a:rPr lang="en-US" altLang="en-US" sz="1600" dirty="0"/>
              <a:t>to the signal names. For example, duplicate harp and name the result </a:t>
            </a:r>
            <a:r>
              <a:rPr lang="en-US" altLang="en-US" sz="1600" dirty="0" err="1"/>
              <a:t>harp_cm</a:t>
            </a:r>
            <a:r>
              <a:rPr lang="en-US" altLang="en-US" sz="1600" dirty="0"/>
              <a:t>.</a:t>
            </a:r>
          </a:p>
          <a:p>
            <a:pPr marL="109728" indent="0">
              <a:buClrTx/>
              <a:buNone/>
            </a:pPr>
            <a:endParaRPr lang="en-US" altLang="en-US" sz="1600" dirty="0"/>
          </a:p>
          <a:p>
            <a:pPr marL="109728" indent="0">
              <a:buClrTx/>
              <a:buNone/>
            </a:pPr>
            <a:r>
              <a:rPr lang="en-US" altLang="en-US" sz="1600" dirty="0"/>
              <a:t>The function </a:t>
            </a:r>
            <a:r>
              <a:rPr lang="en-US" altLang="en-US" sz="1600" b="1" dirty="0">
                <a:solidFill>
                  <a:srgbClr val="FF0000"/>
                </a:solidFill>
              </a:rPr>
              <a:t>nm2cm</a:t>
            </a:r>
            <a:r>
              <a:rPr lang="en-US" altLang="en-US" sz="1600" dirty="0"/>
              <a:t> has been written for you. Use the custom preprocessing function nm2cm to process the three new signals so that their units are in centimeters instead of nanometers. Then display the three new signals in the time domain.</a:t>
            </a:r>
          </a:p>
        </p:txBody>
      </p:sp>
      <p:pic>
        <p:nvPicPr>
          <p:cNvPr id="7" name="Picture 6"/>
          <p:cNvPicPr>
            <a:picLocks noChangeAspect="1"/>
          </p:cNvPicPr>
          <p:nvPr/>
        </p:nvPicPr>
        <p:blipFill>
          <a:blip r:embed="rId3"/>
          <a:stretch>
            <a:fillRect/>
          </a:stretch>
        </p:blipFill>
        <p:spPr>
          <a:xfrm>
            <a:off x="7647565" y="4821381"/>
            <a:ext cx="4156508" cy="2036619"/>
          </a:xfrm>
          <a:prstGeom prst="rect">
            <a:avLst/>
          </a:prstGeom>
        </p:spPr>
      </p:pic>
      <p:pic>
        <p:nvPicPr>
          <p:cNvPr id="3" name="Picture 2"/>
          <p:cNvPicPr>
            <a:picLocks noChangeAspect="1"/>
          </p:cNvPicPr>
          <p:nvPr/>
        </p:nvPicPr>
        <p:blipFill>
          <a:blip r:embed="rId4"/>
          <a:stretch>
            <a:fillRect/>
          </a:stretch>
        </p:blipFill>
        <p:spPr>
          <a:xfrm>
            <a:off x="1126186" y="5050901"/>
            <a:ext cx="5556250" cy="1325511"/>
          </a:xfrm>
          <a:prstGeom prst="rect">
            <a:avLst/>
          </a:prstGeom>
        </p:spPr>
      </p:pic>
      <p:cxnSp>
        <p:nvCxnSpPr>
          <p:cNvPr id="8" name="Straight Arrow Connector 7"/>
          <p:cNvCxnSpPr/>
          <p:nvPr/>
        </p:nvCxnSpPr>
        <p:spPr>
          <a:xfrm flipV="1">
            <a:off x="4479854" y="6228630"/>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56537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123">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pic>
        <p:nvPicPr>
          <p:cNvPr id="16" name="Content Placeholder 3"/>
          <p:cNvPicPr>
            <a:picLocks noGrp="1" noChangeAspect="1"/>
          </p:cNvPicPr>
          <p:nvPr>
            <p:ph idx="1"/>
          </p:nvPr>
        </p:nvPicPr>
        <p:blipFill>
          <a:blip r:embed="rId3"/>
          <a:stretch>
            <a:fillRect/>
          </a:stretch>
        </p:blipFill>
        <p:spPr>
          <a:xfrm>
            <a:off x="954520" y="946007"/>
            <a:ext cx="10461625" cy="5534155"/>
          </a:xfrm>
          <a:prstGeom prst="rect">
            <a:avLst/>
          </a:prstGeom>
        </p:spPr>
      </p:pic>
      <p:cxnSp>
        <p:nvCxnSpPr>
          <p:cNvPr id="18" name="Straight Arrow Connector 17"/>
          <p:cNvCxnSpPr/>
          <p:nvPr/>
        </p:nvCxnSpPr>
        <p:spPr>
          <a:xfrm flipV="1">
            <a:off x="877673" y="3810243"/>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9" name="Straight Arrow Connector 18"/>
          <p:cNvCxnSpPr/>
          <p:nvPr/>
        </p:nvCxnSpPr>
        <p:spPr>
          <a:xfrm flipV="1">
            <a:off x="4877019" y="1723066"/>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41853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pic>
        <p:nvPicPr>
          <p:cNvPr id="9" name="Content Placeholder 4"/>
          <p:cNvPicPr>
            <a:picLocks noChangeAspect="1"/>
          </p:cNvPicPr>
          <p:nvPr/>
        </p:nvPicPr>
        <p:blipFill>
          <a:blip r:embed="rId3"/>
          <a:stretch>
            <a:fillRect/>
          </a:stretch>
        </p:blipFill>
        <p:spPr>
          <a:xfrm>
            <a:off x="1149754" y="1166526"/>
            <a:ext cx="9730681" cy="5165756"/>
          </a:xfrm>
          <a:prstGeom prst="rect">
            <a:avLst/>
          </a:prstGeom>
        </p:spPr>
      </p:pic>
      <p:cxnSp>
        <p:nvCxnSpPr>
          <p:cNvPr id="10" name="Straight Arrow Connector 9"/>
          <p:cNvCxnSpPr/>
          <p:nvPr/>
        </p:nvCxnSpPr>
        <p:spPr>
          <a:xfrm flipV="1">
            <a:off x="3657600" y="2889063"/>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668606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pic>
        <p:nvPicPr>
          <p:cNvPr id="5" name="Content Placeholder 3"/>
          <p:cNvPicPr>
            <a:picLocks noGrp="1" noChangeAspect="1"/>
          </p:cNvPicPr>
          <p:nvPr>
            <p:ph idx="1"/>
          </p:nvPr>
        </p:nvPicPr>
        <p:blipFill>
          <a:blip r:embed="rId3"/>
          <a:stretch>
            <a:fillRect/>
          </a:stretch>
        </p:blipFill>
        <p:spPr>
          <a:xfrm>
            <a:off x="1015999" y="1070656"/>
            <a:ext cx="10510983" cy="5896406"/>
          </a:xfrm>
          <a:prstGeom prst="rect">
            <a:avLst/>
          </a:prstGeom>
        </p:spPr>
      </p:pic>
      <p:cxnSp>
        <p:nvCxnSpPr>
          <p:cNvPr id="6" name="Straight Arrow Connector 5"/>
          <p:cNvCxnSpPr/>
          <p:nvPr/>
        </p:nvCxnSpPr>
        <p:spPr>
          <a:xfrm flipV="1">
            <a:off x="3943927" y="1847715"/>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7" name="Straight Arrow Connector 6"/>
          <p:cNvCxnSpPr/>
          <p:nvPr/>
        </p:nvCxnSpPr>
        <p:spPr>
          <a:xfrm>
            <a:off x="9642763" y="5403273"/>
            <a:ext cx="904944" cy="63539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1" name="Straight Arrow Connector 10"/>
          <p:cNvCxnSpPr/>
          <p:nvPr/>
        </p:nvCxnSpPr>
        <p:spPr>
          <a:xfrm flipV="1">
            <a:off x="9356436" y="1847715"/>
            <a:ext cx="914180" cy="731881"/>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68396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pic>
        <p:nvPicPr>
          <p:cNvPr id="8" name="Content Placeholder 4"/>
          <p:cNvPicPr>
            <a:picLocks noGrp="1" noChangeAspect="1"/>
          </p:cNvPicPr>
          <p:nvPr>
            <p:ph idx="1"/>
          </p:nvPr>
        </p:nvPicPr>
        <p:blipFill>
          <a:blip r:embed="rId3"/>
          <a:stretch>
            <a:fillRect/>
          </a:stretch>
        </p:blipFill>
        <p:spPr>
          <a:xfrm>
            <a:off x="722815" y="775618"/>
            <a:ext cx="11090493" cy="6082382"/>
          </a:xfrm>
          <a:prstGeom prst="rect">
            <a:avLst/>
          </a:prstGeom>
        </p:spPr>
      </p:pic>
    </p:spTree>
    <p:extLst>
      <p:ext uri="{BB962C8B-B14F-4D97-AF65-F5344CB8AC3E}">
        <p14:creationId xmlns:p14="http://schemas.microsoft.com/office/powerpoint/2010/main" val="165402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a:t>
            </a:r>
            <a:r>
              <a:rPr lang="en-US" altLang="en-US" sz="4000" dirty="0" smtClean="0"/>
              <a:t/>
            </a:r>
            <a:br>
              <a:rPr lang="en-US" altLang="en-US" sz="4000" dirty="0" smtClean="0"/>
            </a:br>
            <a:endParaRPr lang="en-US" altLang="en-US" sz="4000" dirty="0" smtClean="0"/>
          </a:p>
        </p:txBody>
      </p:sp>
      <p:sp>
        <p:nvSpPr>
          <p:cNvPr id="2" name="Content Placeholder 1"/>
          <p:cNvSpPr>
            <a:spLocks noGrp="1"/>
          </p:cNvSpPr>
          <p:nvPr>
            <p:ph idx="1"/>
          </p:nvPr>
        </p:nvSpPr>
        <p:spPr>
          <a:xfrm>
            <a:off x="526473" y="760893"/>
            <a:ext cx="10972800" cy="4525963"/>
          </a:xfrm>
        </p:spPr>
        <p:txBody>
          <a:bodyPr>
            <a:normAutofit/>
          </a:bodyPr>
          <a:lstStyle/>
          <a:p>
            <a:pPr marL="109728" indent="0" algn="just">
              <a:buNone/>
            </a:pPr>
            <a:r>
              <a:rPr lang="en-US" sz="1800" dirty="0"/>
              <a:t>Instead of adding functionality to Signal Analyzer, you may want to process your signals </a:t>
            </a:r>
            <a:r>
              <a:rPr lang="en-US" sz="1800" b="1" dirty="0">
                <a:solidFill>
                  <a:srgbClr val="FF0000"/>
                </a:solidFill>
              </a:rPr>
              <a:t>outside the app</a:t>
            </a:r>
            <a:r>
              <a:rPr lang="en-US" sz="1800" dirty="0"/>
              <a:t>. In the next activity, you'll align these three signals to make it easier to compare the peaks. This requires using MATLAB functions outside of the app because the functions require multiple signals. To continue your work outside of Signal Analyzer, you can export the signals</a:t>
            </a:r>
            <a:r>
              <a:rPr lang="en-US" sz="1800" dirty="0" smtClean="0"/>
              <a:t>.</a:t>
            </a:r>
            <a:endParaRPr lang="en-US" sz="1800" dirty="0"/>
          </a:p>
          <a:p>
            <a:pPr marL="109728" indent="0" algn="just">
              <a:buNone/>
            </a:pPr>
            <a:r>
              <a:rPr lang="en-US" sz="1800" b="1" dirty="0">
                <a:solidFill>
                  <a:srgbClr val="FF0000"/>
                </a:solidFill>
              </a:rPr>
              <a:t>To export, right-click the signal and select Export</a:t>
            </a:r>
            <a:r>
              <a:rPr lang="en-US" sz="1800" b="1" dirty="0" smtClean="0">
                <a:solidFill>
                  <a:srgbClr val="FF0000"/>
                </a:solidFill>
              </a:rPr>
              <a:t>.</a:t>
            </a:r>
          </a:p>
          <a:p>
            <a:pPr marL="109728" indent="0" algn="just">
              <a:buNone/>
            </a:pPr>
            <a:endParaRPr lang="en-US" sz="1800" b="1" dirty="0" smtClean="0">
              <a:solidFill>
                <a:srgbClr val="FF0000"/>
              </a:solidFill>
            </a:endParaRPr>
          </a:p>
          <a:p>
            <a:pPr marL="109728" indent="0" algn="just">
              <a:buNone/>
            </a:pPr>
            <a:endParaRPr lang="en-US" sz="1800" b="1" dirty="0">
              <a:solidFill>
                <a:srgbClr val="FF0000"/>
              </a:solidFill>
            </a:endParaRPr>
          </a:p>
          <a:p>
            <a:pPr marL="109728" indent="0" algn="just">
              <a:buNone/>
            </a:pPr>
            <a:r>
              <a:rPr lang="en-US" sz="1800" b="1" dirty="0" smtClean="0"/>
              <a:t>#TASK</a:t>
            </a:r>
            <a:endParaRPr lang="en-US" sz="1800" b="1" dirty="0"/>
          </a:p>
          <a:p>
            <a:pPr marL="109728" indent="0" algn="just">
              <a:buNone/>
            </a:pPr>
            <a:r>
              <a:rPr lang="en-US" sz="1800" dirty="0"/>
              <a:t>Export all three signals with centimeter units to the Workspace.</a:t>
            </a:r>
          </a:p>
        </p:txBody>
      </p:sp>
      <p:pic>
        <p:nvPicPr>
          <p:cNvPr id="3" name="Picture 2"/>
          <p:cNvPicPr>
            <a:picLocks noChangeAspect="1"/>
          </p:cNvPicPr>
          <p:nvPr/>
        </p:nvPicPr>
        <p:blipFill rotWithShape="1">
          <a:blip r:embed="rId3"/>
          <a:srcRect t="11979"/>
          <a:stretch/>
        </p:blipFill>
        <p:spPr>
          <a:xfrm>
            <a:off x="7549591" y="2142835"/>
            <a:ext cx="4459991" cy="1348533"/>
          </a:xfrm>
          <a:prstGeom prst="rect">
            <a:avLst/>
          </a:prstGeom>
        </p:spPr>
      </p:pic>
      <p:pic>
        <p:nvPicPr>
          <p:cNvPr id="4" name="Picture 3"/>
          <p:cNvPicPr>
            <a:picLocks noChangeAspect="1"/>
          </p:cNvPicPr>
          <p:nvPr/>
        </p:nvPicPr>
        <p:blipFill>
          <a:blip r:embed="rId4"/>
          <a:stretch>
            <a:fillRect/>
          </a:stretch>
        </p:blipFill>
        <p:spPr>
          <a:xfrm>
            <a:off x="8435140" y="3782530"/>
            <a:ext cx="3232697" cy="2392196"/>
          </a:xfrm>
          <a:prstGeom prst="rect">
            <a:avLst/>
          </a:prstGeom>
        </p:spPr>
      </p:pic>
      <p:pic>
        <p:nvPicPr>
          <p:cNvPr id="5" name="Picture 4"/>
          <p:cNvPicPr>
            <a:picLocks noChangeAspect="1"/>
          </p:cNvPicPr>
          <p:nvPr/>
        </p:nvPicPr>
        <p:blipFill>
          <a:blip r:embed="rId5"/>
          <a:stretch>
            <a:fillRect/>
          </a:stretch>
        </p:blipFill>
        <p:spPr>
          <a:xfrm>
            <a:off x="2549989" y="3978515"/>
            <a:ext cx="3895725" cy="3019425"/>
          </a:xfrm>
          <a:prstGeom prst="rect">
            <a:avLst/>
          </a:prstGeom>
        </p:spPr>
      </p:pic>
    </p:spTree>
    <p:extLst>
      <p:ext uri="{BB962C8B-B14F-4D97-AF65-F5344CB8AC3E}">
        <p14:creationId xmlns:p14="http://schemas.microsoft.com/office/powerpoint/2010/main" val="302309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57382" y="2112675"/>
            <a:ext cx="11333018" cy="1143000"/>
          </a:xfrm>
        </p:spPr>
        <p:txBody>
          <a:bodyPr>
            <a:normAutofit/>
          </a:bodyPr>
          <a:lstStyle/>
          <a:p>
            <a:pPr algn="ctr"/>
            <a:r>
              <a:rPr lang="en-US" sz="5400" dirty="0">
                <a:solidFill>
                  <a:srgbClr val="FF0000"/>
                </a:solidFill>
              </a:rPr>
              <a:t>Align Signals</a:t>
            </a:r>
          </a:p>
        </p:txBody>
      </p:sp>
    </p:spTree>
    <p:extLst>
      <p:ext uri="{BB962C8B-B14F-4D97-AF65-F5344CB8AC3E}">
        <p14:creationId xmlns:p14="http://schemas.microsoft.com/office/powerpoint/2010/main" val="23308194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a:t>
            </a:r>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a:t>
            </a:r>
            <a:r>
              <a:rPr lang="en-US" altLang="en-US" sz="4000" dirty="0" smtClean="0"/>
              <a:t/>
            </a:r>
            <a:br>
              <a:rPr lang="en-US" altLang="en-US" sz="4000" dirty="0" smtClean="0"/>
            </a:br>
            <a:endParaRPr lang="en-US" altLang="en-US" sz="4000" dirty="0" smtClean="0"/>
          </a:p>
        </p:txBody>
      </p:sp>
      <p:sp>
        <p:nvSpPr>
          <p:cNvPr id="5123" name="Rectangle 3"/>
          <p:cNvSpPr>
            <a:spLocks noGrp="1" noChangeArrowheads="1"/>
          </p:cNvSpPr>
          <p:nvPr>
            <p:ph type="body" idx="1"/>
          </p:nvPr>
        </p:nvSpPr>
        <p:spPr>
          <a:xfrm>
            <a:off x="166255" y="595026"/>
            <a:ext cx="11887200" cy="3329709"/>
          </a:xfrm>
        </p:spPr>
        <p:txBody>
          <a:bodyPr>
            <a:noAutofit/>
          </a:bodyPr>
          <a:lstStyle/>
          <a:p>
            <a:pPr marL="109728" indent="0" algn="just">
              <a:buClrTx/>
              <a:buNone/>
            </a:pPr>
            <a:r>
              <a:rPr lang="en-US" altLang="en-US" sz="2000" dirty="0"/>
              <a:t>Since all three seismic stations should have recorded the same surface waves, all three signals should be correlated. The alignsignals function uses cross-correlation to estimate and delay signals.</a:t>
            </a:r>
          </a:p>
          <a:p>
            <a:pPr marL="109728" indent="0" algn="just">
              <a:buClrTx/>
              <a:buNone/>
            </a:pPr>
            <a:r>
              <a:rPr lang="en-US" altLang="en-US" sz="2000" b="1" dirty="0">
                <a:solidFill>
                  <a:srgbClr val="FF0000"/>
                </a:solidFill>
              </a:rPr>
              <a:t>[xa,ya] = alignsignals(</a:t>
            </a:r>
            <a:r>
              <a:rPr lang="en-US" altLang="en-US" sz="2000" b="1" dirty="0" err="1">
                <a:solidFill>
                  <a:srgbClr val="FF0000"/>
                </a:solidFill>
              </a:rPr>
              <a:t>x,y</a:t>
            </a:r>
            <a:r>
              <a:rPr lang="en-US" altLang="en-US" sz="2000" b="1" dirty="0">
                <a:solidFill>
                  <a:srgbClr val="FF0000"/>
                </a:solidFill>
              </a:rPr>
              <a:t>)</a:t>
            </a:r>
          </a:p>
          <a:p>
            <a:pPr marL="109728" indent="0" algn="just">
              <a:buClrTx/>
              <a:buNone/>
            </a:pPr>
            <a:r>
              <a:rPr lang="en-US" altLang="en-US" sz="2000" dirty="0"/>
              <a:t>If two signals have a </a:t>
            </a:r>
            <a:r>
              <a:rPr lang="en-US" altLang="en-US" sz="2000" b="1" dirty="0">
                <a:solidFill>
                  <a:srgbClr val="FF0000"/>
                </a:solidFill>
              </a:rPr>
              <a:t>sufficient correlation</a:t>
            </a:r>
            <a:r>
              <a:rPr lang="en-US" altLang="en-US" sz="2000" dirty="0"/>
              <a:t>, the earlier output signal is </a:t>
            </a:r>
            <a:r>
              <a:rPr lang="en-US" altLang="en-US" sz="2000" b="1" dirty="0">
                <a:solidFill>
                  <a:srgbClr val="FF0000"/>
                </a:solidFill>
              </a:rPr>
              <a:t>padded with zeros</a:t>
            </a:r>
            <a:r>
              <a:rPr lang="en-US" altLang="en-US" sz="2000" dirty="0" smtClean="0"/>
              <a:t>.</a:t>
            </a:r>
          </a:p>
          <a:p>
            <a:pPr marL="109728" indent="0" algn="just">
              <a:buClrTx/>
              <a:buNone/>
            </a:pPr>
            <a:endParaRPr lang="en-US" altLang="en-US" sz="2000" dirty="0" smtClean="0"/>
          </a:p>
          <a:p>
            <a:pPr marL="109728" indent="0" algn="just">
              <a:buClrTx/>
              <a:buNone/>
            </a:pPr>
            <a:endParaRPr lang="en-US" altLang="en-US" sz="2000" dirty="0"/>
          </a:p>
          <a:p>
            <a:pPr marL="109728" indent="0" algn="just">
              <a:buClrTx/>
              <a:buNone/>
            </a:pPr>
            <a:endParaRPr lang="en-US" altLang="en-US" sz="2000" dirty="0"/>
          </a:p>
          <a:p>
            <a:pPr marL="109728" indent="0" algn="just">
              <a:buClrTx/>
              <a:buNone/>
            </a:pPr>
            <a:r>
              <a:rPr lang="en-US" altLang="en-US" sz="2000" b="1" dirty="0" smtClean="0"/>
              <a:t>#TASK</a:t>
            </a:r>
            <a:endParaRPr lang="en-US" altLang="en-US" sz="2000" b="1" dirty="0"/>
          </a:p>
          <a:p>
            <a:pPr marL="109728" indent="0" algn="just">
              <a:buClrTx/>
              <a:buNone/>
            </a:pPr>
            <a:r>
              <a:rPr lang="en-US" altLang="en-US" sz="2000" dirty="0"/>
              <a:t>The signals with centimeter units were renamed back to </a:t>
            </a:r>
            <a:r>
              <a:rPr lang="en-US" altLang="en-US" sz="2000" b="1" dirty="0">
                <a:solidFill>
                  <a:srgbClr val="FF0000"/>
                </a:solidFill>
              </a:rPr>
              <a:t>harp, </a:t>
            </a:r>
            <a:r>
              <a:rPr lang="en-US" altLang="en-US" sz="2000" b="1" dirty="0" err="1">
                <a:solidFill>
                  <a:srgbClr val="FF0000"/>
                </a:solidFill>
              </a:rPr>
              <a:t>pax</a:t>
            </a:r>
            <a:r>
              <a:rPr lang="en-US" altLang="en-US" sz="2000" b="1" dirty="0">
                <a:solidFill>
                  <a:srgbClr val="FF0000"/>
                </a:solidFill>
              </a:rPr>
              <a:t>, and </a:t>
            </a:r>
            <a:r>
              <a:rPr lang="en-US" altLang="en-US" sz="2000" b="1" dirty="0" err="1">
                <a:solidFill>
                  <a:srgbClr val="FF0000"/>
                </a:solidFill>
              </a:rPr>
              <a:t>wanc</a:t>
            </a:r>
            <a:r>
              <a:rPr lang="en-US" altLang="en-US" sz="2000" b="1" dirty="0">
                <a:solidFill>
                  <a:srgbClr val="FF0000"/>
                </a:solidFill>
              </a:rPr>
              <a:t> </a:t>
            </a:r>
            <a:r>
              <a:rPr lang="en-US" altLang="en-US" sz="2000" dirty="0"/>
              <a:t>to keep the variable names short.</a:t>
            </a:r>
          </a:p>
          <a:p>
            <a:pPr marL="109728" indent="0" algn="just">
              <a:buClrTx/>
              <a:buNone/>
            </a:pPr>
            <a:endParaRPr lang="en-US" altLang="en-US" sz="2000" dirty="0"/>
          </a:p>
          <a:p>
            <a:pPr marL="109728" indent="0" algn="just">
              <a:buClrTx/>
              <a:buNone/>
            </a:pPr>
            <a:r>
              <a:rPr lang="en-US" altLang="en-US" sz="2000" b="1" dirty="0">
                <a:solidFill>
                  <a:srgbClr val="FF0000"/>
                </a:solidFill>
              </a:rPr>
              <a:t>Align harp and </a:t>
            </a:r>
            <a:r>
              <a:rPr lang="en-US" altLang="en-US" sz="2000" b="1" dirty="0" err="1">
                <a:solidFill>
                  <a:srgbClr val="FF0000"/>
                </a:solidFill>
              </a:rPr>
              <a:t>wanc</a:t>
            </a:r>
            <a:r>
              <a:rPr lang="en-US" altLang="en-US" sz="2000" dirty="0"/>
              <a:t>. Use the same output variable names so that the visualization code at the bottom of the script plots the aligned signals.</a:t>
            </a:r>
          </a:p>
        </p:txBody>
      </p:sp>
    </p:spTree>
    <p:extLst>
      <p:ext uri="{BB962C8B-B14F-4D97-AF65-F5344CB8AC3E}">
        <p14:creationId xmlns:p14="http://schemas.microsoft.com/office/powerpoint/2010/main" val="1670960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1</a:t>
            </a:r>
            <a:r>
              <a:rPr lang="en-US" altLang="en-US" sz="4000" dirty="0" smtClean="0"/>
              <a:t/>
            </a:r>
            <a:br>
              <a:rPr lang="en-US" altLang="en-US" sz="4000" dirty="0" smtClean="0"/>
            </a:br>
            <a:endParaRPr lang="en-US" altLang="en-US" sz="4000" dirty="0" smtClean="0"/>
          </a:p>
        </p:txBody>
      </p:sp>
      <p:sp>
        <p:nvSpPr>
          <p:cNvPr id="3" name="Rectangle 2"/>
          <p:cNvSpPr/>
          <p:nvPr/>
        </p:nvSpPr>
        <p:spPr>
          <a:xfrm>
            <a:off x="341744" y="828242"/>
            <a:ext cx="9328729" cy="5016758"/>
          </a:xfrm>
          <a:prstGeom prst="rect">
            <a:avLst/>
          </a:prstGeom>
        </p:spPr>
        <p:txBody>
          <a:bodyPr wrap="square">
            <a:spAutoFit/>
          </a:bodyPr>
          <a:lstStyle/>
          <a:p>
            <a:pPr lvl="0" eaLnBrk="0" fontAlgn="base" hangingPunct="0">
              <a:spcBef>
                <a:spcPct val="0"/>
              </a:spcBef>
              <a:spcAft>
                <a:spcPct val="0"/>
              </a:spcAft>
            </a:pPr>
            <a:r>
              <a:rPr lang="en-US" altLang="en-US" sz="2000" b="1" dirty="0">
                <a:solidFill>
                  <a:srgbClr val="FF0000"/>
                </a:solidFill>
                <a:latin typeface="Helvetica" panose="020B0604020202020204" pitchFamily="34" charset="0"/>
              </a:rPr>
              <a:t>Align Signals</a:t>
            </a:r>
          </a:p>
          <a:p>
            <a:pPr lvl="0" eaLnBrk="0" fontAlgn="base" hangingPunct="0">
              <a:spcBef>
                <a:spcPct val="0"/>
              </a:spcBef>
              <a:spcAft>
                <a:spcPct val="0"/>
              </a:spcAft>
            </a:pPr>
            <a:endParaRPr lang="en-US" altLang="en-US" sz="2000" dirty="0">
              <a:solidFill>
                <a:prstClr val="black"/>
              </a:solidFill>
              <a:latin typeface="Arial" panose="020B0604020202020204" pitchFamily="34" charset="0"/>
            </a:endParaRPr>
          </a:p>
          <a:p>
            <a:pPr lvl="0" eaLnBrk="0" fontAlgn="base" hangingPunct="0">
              <a:spcBef>
                <a:spcPct val="0"/>
              </a:spcBef>
              <a:spcAft>
                <a:spcPct val="0"/>
              </a:spcAft>
            </a:pPr>
            <a:r>
              <a:rPr lang="en-US" altLang="en-US" sz="2000" dirty="0">
                <a:solidFill>
                  <a:prstClr val="black"/>
                </a:solidFill>
              </a:rPr>
              <a:t>This code imports the signals.</a:t>
            </a:r>
          </a:p>
          <a:p>
            <a:pPr lvl="0" eaLnBrk="0" fontAlgn="base" hangingPunct="0">
              <a:spcBef>
                <a:spcPct val="0"/>
              </a:spcBef>
              <a:spcAft>
                <a:spcPct val="0"/>
              </a:spcAft>
            </a:pPr>
            <a:r>
              <a:rPr lang="en-US" altLang="en-US" sz="2000" dirty="0">
                <a:solidFill>
                  <a:prstClr val="black"/>
                </a:solidFill>
              </a:rPr>
              <a:t>load </a:t>
            </a:r>
            <a:r>
              <a:rPr lang="en-US" altLang="en-US" sz="2000" dirty="0" err="1" smtClean="0">
                <a:solidFill>
                  <a:srgbClr val="A709F5"/>
                </a:solidFill>
              </a:rPr>
              <a:t>processedsignals.mat</a:t>
            </a:r>
            <a:endParaRPr lang="en-US" altLang="en-US" sz="2000" dirty="0" smtClean="0">
              <a:solidFill>
                <a:srgbClr val="A709F5"/>
              </a:solidFill>
            </a:endParaRPr>
          </a:p>
          <a:p>
            <a:pPr lvl="0" eaLnBrk="0" fontAlgn="base" hangingPunct="0">
              <a:spcBef>
                <a:spcPct val="0"/>
              </a:spcBef>
              <a:spcAft>
                <a:spcPct val="0"/>
              </a:spcAft>
            </a:pPr>
            <a:endParaRPr lang="en-US" altLang="en-US" sz="2000" dirty="0">
              <a:solidFill>
                <a:prstClr val="black"/>
              </a:solidFill>
            </a:endParaRPr>
          </a:p>
          <a:p>
            <a:pPr lvl="0" eaLnBrk="0" fontAlgn="base" hangingPunct="0">
              <a:spcBef>
                <a:spcPct val="0"/>
              </a:spcBef>
              <a:spcAft>
                <a:spcPct val="0"/>
              </a:spcAft>
            </a:pPr>
            <a:r>
              <a:rPr lang="en-US" altLang="en-US" sz="2000" dirty="0">
                <a:solidFill>
                  <a:prstClr val="black"/>
                </a:solidFill>
              </a:rPr>
              <a:t>Use the </a:t>
            </a:r>
            <a:r>
              <a:rPr lang="en-US" altLang="en-US" sz="2000" b="1" dirty="0">
                <a:solidFill>
                  <a:srgbClr val="FF0000"/>
                </a:solidFill>
              </a:rPr>
              <a:t>finddelay function </a:t>
            </a:r>
            <a:r>
              <a:rPr lang="en-US" altLang="en-US" sz="2000" dirty="0">
                <a:solidFill>
                  <a:prstClr val="black"/>
                </a:solidFill>
              </a:rPr>
              <a:t>to find the signal that arrived last. </a:t>
            </a:r>
          </a:p>
          <a:p>
            <a:pPr lvl="0" eaLnBrk="0" fontAlgn="base" hangingPunct="0">
              <a:spcBef>
                <a:spcPct val="0"/>
              </a:spcBef>
              <a:spcAft>
                <a:spcPct val="0"/>
              </a:spcAft>
            </a:pPr>
            <a:r>
              <a:rPr lang="en-US" altLang="en-US" sz="2000" b="1" dirty="0">
                <a:solidFill>
                  <a:prstClr val="black"/>
                </a:solidFill>
              </a:rPr>
              <a:t>finddelay(</a:t>
            </a:r>
            <a:r>
              <a:rPr lang="en-US" altLang="en-US" sz="2000" b="1" dirty="0" err="1">
                <a:solidFill>
                  <a:prstClr val="black"/>
                </a:solidFill>
              </a:rPr>
              <a:t>harp,pax</a:t>
            </a:r>
            <a:r>
              <a:rPr lang="en-US" altLang="en-US" sz="2000" b="1" dirty="0">
                <a:solidFill>
                  <a:prstClr val="black"/>
                </a:solidFill>
              </a:rPr>
              <a:t>) </a:t>
            </a:r>
          </a:p>
          <a:p>
            <a:pPr lvl="0" eaLnBrk="0" fontAlgn="base" hangingPunct="0">
              <a:spcBef>
                <a:spcPct val="0"/>
              </a:spcBef>
              <a:spcAft>
                <a:spcPct val="0"/>
              </a:spcAft>
            </a:pPr>
            <a:r>
              <a:rPr lang="en-US" altLang="en-US" sz="2000" b="1" dirty="0">
                <a:solidFill>
                  <a:prstClr val="black"/>
                </a:solidFill>
              </a:rPr>
              <a:t>finddelay(</a:t>
            </a:r>
            <a:r>
              <a:rPr lang="en-US" altLang="en-US" sz="2000" b="1" dirty="0" err="1">
                <a:solidFill>
                  <a:prstClr val="black"/>
                </a:solidFill>
              </a:rPr>
              <a:t>harp,wanc</a:t>
            </a:r>
            <a:r>
              <a:rPr lang="en-US" altLang="en-US" sz="2000" b="1" dirty="0">
                <a:solidFill>
                  <a:prstClr val="black"/>
                </a:solidFill>
              </a:rPr>
              <a:t>) </a:t>
            </a:r>
          </a:p>
          <a:p>
            <a:pPr lvl="0" eaLnBrk="0" fontAlgn="base" hangingPunct="0">
              <a:spcBef>
                <a:spcPct val="0"/>
              </a:spcBef>
              <a:spcAft>
                <a:spcPct val="0"/>
              </a:spcAft>
            </a:pPr>
            <a:r>
              <a:rPr lang="en-US" altLang="en-US" sz="2000" b="1" dirty="0" err="1">
                <a:solidFill>
                  <a:prstClr val="black"/>
                </a:solidFill>
              </a:rPr>
              <a:t>finddelay</a:t>
            </a:r>
            <a:r>
              <a:rPr lang="en-US" altLang="en-US" sz="2000" b="1" dirty="0">
                <a:solidFill>
                  <a:prstClr val="black"/>
                </a:solidFill>
              </a:rPr>
              <a:t>(</a:t>
            </a:r>
            <a:r>
              <a:rPr lang="en-US" altLang="en-US" sz="2000" b="1" dirty="0" err="1">
                <a:solidFill>
                  <a:prstClr val="black"/>
                </a:solidFill>
              </a:rPr>
              <a:t>pax,wanc</a:t>
            </a:r>
            <a:r>
              <a:rPr lang="en-US" altLang="en-US" sz="2000" b="1" dirty="0">
                <a:solidFill>
                  <a:prstClr val="black"/>
                </a:solidFill>
              </a:rPr>
              <a:t>) </a:t>
            </a:r>
            <a:endParaRPr lang="en-US" altLang="en-US" sz="2000" b="1" dirty="0" smtClean="0">
              <a:solidFill>
                <a:prstClr val="black"/>
              </a:solidFill>
            </a:endParaRPr>
          </a:p>
          <a:p>
            <a:pPr lvl="0" eaLnBrk="0" fontAlgn="base" hangingPunct="0">
              <a:spcBef>
                <a:spcPct val="0"/>
              </a:spcBef>
              <a:spcAft>
                <a:spcPct val="0"/>
              </a:spcAft>
            </a:pPr>
            <a:endParaRPr lang="en-US" altLang="en-US" sz="2000" b="1" dirty="0">
              <a:solidFill>
                <a:prstClr val="black"/>
              </a:solidFill>
            </a:endParaRPr>
          </a:p>
          <a:p>
            <a:pPr lvl="0" eaLnBrk="0" fontAlgn="base" hangingPunct="0">
              <a:spcBef>
                <a:spcPct val="0"/>
              </a:spcBef>
              <a:spcAft>
                <a:spcPct val="0"/>
              </a:spcAft>
            </a:pPr>
            <a:r>
              <a:rPr lang="en-US" altLang="en-US" sz="2000" dirty="0">
                <a:solidFill>
                  <a:prstClr val="black"/>
                </a:solidFill>
              </a:rPr>
              <a:t>Based on the delay values to the right, you can conclude that</a:t>
            </a:r>
            <a:r>
              <a:rPr lang="en-US" altLang="en-US" sz="2000" dirty="0" smtClean="0">
                <a:solidFill>
                  <a:prstClr val="black"/>
                </a:solidFill>
              </a:rPr>
              <a:t>:</a:t>
            </a:r>
          </a:p>
          <a:p>
            <a:pPr lvl="0" eaLnBrk="0" fontAlgn="base" hangingPunct="0">
              <a:spcBef>
                <a:spcPct val="0"/>
              </a:spcBef>
              <a:spcAft>
                <a:spcPct val="0"/>
              </a:spcAft>
            </a:pPr>
            <a:endParaRPr lang="en-US" altLang="en-US" sz="2000" dirty="0">
              <a:solidFill>
                <a:prstClr val="black"/>
              </a:solidFill>
            </a:endParaRPr>
          </a:p>
          <a:p>
            <a:pPr lvl="0" eaLnBrk="0" fontAlgn="base" hangingPunct="0">
              <a:spcBef>
                <a:spcPct val="0"/>
              </a:spcBef>
              <a:spcAft>
                <a:spcPct val="0"/>
              </a:spcAft>
              <a:buFontTx/>
              <a:buChar char="•"/>
            </a:pPr>
            <a:r>
              <a:rPr lang="en-US" altLang="en-US" sz="2000" dirty="0">
                <a:solidFill>
                  <a:prstClr val="black"/>
                </a:solidFill>
              </a:rPr>
              <a:t>harp arrived 596 samples after </a:t>
            </a:r>
            <a:r>
              <a:rPr lang="en-US" altLang="en-US" sz="2000" dirty="0" err="1">
                <a:solidFill>
                  <a:prstClr val="black"/>
                </a:solidFill>
              </a:rPr>
              <a:t>pax</a:t>
            </a:r>
            <a:endParaRPr lang="en-US" altLang="en-US" sz="2000" dirty="0">
              <a:solidFill>
                <a:prstClr val="black"/>
              </a:solidFill>
            </a:endParaRPr>
          </a:p>
          <a:p>
            <a:pPr lvl="0" eaLnBrk="0" fontAlgn="base" hangingPunct="0">
              <a:spcBef>
                <a:spcPct val="0"/>
              </a:spcBef>
              <a:spcAft>
                <a:spcPct val="0"/>
              </a:spcAft>
              <a:buFontTx/>
              <a:buChar char="•"/>
            </a:pPr>
            <a:r>
              <a:rPr lang="en-US" altLang="en-US" sz="2000" dirty="0">
                <a:solidFill>
                  <a:prstClr val="black"/>
                </a:solidFill>
              </a:rPr>
              <a:t>harp arrived 1167 samples before </a:t>
            </a:r>
            <a:r>
              <a:rPr lang="en-US" altLang="en-US" sz="2000" dirty="0" err="1">
                <a:solidFill>
                  <a:prstClr val="black"/>
                </a:solidFill>
              </a:rPr>
              <a:t>wanc</a:t>
            </a:r>
            <a:endParaRPr lang="en-US" altLang="en-US" sz="2000" dirty="0">
              <a:solidFill>
                <a:prstClr val="black"/>
              </a:solidFill>
            </a:endParaRPr>
          </a:p>
          <a:p>
            <a:pPr lvl="0" eaLnBrk="0" fontAlgn="base" hangingPunct="0">
              <a:spcBef>
                <a:spcPct val="0"/>
              </a:spcBef>
              <a:spcAft>
                <a:spcPct val="0"/>
              </a:spcAft>
              <a:buFontTx/>
              <a:buChar char="•"/>
            </a:pPr>
            <a:r>
              <a:rPr lang="en-US" altLang="en-US" sz="2000" dirty="0" err="1">
                <a:solidFill>
                  <a:prstClr val="black"/>
                </a:solidFill>
              </a:rPr>
              <a:t>pax</a:t>
            </a:r>
            <a:r>
              <a:rPr lang="en-US" altLang="en-US" sz="2000" dirty="0">
                <a:solidFill>
                  <a:prstClr val="black"/>
                </a:solidFill>
              </a:rPr>
              <a:t> arrived 1770 samples before </a:t>
            </a:r>
            <a:r>
              <a:rPr lang="en-US" altLang="en-US" sz="2000" dirty="0" err="1">
                <a:solidFill>
                  <a:prstClr val="black"/>
                </a:solidFill>
              </a:rPr>
              <a:t>wanc</a:t>
            </a:r>
            <a:endParaRPr lang="en-US" altLang="en-US" sz="2000" dirty="0">
              <a:solidFill>
                <a:prstClr val="black"/>
              </a:solidFill>
            </a:endParaRPr>
          </a:p>
          <a:p>
            <a:pPr lvl="0" eaLnBrk="0" fontAlgn="base" hangingPunct="0">
              <a:spcBef>
                <a:spcPct val="0"/>
              </a:spcBef>
              <a:spcAft>
                <a:spcPct val="0"/>
              </a:spcAft>
            </a:pPr>
            <a:r>
              <a:rPr lang="en-US" altLang="en-US" sz="2000" dirty="0">
                <a:solidFill>
                  <a:prstClr val="black"/>
                </a:solidFill>
              </a:rPr>
              <a:t>So the </a:t>
            </a:r>
            <a:r>
              <a:rPr lang="en-US" altLang="en-US" sz="2000" dirty="0" err="1">
                <a:solidFill>
                  <a:prstClr val="black"/>
                </a:solidFill>
              </a:rPr>
              <a:t>wanc</a:t>
            </a:r>
            <a:r>
              <a:rPr lang="en-US" altLang="en-US" sz="2000" dirty="0">
                <a:solidFill>
                  <a:prstClr val="black"/>
                </a:solidFill>
              </a:rPr>
              <a:t> signal arrived last.</a:t>
            </a:r>
          </a:p>
        </p:txBody>
      </p:sp>
      <p:sp>
        <p:nvSpPr>
          <p:cNvPr id="4" name="Rectangle 2"/>
          <p:cNvSpPr>
            <a:spLocks noChangeArrowheads="1"/>
          </p:cNvSpPr>
          <p:nvPr/>
        </p:nvSpPr>
        <p:spPr bwMode="auto">
          <a:xfrm>
            <a:off x="7915563" y="4295269"/>
            <a:ext cx="4193309" cy="1323439"/>
          </a:xfrm>
          <a:prstGeom prst="rect">
            <a:avLst/>
          </a:prstGeom>
          <a:ln/>
        </p:spPr>
        <p:style>
          <a:lnRef idx="2">
            <a:schemeClr val="dk1"/>
          </a:lnRef>
          <a:fillRef idx="1">
            <a:schemeClr val="lt1"/>
          </a:fillRef>
          <a:effectRef idx="0">
            <a:schemeClr val="dk1"/>
          </a:effectRef>
          <a:fontRef idx="minor">
            <a:schemeClr val="dk1"/>
          </a:fontRef>
        </p:style>
        <p:txBody>
          <a:bodyPr vert="horz" wrap="square" lIns="15870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Helvetica" panose="020B0604020202020204" pitchFamily="34" charset="0"/>
              </a:rPr>
              <a:t>Task 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smtClean="0">
                <a:ln>
                  <a:noFill/>
                </a:ln>
                <a:solidFill>
                  <a:schemeClr val="tx1"/>
                </a:solidFill>
                <a:effectLst/>
              </a:rPr>
              <a:t>[</a:t>
            </a:r>
            <a:r>
              <a:rPr kumimoji="0" lang="en-US" altLang="en-US" sz="1600" b="1" i="0" u="none" strike="noStrike" cap="none" normalizeH="0" baseline="0" dirty="0" err="1" smtClean="0">
                <a:ln>
                  <a:noFill/>
                </a:ln>
                <a:solidFill>
                  <a:schemeClr val="tx1"/>
                </a:solidFill>
                <a:effectLst/>
              </a:rPr>
              <a:t>harp,wanc</a:t>
            </a:r>
            <a:r>
              <a:rPr kumimoji="0" lang="en-US" altLang="en-US" sz="1600" b="1" i="0" u="none" strike="noStrike" cap="none" normalizeH="0" baseline="0" dirty="0" smtClean="0">
                <a:ln>
                  <a:noFill/>
                </a:ln>
                <a:solidFill>
                  <a:schemeClr val="tx1"/>
                </a:solidFill>
                <a:effectLst/>
              </a:rPr>
              <a:t>] = alignsignals(</a:t>
            </a:r>
            <a:r>
              <a:rPr kumimoji="0" lang="en-US" altLang="en-US" sz="1600" b="1" i="0" u="none" strike="noStrike" cap="none" normalizeH="0" baseline="0" dirty="0" err="1" smtClean="0">
                <a:ln>
                  <a:noFill/>
                </a:ln>
                <a:solidFill>
                  <a:schemeClr val="tx1"/>
                </a:solidFill>
                <a:effectLst/>
              </a:rPr>
              <a:t>harp,wanc</a:t>
            </a:r>
            <a:r>
              <a:rPr kumimoji="0" lang="en-US" altLang="en-US" sz="1600" b="1" i="0" u="none" strike="noStrike" cap="none" normalizeH="0" baseline="0" dirty="0" smtClean="0">
                <a:ln>
                  <a:noFill/>
                </a:ln>
                <a:solidFill>
                  <a:schemeClr val="tx1"/>
                </a:solidFill>
                <a:effectLst/>
              </a:rPr>
              <a:t>)</a:t>
            </a:r>
            <a:r>
              <a:rPr kumimoji="0" lang="en-US" altLang="en-US" sz="1400" b="0" i="0" u="none" strike="noStrike" cap="none" normalizeH="0" baseline="0" dirty="0" smtClean="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40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rotWithShape="1">
          <a:blip r:embed="rId3"/>
          <a:srcRect t="34868" r="22420"/>
          <a:stretch/>
        </p:blipFill>
        <p:spPr>
          <a:xfrm>
            <a:off x="9287951" y="5758873"/>
            <a:ext cx="1716236" cy="1099127"/>
          </a:xfrm>
          <a:prstGeom prst="rect">
            <a:avLst/>
          </a:prstGeom>
        </p:spPr>
      </p:pic>
    </p:spTree>
    <p:extLst>
      <p:ext uri="{BB962C8B-B14F-4D97-AF65-F5344CB8AC3E}">
        <p14:creationId xmlns:p14="http://schemas.microsoft.com/office/powerpoint/2010/main" val="58083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43345" y="23526"/>
            <a:ext cx="10972800" cy="1143000"/>
          </a:xfrm>
        </p:spPr>
        <p:txBody>
          <a:bodyPr>
            <a:noAutofit/>
          </a:bodyPr>
          <a:lstStyle/>
          <a:p>
            <a:r>
              <a:rPr lang="en-US" altLang="en-US" sz="3200" dirty="0"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 2</a:t>
            </a:r>
            <a:r>
              <a:rPr lang="en-US" altLang="en-US" sz="4000" dirty="0" smtClean="0"/>
              <a:t/>
            </a:r>
            <a:br>
              <a:rPr lang="en-US" altLang="en-US" sz="4000" dirty="0" smtClean="0"/>
            </a:br>
            <a:endParaRPr lang="en-US" altLang="en-US" sz="4000" dirty="0" smtClean="0"/>
          </a:p>
        </p:txBody>
      </p:sp>
      <p:sp>
        <p:nvSpPr>
          <p:cNvPr id="3" name="Rectangle 2"/>
          <p:cNvSpPr/>
          <p:nvPr/>
        </p:nvSpPr>
        <p:spPr>
          <a:xfrm>
            <a:off x="341744" y="828242"/>
            <a:ext cx="11333020" cy="1323439"/>
          </a:xfrm>
          <a:prstGeom prst="rect">
            <a:avLst/>
          </a:prstGeom>
        </p:spPr>
        <p:txBody>
          <a:bodyPr wrap="square">
            <a:spAutoFit/>
          </a:bodyPr>
          <a:lstStyle/>
          <a:p>
            <a:pPr lvl="0" eaLnBrk="0" fontAlgn="base" hangingPunct="0">
              <a:spcBef>
                <a:spcPct val="0"/>
              </a:spcBef>
              <a:spcAft>
                <a:spcPct val="0"/>
              </a:spcAft>
            </a:pPr>
            <a:r>
              <a:rPr lang="en-US" altLang="en-US" sz="2000" dirty="0" smtClean="0">
                <a:latin typeface="Helvetica" panose="020B0604020202020204" pitchFamily="34" charset="0"/>
              </a:rPr>
              <a:t>Align </a:t>
            </a:r>
            <a:r>
              <a:rPr lang="en-US" altLang="en-US" sz="2000" dirty="0">
                <a:latin typeface="Helvetica" panose="020B0604020202020204" pitchFamily="34" charset="0"/>
              </a:rPr>
              <a:t>the </a:t>
            </a:r>
            <a:r>
              <a:rPr lang="en-US" altLang="en-US" sz="2000" b="1" dirty="0" err="1">
                <a:solidFill>
                  <a:srgbClr val="FF0000"/>
                </a:solidFill>
                <a:latin typeface="Helvetica" panose="020B0604020202020204" pitchFamily="34" charset="0"/>
              </a:rPr>
              <a:t>pax</a:t>
            </a:r>
            <a:r>
              <a:rPr lang="en-US" altLang="en-US" sz="2000" dirty="0">
                <a:latin typeface="Helvetica" panose="020B0604020202020204" pitchFamily="34" charset="0"/>
              </a:rPr>
              <a:t> and </a:t>
            </a:r>
            <a:r>
              <a:rPr lang="en-US" altLang="en-US" sz="2000" b="1" dirty="0" err="1">
                <a:solidFill>
                  <a:srgbClr val="FF0000"/>
                </a:solidFill>
                <a:latin typeface="Helvetica" panose="020B0604020202020204" pitchFamily="34" charset="0"/>
              </a:rPr>
              <a:t>wanc</a:t>
            </a:r>
            <a:r>
              <a:rPr lang="en-US" altLang="en-US" sz="2000" dirty="0">
                <a:latin typeface="Helvetica" panose="020B0604020202020204" pitchFamily="34" charset="0"/>
              </a:rPr>
              <a:t> signals. Use the same output variable names so that the visualization code at the bottom of the script plots the aligned signals</a:t>
            </a:r>
            <a:r>
              <a:rPr lang="en-US" altLang="en-US" sz="2000" dirty="0" smtClean="0">
                <a:latin typeface="Helvetica" panose="020B0604020202020204" pitchFamily="34" charset="0"/>
              </a:rPr>
              <a:t>.</a:t>
            </a:r>
          </a:p>
          <a:p>
            <a:pPr lvl="0" eaLnBrk="0" fontAlgn="base" hangingPunct="0">
              <a:spcBef>
                <a:spcPct val="0"/>
              </a:spcBef>
              <a:spcAft>
                <a:spcPct val="0"/>
              </a:spcAft>
            </a:pPr>
            <a:endParaRPr lang="en-US" altLang="en-US" sz="2000" dirty="0">
              <a:latin typeface="Helvetica" panose="020B0604020202020204" pitchFamily="34" charset="0"/>
            </a:endParaRPr>
          </a:p>
          <a:p>
            <a:pPr lvl="0" eaLnBrk="0" fontAlgn="base" hangingPunct="0">
              <a:spcBef>
                <a:spcPct val="0"/>
              </a:spcBef>
              <a:spcAft>
                <a:spcPct val="0"/>
              </a:spcAft>
            </a:pPr>
            <a:endParaRPr lang="en-US" altLang="en-US" sz="2000" dirty="0"/>
          </a:p>
        </p:txBody>
      </p:sp>
      <p:sp>
        <p:nvSpPr>
          <p:cNvPr id="7" name="Rectangle 4"/>
          <p:cNvSpPr>
            <a:spLocks noChangeArrowheads="1"/>
          </p:cNvSpPr>
          <p:nvPr/>
        </p:nvSpPr>
        <p:spPr bwMode="auto">
          <a:xfrm>
            <a:off x="238050" y="2010497"/>
            <a:ext cx="8898026" cy="3763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58700" tIns="12696" rIns="91440" bIns="5713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latin typeface="Helvetica" panose="020B0604020202020204" pitchFamily="34" charset="0"/>
              </a:rPr>
              <a:t>Task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chemeClr val="tx1"/>
                </a:solidFill>
                <a:effectLst/>
              </a:rPr>
              <a:t>[pax,wanc] = alignsignals(pax,wanc);</a:t>
            </a:r>
            <a:endParaRPr kumimoji="0" lang="en-US" altLang="en-US" sz="2400" b="1"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Helvetica" panose="020B0604020202020204" pitchFamily="34" charset="0"/>
              </a:rPr>
              <a:t>%This code plots the signals from the HARP and PAX stations. </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plot(harp)</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hold </a:t>
            </a:r>
            <a:r>
              <a:rPr kumimoji="0" lang="en-US" altLang="en-US" sz="2400" b="0" i="0" u="none" strike="noStrike" cap="none" normalizeH="0" baseline="0" dirty="0" smtClean="0">
                <a:ln>
                  <a:noFill/>
                </a:ln>
                <a:solidFill>
                  <a:srgbClr val="A709F5"/>
                </a:solidFill>
                <a:effectLst/>
                <a:latin typeface="Arial" panose="020B0604020202020204" pitchFamily="34" charset="0"/>
              </a:rPr>
              <a:t>on</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plot(</a:t>
            </a:r>
            <a:r>
              <a:rPr kumimoji="0" lang="en-US" altLang="en-US" sz="2400" b="0" i="0" u="none" strike="noStrike" cap="none" normalizeH="0" baseline="0" dirty="0" err="1" smtClean="0">
                <a:ln>
                  <a:noFill/>
                </a:ln>
                <a:solidFill>
                  <a:schemeClr val="tx1"/>
                </a:solidFill>
                <a:effectLst/>
                <a:latin typeface="Arial" panose="020B0604020202020204" pitchFamily="34" charset="0"/>
              </a:rPr>
              <a:t>pax</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plot(</a:t>
            </a:r>
            <a:r>
              <a:rPr kumimoji="0" lang="en-US" altLang="en-US" sz="2400" b="0" i="0" u="none" strike="noStrike" cap="none" normalizeH="0" baseline="0" dirty="0" err="1" smtClean="0">
                <a:ln>
                  <a:noFill/>
                </a:ln>
                <a:solidFill>
                  <a:schemeClr val="tx1"/>
                </a:solidFill>
                <a:effectLst/>
                <a:latin typeface="Arial" panose="020B0604020202020204" pitchFamily="34" charset="0"/>
              </a:rPr>
              <a:t>wanc</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hold </a:t>
            </a:r>
            <a:r>
              <a:rPr kumimoji="0" lang="en-US" altLang="en-US" sz="2400" b="0" i="0" u="none" strike="noStrike" cap="none" normalizeH="0" baseline="0" dirty="0" smtClean="0">
                <a:ln>
                  <a:noFill/>
                </a:ln>
                <a:solidFill>
                  <a:srgbClr val="A709F5"/>
                </a:solidFill>
                <a:effectLst/>
                <a:latin typeface="Arial" panose="020B0604020202020204" pitchFamily="34" charset="0"/>
              </a:rPr>
              <a:t>off</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Arial" panose="020B0604020202020204" pitchFamily="34" charset="0"/>
              </a:rPr>
              <a:t>legend(</a:t>
            </a:r>
            <a:r>
              <a:rPr kumimoji="0" lang="en-US" altLang="en-US" sz="2400" b="0" i="0" u="none" strike="noStrike" cap="none" normalizeH="0" baseline="0" dirty="0" smtClean="0">
                <a:ln>
                  <a:noFill/>
                </a:ln>
                <a:solidFill>
                  <a:srgbClr val="A709F5"/>
                </a:solidFill>
                <a:effectLst/>
                <a:latin typeface="Arial" panose="020B0604020202020204" pitchFamily="34" charset="0"/>
              </a:rPr>
              <a:t>"HARP"</a:t>
            </a:r>
            <a:r>
              <a:rPr kumimoji="0" lang="en-US" altLang="en-US" sz="2400" b="0" i="0" u="none" strike="noStrike" cap="none" normalizeH="0" baseline="0" dirty="0" smtClean="0">
                <a:ln>
                  <a:noFill/>
                </a:ln>
                <a:solidFill>
                  <a:schemeClr val="tx1"/>
                </a:solidFill>
                <a:effectLst/>
                <a:latin typeface="Arial" panose="020B0604020202020204" pitchFamily="34" charset="0"/>
              </a:rPr>
              <a:t>,</a:t>
            </a:r>
            <a:r>
              <a:rPr kumimoji="0" lang="en-US" altLang="en-US" sz="2400" b="0" i="0" u="none" strike="noStrike" cap="none" normalizeH="0" baseline="0" dirty="0" smtClean="0">
                <a:ln>
                  <a:noFill/>
                </a:ln>
                <a:solidFill>
                  <a:srgbClr val="A709F5"/>
                </a:solidFill>
                <a:effectLst/>
                <a:latin typeface="Arial" panose="020B0604020202020204" pitchFamily="34" charset="0"/>
              </a:rPr>
              <a:t>"PAX"</a:t>
            </a:r>
            <a:r>
              <a:rPr kumimoji="0" lang="en-US" altLang="en-US" sz="2400" b="0" i="0" u="none" strike="noStrike" cap="none" normalizeH="0" baseline="0" dirty="0" smtClean="0">
                <a:ln>
                  <a:noFill/>
                </a:ln>
                <a:solidFill>
                  <a:schemeClr val="tx1"/>
                </a:solidFill>
                <a:effectLst/>
                <a:latin typeface="Arial" panose="020B0604020202020204" pitchFamily="34" charset="0"/>
              </a:rPr>
              <a:t>,</a:t>
            </a:r>
            <a:r>
              <a:rPr kumimoji="0" lang="en-US" altLang="en-US" sz="2400" b="0" i="0" u="none" strike="noStrike" cap="none" normalizeH="0" baseline="0" dirty="0" smtClean="0">
                <a:ln>
                  <a:noFill/>
                </a:ln>
                <a:solidFill>
                  <a:srgbClr val="A709F5"/>
                </a:solidFill>
                <a:effectLst/>
                <a:latin typeface="Arial" panose="020B0604020202020204" pitchFamily="34" charset="0"/>
              </a:rPr>
              <a:t>"WANC"</a:t>
            </a:r>
            <a:r>
              <a:rPr kumimoji="0" lang="en-US" altLang="en-US" sz="2400" b="0" i="0" u="none" strike="noStrike" cap="none" normalizeH="0" baseline="0" dirty="0" smtClean="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33217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5988" y="905164"/>
            <a:ext cx="12359588" cy="6100991"/>
          </a:xfrm>
          <a:prstGeom prst="rect">
            <a:avLst/>
          </a:prstGeom>
        </p:spPr>
      </p:pic>
      <p:sp>
        <p:nvSpPr>
          <p:cNvPr id="7" name="Rectangle 6"/>
          <p:cNvSpPr/>
          <p:nvPr/>
        </p:nvSpPr>
        <p:spPr>
          <a:xfrm>
            <a:off x="1032570" y="229333"/>
            <a:ext cx="10803116" cy="523220"/>
          </a:xfrm>
          <a:prstGeom prst="rect">
            <a:avLst/>
          </a:prstGeom>
          <a:solidFill>
            <a:schemeClr val="bg1"/>
          </a:solidFill>
        </p:spPr>
        <p:txBody>
          <a:bodyPr wrap="square">
            <a:spAutoFit/>
          </a:bodyPr>
          <a:lstStyle/>
          <a:p>
            <a:r>
              <a:rPr lang="en-US" sz="2800" dirty="0"/>
              <a:t>In </a:t>
            </a:r>
            <a:r>
              <a:rPr lang="en-US" sz="2800" dirty="0" smtClean="0"/>
              <a:t>this plot, </a:t>
            </a:r>
            <a:r>
              <a:rPr lang="en-US" sz="2800" dirty="0"/>
              <a:t>you can see the signals now </a:t>
            </a:r>
            <a:r>
              <a:rPr lang="en-US" sz="2800" b="1" dirty="0">
                <a:solidFill>
                  <a:srgbClr val="FF0000"/>
                </a:solidFill>
              </a:rPr>
              <a:t>look aligned</a:t>
            </a:r>
            <a:r>
              <a:rPr lang="en-US" sz="2800" dirty="0"/>
              <a:t>. </a:t>
            </a:r>
          </a:p>
        </p:txBody>
      </p:sp>
    </p:spTree>
    <p:extLst>
      <p:ext uri="{BB962C8B-B14F-4D97-AF65-F5344CB8AC3E}">
        <p14:creationId xmlns:p14="http://schemas.microsoft.com/office/powerpoint/2010/main" val="2806979640"/>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Berlin">
  <a:themeElements>
    <a:clrScheme name="Custom 8">
      <a:dk1>
        <a:srgbClr val="6DAA2D"/>
      </a:dk1>
      <a:lt1>
        <a:sysClr val="window" lastClr="FFFFFF"/>
      </a:lt1>
      <a:dk2>
        <a:srgbClr val="17606F"/>
      </a:dk2>
      <a:lt2>
        <a:srgbClr val="E7E6E6"/>
      </a:lt2>
      <a:accent1>
        <a:srgbClr val="FFFFFF"/>
      </a:accent1>
      <a:accent2>
        <a:srgbClr val="60DE72"/>
      </a:accent2>
      <a:accent3>
        <a:srgbClr val="DDCC64"/>
      </a:accent3>
      <a:accent4>
        <a:srgbClr val="F49D50"/>
      </a:accent4>
      <a:accent5>
        <a:srgbClr val="E44951"/>
      </a:accent5>
      <a:accent6>
        <a:srgbClr val="D666F9"/>
      </a:accent6>
      <a:hlink>
        <a:srgbClr val="4BF7ED"/>
      </a:hlink>
      <a:folHlink>
        <a:srgbClr val="C41D25"/>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3290</TotalTime>
  <Words>1094</Words>
  <Application>Microsoft Office PowerPoint</Application>
  <PresentationFormat>Widescreen</PresentationFormat>
  <Paragraphs>176</Paragraphs>
  <Slides>27</Slides>
  <Notes>19</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27</vt:i4>
      </vt:variant>
    </vt:vector>
  </HeadingPairs>
  <TitlesOfParts>
    <vt:vector size="38" baseType="lpstr">
      <vt:lpstr>Arial</vt:lpstr>
      <vt:lpstr>Calibri</vt:lpstr>
      <vt:lpstr>Helvetica</vt:lpstr>
      <vt:lpstr>Lucida Sans Unicode</vt:lpstr>
      <vt:lpstr>Times New Roman</vt:lpstr>
      <vt:lpstr>Trebuchet MS</vt:lpstr>
      <vt:lpstr>Verdana</vt:lpstr>
      <vt:lpstr>Wingdings 2</vt:lpstr>
      <vt:lpstr>Wingdings 3</vt:lpstr>
      <vt:lpstr>Berlin</vt:lpstr>
      <vt:lpstr>Concourse</vt:lpstr>
      <vt:lpstr>Communication Design </vt:lpstr>
      <vt:lpstr>Outline:</vt:lpstr>
      <vt:lpstr>Signal Processing Overview </vt:lpstr>
      <vt:lpstr>Quiz </vt:lpstr>
      <vt:lpstr>Resample Signals</vt:lpstr>
      <vt:lpstr>Task 1 </vt:lpstr>
      <vt:lpstr>Task 1 </vt:lpstr>
      <vt:lpstr>Task 1 </vt:lpstr>
      <vt:lpstr>Task 2 </vt:lpstr>
      <vt:lpstr>Task 3 </vt:lpstr>
      <vt:lpstr>Task 3 </vt:lpstr>
      <vt:lpstr>PowerPoint Presentation</vt:lpstr>
      <vt:lpstr>Extract Interesting Regions</vt:lpstr>
      <vt:lpstr>Task 1 </vt:lpstr>
      <vt:lpstr>Task 2 </vt:lpstr>
      <vt:lpstr>Custom Preprocessing Function</vt:lpstr>
      <vt:lpstr>Task 1 </vt:lpstr>
      <vt:lpstr>Task 1 </vt:lpstr>
      <vt:lpstr>Task 1 </vt:lpstr>
      <vt:lpstr>Task 1 </vt:lpstr>
      <vt:lpstr>Task 1 </vt:lpstr>
      <vt:lpstr>Task 2 </vt:lpstr>
      <vt:lpstr>Align Signals</vt:lpstr>
      <vt:lpstr>Task 1 </vt:lpstr>
      <vt:lpstr>Task 1 </vt:lpstr>
      <vt:lpstr>Task 2 </vt:lpstr>
      <vt:lpstr>PowerPoint Presentation</vt:lpstr>
    </vt:vector>
  </TitlesOfParts>
  <Company>Al-Qaisar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Ammar</dc:creator>
  <cp:lastModifiedBy>Ammar</cp:lastModifiedBy>
  <cp:revision>104</cp:revision>
  <dcterms:created xsi:type="dcterms:W3CDTF">2023-10-02T10:05:27Z</dcterms:created>
  <dcterms:modified xsi:type="dcterms:W3CDTF">2024-03-03T05:46:42Z</dcterms:modified>
</cp:coreProperties>
</file>