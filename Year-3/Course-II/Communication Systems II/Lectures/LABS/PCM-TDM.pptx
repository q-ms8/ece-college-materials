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57" r:id="rId16"/>
  </p:sldIdLst>
  <p:sldSz cx="12192000" cy="6858000"/>
  <p:notesSz cx="6858000" cy="9144000"/>
  <p:defaultTextStyle>
    <a:defPPr>
      <a:defRPr lang="ar-I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ar-IQ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602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IQ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190107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53295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IQ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IQ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42067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IQ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IQ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51547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61364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604649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IQ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390140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IQ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90614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IQ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86917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IQ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11324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IQ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IQ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3DFF4-9FBB-4863-8232-165E049E3FC5}" type="datetimeFigureOut">
              <a:rPr lang="ar-IQ" smtClean="0"/>
              <a:t>26/08/1445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355AD-E286-4481-B455-3F0C778155BB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7201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IQ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569" y="1253614"/>
            <a:ext cx="9202993" cy="477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9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599" y="1106129"/>
            <a:ext cx="8068801" cy="473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3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520" y="619432"/>
            <a:ext cx="7944959" cy="554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315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652" y="914400"/>
            <a:ext cx="8030696" cy="526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4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63" y="1819050"/>
            <a:ext cx="7516274" cy="369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1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599" y="958645"/>
            <a:ext cx="8068801" cy="463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0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126" y="1150374"/>
            <a:ext cx="8049748" cy="523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3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231" y="1047135"/>
            <a:ext cx="7973538" cy="471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6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05" y="1709497"/>
            <a:ext cx="7992590" cy="427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97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1" y="1002890"/>
            <a:ext cx="9822425" cy="501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69" y="707923"/>
            <a:ext cx="10795818" cy="538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6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1" y="766916"/>
            <a:ext cx="10471355" cy="547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5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9" y="648929"/>
            <a:ext cx="10840065" cy="554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2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368" y="516194"/>
            <a:ext cx="10500851" cy="573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6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3961"/>
            <a:ext cx="11353800" cy="5823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Transmission rate  </a:t>
            </a:r>
            <a:r>
              <a:rPr lang="en-US" sz="3200" dirty="0" err="1">
                <a:solidFill>
                  <a:srgbClr val="0070C0"/>
                </a:solidFill>
              </a:rPr>
              <a:t>Rb</a:t>
            </a:r>
            <a:r>
              <a:rPr lang="en-US" sz="3200" dirty="0"/>
              <a:t>= </a:t>
            </a:r>
            <a:r>
              <a:rPr lang="en-US" sz="3200" dirty="0" smtClean="0"/>
              <a:t>1/</a:t>
            </a:r>
            <a:r>
              <a:rPr lang="en-US" sz="3200" dirty="0" smtClean="0">
                <a:solidFill>
                  <a:srgbClr val="7030A0"/>
                </a:solidFill>
              </a:rPr>
              <a:t>Tb</a:t>
            </a:r>
          </a:p>
          <a:p>
            <a:pPr marL="0" indent="0">
              <a:buNone/>
            </a:pPr>
            <a:endParaRPr lang="en-US" sz="3200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7030A0"/>
                </a:solidFill>
              </a:rPr>
              <a:t>Bit duration Tb</a:t>
            </a:r>
            <a:r>
              <a:rPr lang="en-US" sz="3200" dirty="0"/>
              <a:t> = </a:t>
            </a:r>
            <a:r>
              <a:rPr lang="en-US" sz="3200" dirty="0" err="1" smtClean="0">
                <a:solidFill>
                  <a:schemeClr val="accent2">
                    <a:lumMod val="75000"/>
                  </a:schemeClr>
                </a:solidFill>
              </a:rPr>
              <a:t>Ts</a:t>
            </a:r>
            <a:r>
              <a:rPr lang="en-US" sz="32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3200" dirty="0" smtClean="0"/>
              <a:t>/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no. of bits in one </a:t>
            </a:r>
            <a:r>
              <a:rPr lang="en-US" sz="3200" dirty="0" smtClean="0">
                <a:solidFill>
                  <a:schemeClr val="accent6">
                    <a:lumMod val="75000"/>
                  </a:schemeClr>
                </a:solidFill>
              </a:rPr>
              <a:t>frame</a:t>
            </a:r>
          </a:p>
          <a:p>
            <a:pPr marL="0" indent="0">
              <a:buNone/>
            </a:pPr>
            <a:endParaRPr lang="en-US" sz="32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Frame period 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Ts</a:t>
            </a:r>
            <a:r>
              <a:rPr lang="en-US" sz="3200" dirty="0"/>
              <a:t>= 1/</a:t>
            </a:r>
            <a:r>
              <a:rPr lang="en-US" sz="3200" dirty="0">
                <a:solidFill>
                  <a:srgbClr val="00B050"/>
                </a:solidFill>
              </a:rPr>
              <a:t>fs</a:t>
            </a:r>
          </a:p>
          <a:p>
            <a:pPr marL="0" indent="0">
              <a:buNone/>
            </a:pP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Bits in one frame </a:t>
            </a:r>
            <a:r>
              <a:rPr lang="en-US" sz="3200" dirty="0"/>
              <a:t>= m (no. of channel)+1</a:t>
            </a:r>
          </a:p>
          <a:p>
            <a:pPr marL="0" indent="0">
              <a:buNone/>
            </a:pPr>
            <a:endParaRPr lang="en-US" sz="32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3200" dirty="0" smtClean="0">
                <a:solidFill>
                  <a:srgbClr val="FF0000"/>
                </a:solidFill>
              </a:rPr>
              <a:t>m</a:t>
            </a:r>
            <a:r>
              <a:rPr lang="en-US" sz="3200" dirty="0" smtClean="0"/>
              <a:t> </a:t>
            </a:r>
            <a:r>
              <a:rPr lang="en-US" sz="3200" dirty="0"/>
              <a:t>= no. of bits in each sample   = </a:t>
            </a:r>
            <a:r>
              <a:rPr lang="en-US" sz="3200" dirty="0">
                <a:solidFill>
                  <a:srgbClr val="FF0000"/>
                </a:solidFill>
              </a:rPr>
              <a:t>8 bits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B050"/>
                </a:solidFill>
              </a:rPr>
              <a:t>fs</a:t>
            </a:r>
            <a:r>
              <a:rPr lang="en-US" sz="3200" dirty="0"/>
              <a:t> = sampling rate (sampling freq.)=  </a:t>
            </a:r>
            <a:r>
              <a:rPr lang="en-US" sz="3200" dirty="0">
                <a:solidFill>
                  <a:srgbClr val="FF0000"/>
                </a:solidFill>
              </a:rPr>
              <a:t>8 KHz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265040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58</Words>
  <Application>Microsoft Office PowerPoint</Application>
  <PresentationFormat>Widescreen</PresentationFormat>
  <Paragraphs>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9</cp:revision>
  <dcterms:created xsi:type="dcterms:W3CDTF">2024-03-06T02:50:56Z</dcterms:created>
  <dcterms:modified xsi:type="dcterms:W3CDTF">2024-03-06T08:25:55Z</dcterms:modified>
</cp:coreProperties>
</file>